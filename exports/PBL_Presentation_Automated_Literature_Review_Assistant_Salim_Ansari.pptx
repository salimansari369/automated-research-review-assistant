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  <p:sldId id="259" r:id="rId7"/>
    <p:sldId id="260" r:id="rId6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8" roundtripDataSignature="AMtx7mhEZmF6qK15dp2J2df4VwJECGCI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130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customschemas.google.com/relationships/presentationmetadata" Target="metadata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dd6299f58b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g3dd6299f58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dd6299f58b_0_1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g3dd6299f58b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ldNum" idx="12"/>
          </p:nvPr>
        </p:nvSpPr>
        <p:spPr>
          <a:xfrm>
            <a:off x="9258300" y="64452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sldNum" idx="12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0"/>
          <p:cNvSpPr txBox="1">
            <a:spLocks noGrp="1"/>
          </p:cNvSpPr>
          <p:nvPr>
            <p:ph type="sldNum" idx="12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sldNum" idx="12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2"/>
          <p:cNvSpPr txBox="1">
            <a:spLocks noGrp="1"/>
          </p:cNvSpPr>
          <p:nvPr>
            <p:ph type="sldNum" idx="12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sldNum" idx="12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4"/>
          <p:cNvSpPr txBox="1">
            <a:spLocks noGrp="1"/>
          </p:cNvSpPr>
          <p:nvPr>
            <p:ph type="sldNum" idx="12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5"/>
          <p:cNvSpPr txBox="1">
            <a:spLocks noGrp="1"/>
          </p:cNvSpPr>
          <p:nvPr>
            <p:ph type="sldNum" idx="12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4"/>
          <p:cNvSpPr txBox="1">
            <a:spLocks noGrp="1"/>
          </p:cNvSpPr>
          <p:nvPr>
            <p:ph type="sldNum" idx="12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/>
        </p:nvSpPr>
        <p:spPr>
          <a:xfrm>
            <a:off x="4232" y="2966411"/>
            <a:ext cx="12192000" cy="707886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rgbClr val="8C141E"/>
                </a:solidFill>
                <a:latin typeface="Arial"/>
              </a:defRPr>
            </a:pPr>
            <a:r>
              <a:t>AUTOMATED LITERATURE REVIEW ASSISTANT</a:t>
            </a:r>
            <a:endParaRPr sz="40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defRPr sz="1600" i="1">
                <a:solidFill>
                  <a:srgbClr val="1E3A8A"/>
                </a:solidFill>
                <a:latin typeface="Arial"/>
              </a:defRPr>
            </a:pPr>
            <a:r>
              <a:t>Agentic AI-Powered Multi-Source Academic Research Synthesis System</a:t>
            </a:r>
          </a:p>
        </p:txBody>
      </p:sp>
      <p:sp>
        <p:nvSpPr>
          <p:cNvPr id="89" name="Google Shape;89;p1"/>
          <p:cNvSpPr txBox="1"/>
          <p:nvPr/>
        </p:nvSpPr>
        <p:spPr>
          <a:xfrm>
            <a:off x="2798011" y="5632528"/>
            <a:ext cx="657982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Symbiosis Institute of Technology, Nagpur Campus</a:t>
            </a:r>
            <a:endParaRPr sz="1800" b="1" i="0" u="none" strike="noStrike" cap="none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1133105" y="1565205"/>
            <a:ext cx="985356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 dirty="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 Project Presentation</a:t>
            </a:r>
            <a:endParaRPr dirty="0"/>
          </a:p>
        </p:txBody>
      </p:sp>
      <p:sp>
        <p:nvSpPr>
          <p:cNvPr id="91" name="Google Shape;91;p1"/>
          <p:cNvSpPr txBox="1"/>
          <p:nvPr/>
        </p:nvSpPr>
        <p:spPr>
          <a:xfrm>
            <a:off x="2868201" y="4003286"/>
            <a:ext cx="6390099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300" b="1">
                <a:solidFill>
                  <a:srgbClr val="1E293B"/>
                </a:solidFill>
                <a:latin typeface="Arial"/>
              </a:defRPr>
            </a:pPr>
            <a:r>
              <a:t>Presented By:</a:t>
            </a:r>
            <a:endParaRPr dirty="0"/>
          </a:p>
          <a:p>
            <a:pPr algn="ctr">
              <a:defRPr sz="1500" b="1">
                <a:solidFill>
                  <a:srgbClr val="1E3A8A"/>
                </a:solidFill>
                <a:latin typeface="Arial"/>
              </a:defRPr>
            </a:pPr>
            <a:r>
              <a:t>SALIM ASLAM ANSARI (PRN: 24070521005)</a:t>
            </a:r>
          </a:p>
          <a:p>
            <a:pPr algn="ctr">
              <a:defRPr sz="1250" b="0">
                <a:solidFill>
                  <a:srgbClr val="1E293B"/>
                </a:solidFill>
                <a:latin typeface="Arial"/>
              </a:defRPr>
            </a:pPr>
            <a:r>
              <a:t>B.Tech Computer Science &amp; Engineering (6th Semester)</a:t>
            </a:r>
          </a:p>
          <a:p>
            <a:pPr algn="ctr">
              <a:defRPr sz="1300" b="1">
                <a:solidFill>
                  <a:srgbClr val="1E293B"/>
                </a:solidFill>
                <a:latin typeface="Arial"/>
              </a:defRPr>
            </a:pPr>
            <a:r>
              <a:t>Under the Guidance of:</a:t>
            </a:r>
          </a:p>
          <a:p>
            <a:pPr algn="ctr">
              <a:defRPr sz="1400" b="1">
                <a:solidFill>
                  <a:srgbClr val="8C141E"/>
                </a:solidFill>
                <a:latin typeface="Arial"/>
              </a:defRPr>
            </a:pPr>
            <a:r>
              <a:t>Mr. Parag Naik / Dr. Shreyas Rajendra Hole</a:t>
            </a:r>
          </a:p>
          <a:p>
            <a:pPr algn="ctr">
              <a:defRPr sz="1150" b="0">
                <a:solidFill>
                  <a:srgbClr val="64748B"/>
                </a:solidFill>
                <a:latin typeface="Arial"/>
              </a:defRPr>
            </a:pPr>
            <a:r>
              <a:t>Subject Teacher / Subject Coordinator • Department of CSE</a:t>
            </a:r>
          </a:p>
        </p:txBody>
      </p:sp>
      <p:grpSp>
        <p:nvGrpSpPr>
          <p:cNvPr id="92" name="Google Shape;92;p1"/>
          <p:cNvGrpSpPr/>
          <p:nvPr/>
        </p:nvGrpSpPr>
        <p:grpSpPr>
          <a:xfrm>
            <a:off x="4232" y="6382984"/>
            <a:ext cx="12192000" cy="476250"/>
            <a:chOff x="0" y="6381750"/>
            <a:chExt cx="12192000" cy="476250"/>
          </a:xfrm>
        </p:grpSpPr>
        <p:sp>
          <p:nvSpPr>
            <p:cNvPr id="93" name="Google Shape;93;p1"/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94" name="Google Shape;94;p1"/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</p:grpSpPr>
          <p:sp>
            <p:nvSpPr>
              <p:cNvPr id="95" name="Google Shape;95;p1"/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6" name="Google Shape;96;p1"/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7" name="Google Shape;97;p1"/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8" name="Google Shape;98;p1"/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200346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9" name="Google Shape;99;p1"/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0" name="Google Shape;100;p1"/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1" name="Google Shape;101;p1"/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2" name="Google Shape;102;p1"/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3" name="Google Shape;103;p1"/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4" name="Google Shape;104;p1"/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5" name="Google Shape;105;p1"/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6" name="Google Shape;106;p1"/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7" name="Google Shape;107;p1"/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8" name="Google Shape;108;p1"/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9" name="Google Shape;109;p1"/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0" name="Google Shape;110;p1"/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/>
                <a:ahLst/>
                <a:cxnLst/>
                <a:rect l="l" t="t" r="r" b="b"/>
                <a:pathLst>
                  <a:path w="111804" h="6855688" extrusionOk="0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1" name="Google Shape;111;p1"/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2" name="Google Shape;112;p1"/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/>
                <a:ahLst/>
                <a:cxnLst/>
                <a:rect l="l" t="t" r="r" b="b"/>
                <a:pathLst>
                  <a:path w="77056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3" name="Google Shape;113;p1"/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4" name="Google Shape;114;p1"/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5" name="Google Shape;115;p1"/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6" name="Google Shape;116;p1"/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7" name="Google Shape;117;p1"/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8" name="Google Shape;118;p1"/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95662" extrusionOk="0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9" name="Google Shape;119;p1"/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0" name="Google Shape;120;p1"/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1" name="Google Shape;121;p1"/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2" name="Google Shape;122;p1"/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3" name="Google Shape;123;p1"/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4" name="Google Shape;124;p1"/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385280" h="6387957" extrusionOk="0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5" name="Google Shape;125;p1"/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6" name="Google Shape;126;p1"/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7" name="Google Shape;127;p1"/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8" name="Google Shape;128;p1"/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9" name="Google Shape;129;p1"/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130" name="Google Shape;130;p1"/>
          <p:cNvGrpSpPr/>
          <p:nvPr/>
        </p:nvGrpSpPr>
        <p:grpSpPr>
          <a:xfrm>
            <a:off x="450920" y="6490548"/>
            <a:ext cx="4247655" cy="273466"/>
            <a:chOff x="4366684" y="2926127"/>
            <a:chExt cx="3278335" cy="2571063"/>
          </a:xfrm>
        </p:grpSpPr>
        <p:sp>
          <p:nvSpPr>
            <p:cNvPr id="131" name="Google Shape;131;p1"/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2" name="Google Shape;132;p1"/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3" name="Google Shape;133;p1"/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4" name="Google Shape;134;p1"/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/>
              <a:ahLst/>
              <a:cxnLst/>
              <a:rect l="l" t="t" r="r" b="b"/>
              <a:pathLst>
                <a:path w="200346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5" name="Google Shape;135;p1"/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6" name="Google Shape;136;p1"/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7" name="Google Shape;137;p1"/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8" name="Google Shape;138;p1"/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9" name="Google Shape;139;p1"/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0" name="Google Shape;140;p1"/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1" name="Google Shape;141;p1"/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2" name="Google Shape;142;p1"/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3" name="Google Shape;143;p1"/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4" name="Google Shape;144;p1"/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5" name="Google Shape;145;p1"/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6" name="Google Shape;146;p1"/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/>
              <a:ahLst/>
              <a:cxnLst/>
              <a:rect l="l" t="t" r="r" b="b"/>
              <a:pathLst>
                <a:path w="111804" h="6855688" extrusionOk="0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7" name="Google Shape;147;p1"/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8" name="Google Shape;148;p1"/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/>
              <a:ahLst/>
              <a:cxnLst/>
              <a:rect l="l" t="t" r="r" b="b"/>
              <a:pathLst>
                <a:path w="77056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9" name="Google Shape;149;p1"/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0" name="Google Shape;150;p1"/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1" name="Google Shape;151;p1"/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2" name="Google Shape;152;p1"/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3" name="Google Shape;153;p1"/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4" name="Google Shape;154;p1"/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/>
              <a:ahLst/>
              <a:cxnLst/>
              <a:rect l="l" t="t" r="r" b="b"/>
              <a:pathLst>
                <a:path w="100173" h="6395662" extrusionOk="0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5" name="Google Shape;155;p1"/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6" name="Google Shape;156;p1"/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7" name="Google Shape;157;p1"/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8" name="Google Shape;158;p1"/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9" name="Google Shape;159;p1"/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0" name="Google Shape;160;p1"/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/>
              <a:ahLst/>
              <a:cxnLst/>
              <a:rect l="l" t="t" r="r" b="b"/>
              <a:pathLst>
                <a:path w="385280" h="6387957" extrusionOk="0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1" name="Google Shape;161;p1"/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2" name="Google Shape;162;p1"/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3" name="Google Shape;163;p1"/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4" name="Google Shape;164;p1"/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5" name="Google Shape;165;p1"/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id="166" name="Google Shape;166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2521" y="190223"/>
            <a:ext cx="6879350" cy="99974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7" name="Google Shape;167;p1"/>
          <p:cNvGrpSpPr/>
          <p:nvPr/>
        </p:nvGrpSpPr>
        <p:grpSpPr>
          <a:xfrm>
            <a:off x="4815395" y="6382131"/>
            <a:ext cx="7369479" cy="465286"/>
            <a:chOff x="4817758" y="6382984"/>
            <a:chExt cx="7369479" cy="465286"/>
          </a:xfrm>
        </p:grpSpPr>
        <p:sp>
          <p:nvSpPr>
            <p:cNvPr id="168" name="Google Shape;168;p1"/>
            <p:cNvSpPr/>
            <p:nvPr/>
          </p:nvSpPr>
          <p:spPr>
            <a:xfrm>
              <a:off x="4817758" y="6382984"/>
              <a:ext cx="7369479" cy="465286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69" name="Google Shape;169;p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873655" y="6397831"/>
              <a:ext cx="7281503" cy="417465"/>
            </a:xfrm>
            <a:prstGeom prst="rect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pic>
      </p:grpSp>
      <p:sp>
        <p:nvSpPr>
          <p:cNvPr id="170" name="Google Shape;170;p1"/>
          <p:cNvSpPr txBox="1">
            <a:spLocks noGrp="1"/>
          </p:cNvSpPr>
          <p:nvPr>
            <p:ph type="sldNum" idx="12"/>
          </p:nvPr>
        </p:nvSpPr>
        <p:spPr>
          <a:xfrm>
            <a:off x="9258300" y="64452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dd6299f58b_0_0"/>
          <p:cNvSpPr/>
          <p:nvPr/>
        </p:nvSpPr>
        <p:spPr>
          <a:xfrm rot="5400000">
            <a:off x="5889960" y="4836525"/>
            <a:ext cx="1692300" cy="1280100"/>
          </a:xfrm>
          <a:prstGeom prst="homePlate">
            <a:avLst>
              <a:gd name="adj" fmla="val 36141"/>
            </a:avLst>
          </a:prstGeom>
          <a:solidFill>
            <a:srgbClr val="5481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g3dd6299f58b_0_0"/>
          <p:cNvSpPr/>
          <p:nvPr/>
        </p:nvSpPr>
        <p:spPr>
          <a:xfrm rot="-5400000">
            <a:off x="4609740" y="881816"/>
            <a:ext cx="1692300" cy="1280100"/>
          </a:xfrm>
          <a:prstGeom prst="homePlate">
            <a:avLst>
              <a:gd name="adj" fmla="val 36141"/>
            </a:avLst>
          </a:prstGeom>
          <a:solidFill>
            <a:srgbClr val="C55A1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7" name="Google Shape;177;g3dd6299f58b_0_0"/>
          <p:cNvGrpSpPr/>
          <p:nvPr/>
        </p:nvGrpSpPr>
        <p:grpSpPr>
          <a:xfrm>
            <a:off x="4232" y="6382984"/>
            <a:ext cx="12192000" cy="476400"/>
            <a:chOff x="0" y="6381750"/>
            <a:chExt cx="12192000" cy="476400"/>
          </a:xfrm>
        </p:grpSpPr>
        <p:sp>
          <p:nvSpPr>
            <p:cNvPr id="178" name="Google Shape;178;g3dd6299f58b_0_0"/>
            <p:cNvSpPr/>
            <p:nvPr/>
          </p:nvSpPr>
          <p:spPr>
            <a:xfrm>
              <a:off x="0" y="6381750"/>
              <a:ext cx="12192000" cy="4764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79" name="Google Shape;179;g3dd6299f58b_0_0"/>
            <p:cNvGrpSpPr/>
            <p:nvPr/>
          </p:nvGrpSpPr>
          <p:grpSpPr>
            <a:xfrm>
              <a:off x="160100" y="6467251"/>
              <a:ext cx="4087770" cy="273665"/>
              <a:chOff x="4366684" y="2926127"/>
              <a:chExt cx="3278346" cy="2572038"/>
            </a:xfrm>
          </p:grpSpPr>
          <p:sp>
            <p:nvSpPr>
              <p:cNvPr id="180" name="Google Shape;180;g3dd6299f58b_0_0"/>
              <p:cNvSpPr/>
              <p:nvPr/>
            </p:nvSpPr>
            <p:spPr>
              <a:xfrm>
                <a:off x="4744501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1" name="Google Shape;181;g3dd6299f58b_0_0"/>
              <p:cNvSpPr/>
              <p:nvPr/>
            </p:nvSpPr>
            <p:spPr>
              <a:xfrm>
                <a:off x="4676621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2" name="Google Shape;182;g3dd6299f58b_0_0"/>
              <p:cNvSpPr/>
              <p:nvPr/>
            </p:nvSpPr>
            <p:spPr>
              <a:xfrm>
                <a:off x="5706626" y="2927282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3" name="Google Shape;183;g3dd6299f58b_0_0"/>
              <p:cNvSpPr/>
              <p:nvPr/>
            </p:nvSpPr>
            <p:spPr>
              <a:xfrm>
                <a:off x="5022376" y="2926994"/>
                <a:ext cx="7513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00346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4" name="Google Shape;184;g3dd6299f58b_0_0"/>
              <p:cNvSpPr/>
              <p:nvPr/>
            </p:nvSpPr>
            <p:spPr>
              <a:xfrm>
                <a:off x="4877829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5" name="Google Shape;185;g3dd6299f58b_0_0"/>
              <p:cNvSpPr/>
              <p:nvPr/>
            </p:nvSpPr>
            <p:spPr>
              <a:xfrm>
                <a:off x="4559765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6" name="Google Shape;186;g3dd6299f58b_0_0"/>
              <p:cNvSpPr/>
              <p:nvPr/>
            </p:nvSpPr>
            <p:spPr>
              <a:xfrm>
                <a:off x="4433987" y="2926705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7" name="Google Shape;187;g3dd6299f58b_0_0"/>
              <p:cNvSpPr/>
              <p:nvPr/>
            </p:nvSpPr>
            <p:spPr>
              <a:xfrm>
                <a:off x="4366684" y="2927282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8" name="Google Shape;188;g3dd6299f58b_0_0"/>
              <p:cNvSpPr/>
              <p:nvPr/>
            </p:nvSpPr>
            <p:spPr>
              <a:xfrm>
                <a:off x="5957386" y="2926705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9" name="Google Shape;189;g3dd6299f58b_0_0"/>
              <p:cNvSpPr/>
              <p:nvPr/>
            </p:nvSpPr>
            <p:spPr>
              <a:xfrm>
                <a:off x="6024689" y="2926127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0" name="Google Shape;190;g3dd6299f58b_0_0"/>
              <p:cNvSpPr/>
              <p:nvPr/>
            </p:nvSpPr>
            <p:spPr>
              <a:xfrm>
                <a:off x="5890084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1" name="Google Shape;191;g3dd6299f58b_0_0"/>
              <p:cNvSpPr/>
              <p:nvPr/>
            </p:nvSpPr>
            <p:spPr>
              <a:xfrm>
                <a:off x="6091991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2" name="Google Shape;192;g3dd6299f58b_0_0"/>
              <p:cNvSpPr/>
              <p:nvPr/>
            </p:nvSpPr>
            <p:spPr>
              <a:xfrm>
                <a:off x="7139759" y="2926994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3" name="Google Shape;193;g3dd6299f58b_0_0"/>
              <p:cNvSpPr/>
              <p:nvPr/>
            </p:nvSpPr>
            <p:spPr>
              <a:xfrm>
                <a:off x="7280788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4" name="Google Shape;194;g3dd6299f58b_0_0"/>
              <p:cNvSpPr/>
              <p:nvPr/>
            </p:nvSpPr>
            <p:spPr>
              <a:xfrm>
                <a:off x="7349773" y="2926994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5" name="Google Shape;195;g3dd6299f58b_0_0"/>
              <p:cNvSpPr/>
              <p:nvPr/>
            </p:nvSpPr>
            <p:spPr>
              <a:xfrm>
                <a:off x="7548511" y="2927282"/>
                <a:ext cx="41926" cy="2570883"/>
              </a:xfrm>
              <a:custGeom>
                <a:avLst/>
                <a:gdLst/>
                <a:ahLst/>
                <a:cxnLst/>
                <a:rect l="l" t="t" r="r" b="b"/>
                <a:pathLst>
                  <a:path w="111804" h="6855688" extrusionOk="0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6" name="Google Shape;196;g3dd6299f58b_0_0"/>
              <p:cNvSpPr/>
              <p:nvPr/>
            </p:nvSpPr>
            <p:spPr>
              <a:xfrm>
                <a:off x="7485249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7" name="Google Shape;197;g3dd6299f58b_0_0"/>
              <p:cNvSpPr/>
              <p:nvPr/>
            </p:nvSpPr>
            <p:spPr>
              <a:xfrm>
                <a:off x="7616134" y="2926994"/>
                <a:ext cx="28896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77056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8" name="Google Shape;198;g3dd6299f58b_0_0"/>
              <p:cNvSpPr/>
              <p:nvPr/>
            </p:nvSpPr>
            <p:spPr>
              <a:xfrm>
                <a:off x="6838507" y="2926994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9" name="Google Shape;199;g3dd6299f58b_0_0"/>
              <p:cNvSpPr/>
              <p:nvPr/>
            </p:nvSpPr>
            <p:spPr>
              <a:xfrm>
                <a:off x="6980994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0" name="Google Shape;200;g3dd6299f58b_0_0"/>
              <p:cNvSpPr/>
              <p:nvPr/>
            </p:nvSpPr>
            <p:spPr>
              <a:xfrm>
                <a:off x="7065051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1" name="Google Shape;201;g3dd6299f58b_0_0"/>
              <p:cNvSpPr/>
              <p:nvPr/>
            </p:nvSpPr>
            <p:spPr>
              <a:xfrm>
                <a:off x="6754449" y="2926127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2" name="Google Shape;202;g3dd6299f58b_0_0"/>
              <p:cNvSpPr/>
              <p:nvPr/>
            </p:nvSpPr>
            <p:spPr>
              <a:xfrm>
                <a:off x="6334914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3" name="Google Shape;203;g3dd6299f58b_0_0"/>
              <p:cNvSpPr/>
              <p:nvPr/>
            </p:nvSpPr>
            <p:spPr>
              <a:xfrm>
                <a:off x="6159871" y="2926127"/>
                <a:ext cx="37565" cy="2398373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95662" extrusionOk="0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4" name="Google Shape;204;g3dd6299f58b_0_0"/>
              <p:cNvSpPr/>
              <p:nvPr/>
            </p:nvSpPr>
            <p:spPr>
              <a:xfrm>
                <a:off x="6231712" y="2926127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5" name="Google Shape;205;g3dd6299f58b_0_0"/>
              <p:cNvSpPr/>
              <p:nvPr/>
            </p:nvSpPr>
            <p:spPr>
              <a:xfrm>
                <a:off x="6598401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6" name="Google Shape;206;g3dd6299f58b_0_0"/>
              <p:cNvSpPr/>
              <p:nvPr/>
            </p:nvSpPr>
            <p:spPr>
              <a:xfrm>
                <a:off x="6680669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7" name="Google Shape;207;g3dd6299f58b_0_0"/>
              <p:cNvSpPr/>
              <p:nvPr/>
            </p:nvSpPr>
            <p:spPr>
              <a:xfrm>
                <a:off x="6516134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8" name="Google Shape;208;g3dd6299f58b_0_0"/>
              <p:cNvSpPr/>
              <p:nvPr/>
            </p:nvSpPr>
            <p:spPr>
              <a:xfrm>
                <a:off x="6399205" y="2927282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9" name="Google Shape;209;g3dd6299f58b_0_0"/>
              <p:cNvSpPr/>
              <p:nvPr/>
            </p:nvSpPr>
            <p:spPr>
              <a:xfrm>
                <a:off x="5237391" y="2926127"/>
                <a:ext cx="14448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385280" h="6387957" extrusionOk="0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0" name="Google Shape;210;g3dd6299f58b_0_0"/>
              <p:cNvSpPr/>
              <p:nvPr/>
            </p:nvSpPr>
            <p:spPr>
              <a:xfrm>
                <a:off x="5123269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1" name="Google Shape;211;g3dd6299f58b_0_0"/>
              <p:cNvSpPr/>
              <p:nvPr/>
            </p:nvSpPr>
            <p:spPr>
              <a:xfrm>
                <a:off x="5611343" y="2927282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2" name="Google Shape;212;g3dd6299f58b_0_0"/>
              <p:cNvSpPr/>
              <p:nvPr/>
            </p:nvSpPr>
            <p:spPr>
              <a:xfrm>
                <a:off x="5407259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3" name="Google Shape;213;g3dd6299f58b_0_0"/>
              <p:cNvSpPr/>
              <p:nvPr/>
            </p:nvSpPr>
            <p:spPr>
              <a:xfrm>
                <a:off x="5470252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4" name="Google Shape;214;g3dd6299f58b_0_0"/>
              <p:cNvSpPr/>
              <p:nvPr/>
            </p:nvSpPr>
            <p:spPr>
              <a:xfrm>
                <a:off x="5533244" y="2926127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215" name="Google Shape;215;g3dd6299f58b_0_0"/>
          <p:cNvGrpSpPr/>
          <p:nvPr/>
        </p:nvGrpSpPr>
        <p:grpSpPr>
          <a:xfrm>
            <a:off x="166359" y="6490656"/>
            <a:ext cx="4247753" cy="273665"/>
            <a:chOff x="4366684" y="2926127"/>
            <a:chExt cx="3278346" cy="2572038"/>
          </a:xfrm>
        </p:grpSpPr>
        <p:sp>
          <p:nvSpPr>
            <p:cNvPr id="216" name="Google Shape;216;g3dd6299f58b_0_0"/>
            <p:cNvSpPr/>
            <p:nvPr/>
          </p:nvSpPr>
          <p:spPr>
            <a:xfrm>
              <a:off x="4744501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7" name="Google Shape;217;g3dd6299f58b_0_0"/>
            <p:cNvSpPr/>
            <p:nvPr/>
          </p:nvSpPr>
          <p:spPr>
            <a:xfrm>
              <a:off x="4676621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8" name="Google Shape;218;g3dd6299f58b_0_0"/>
            <p:cNvSpPr/>
            <p:nvPr/>
          </p:nvSpPr>
          <p:spPr>
            <a:xfrm>
              <a:off x="5706626" y="2927282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9" name="Google Shape;219;g3dd6299f58b_0_0"/>
            <p:cNvSpPr/>
            <p:nvPr/>
          </p:nvSpPr>
          <p:spPr>
            <a:xfrm>
              <a:off x="5022376" y="2926994"/>
              <a:ext cx="75130" cy="2395484"/>
            </a:xfrm>
            <a:custGeom>
              <a:avLst/>
              <a:gdLst/>
              <a:ahLst/>
              <a:cxnLst/>
              <a:rect l="l" t="t" r="r" b="b"/>
              <a:pathLst>
                <a:path w="200346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0" name="Google Shape;220;g3dd6299f58b_0_0"/>
            <p:cNvSpPr/>
            <p:nvPr/>
          </p:nvSpPr>
          <p:spPr>
            <a:xfrm>
              <a:off x="4877829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1" name="Google Shape;221;g3dd6299f58b_0_0"/>
            <p:cNvSpPr/>
            <p:nvPr/>
          </p:nvSpPr>
          <p:spPr>
            <a:xfrm>
              <a:off x="4559765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2" name="Google Shape;222;g3dd6299f58b_0_0"/>
            <p:cNvSpPr/>
            <p:nvPr/>
          </p:nvSpPr>
          <p:spPr>
            <a:xfrm>
              <a:off x="4433987" y="2926705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3" name="Google Shape;223;g3dd6299f58b_0_0"/>
            <p:cNvSpPr/>
            <p:nvPr/>
          </p:nvSpPr>
          <p:spPr>
            <a:xfrm>
              <a:off x="4366684" y="2927282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4" name="Google Shape;224;g3dd6299f58b_0_0"/>
            <p:cNvSpPr/>
            <p:nvPr/>
          </p:nvSpPr>
          <p:spPr>
            <a:xfrm>
              <a:off x="5957386" y="2926705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5" name="Google Shape;225;g3dd6299f58b_0_0"/>
            <p:cNvSpPr/>
            <p:nvPr/>
          </p:nvSpPr>
          <p:spPr>
            <a:xfrm>
              <a:off x="6024689" y="2926127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6" name="Google Shape;226;g3dd6299f58b_0_0"/>
            <p:cNvSpPr/>
            <p:nvPr/>
          </p:nvSpPr>
          <p:spPr>
            <a:xfrm>
              <a:off x="5890084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7" name="Google Shape;227;g3dd6299f58b_0_0"/>
            <p:cNvSpPr/>
            <p:nvPr/>
          </p:nvSpPr>
          <p:spPr>
            <a:xfrm>
              <a:off x="6091991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8" name="Google Shape;228;g3dd6299f58b_0_0"/>
            <p:cNvSpPr/>
            <p:nvPr/>
          </p:nvSpPr>
          <p:spPr>
            <a:xfrm>
              <a:off x="7139759" y="2926994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9" name="Google Shape;229;g3dd6299f58b_0_0"/>
            <p:cNvSpPr/>
            <p:nvPr/>
          </p:nvSpPr>
          <p:spPr>
            <a:xfrm>
              <a:off x="7280788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0" name="Google Shape;230;g3dd6299f58b_0_0"/>
            <p:cNvSpPr/>
            <p:nvPr/>
          </p:nvSpPr>
          <p:spPr>
            <a:xfrm>
              <a:off x="7349773" y="2926994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1" name="Google Shape;231;g3dd6299f58b_0_0"/>
            <p:cNvSpPr/>
            <p:nvPr/>
          </p:nvSpPr>
          <p:spPr>
            <a:xfrm>
              <a:off x="7548511" y="2927282"/>
              <a:ext cx="41926" cy="2570883"/>
            </a:xfrm>
            <a:custGeom>
              <a:avLst/>
              <a:gdLst/>
              <a:ahLst/>
              <a:cxnLst/>
              <a:rect l="l" t="t" r="r" b="b"/>
              <a:pathLst>
                <a:path w="111804" h="6855688" extrusionOk="0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2" name="Google Shape;232;g3dd6299f58b_0_0"/>
            <p:cNvSpPr/>
            <p:nvPr/>
          </p:nvSpPr>
          <p:spPr>
            <a:xfrm>
              <a:off x="7485249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3" name="Google Shape;233;g3dd6299f58b_0_0"/>
            <p:cNvSpPr/>
            <p:nvPr/>
          </p:nvSpPr>
          <p:spPr>
            <a:xfrm>
              <a:off x="7616134" y="2926994"/>
              <a:ext cx="28896" cy="2568860"/>
            </a:xfrm>
            <a:custGeom>
              <a:avLst/>
              <a:gdLst/>
              <a:ahLst/>
              <a:cxnLst/>
              <a:rect l="l" t="t" r="r" b="b"/>
              <a:pathLst>
                <a:path w="77056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4" name="Google Shape;234;g3dd6299f58b_0_0"/>
            <p:cNvSpPr/>
            <p:nvPr/>
          </p:nvSpPr>
          <p:spPr>
            <a:xfrm>
              <a:off x="6838507" y="2926994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5" name="Google Shape;235;g3dd6299f58b_0_0"/>
            <p:cNvSpPr/>
            <p:nvPr/>
          </p:nvSpPr>
          <p:spPr>
            <a:xfrm>
              <a:off x="6980994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6" name="Google Shape;236;g3dd6299f58b_0_0"/>
            <p:cNvSpPr/>
            <p:nvPr/>
          </p:nvSpPr>
          <p:spPr>
            <a:xfrm>
              <a:off x="7065051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7" name="Google Shape;237;g3dd6299f58b_0_0"/>
            <p:cNvSpPr/>
            <p:nvPr/>
          </p:nvSpPr>
          <p:spPr>
            <a:xfrm>
              <a:off x="6754449" y="2926127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8" name="Google Shape;238;g3dd6299f58b_0_0"/>
            <p:cNvSpPr/>
            <p:nvPr/>
          </p:nvSpPr>
          <p:spPr>
            <a:xfrm>
              <a:off x="6334914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9" name="Google Shape;239;g3dd6299f58b_0_0"/>
            <p:cNvSpPr/>
            <p:nvPr/>
          </p:nvSpPr>
          <p:spPr>
            <a:xfrm>
              <a:off x="6159871" y="2926127"/>
              <a:ext cx="37565" cy="2398373"/>
            </a:xfrm>
            <a:custGeom>
              <a:avLst/>
              <a:gdLst/>
              <a:ahLst/>
              <a:cxnLst/>
              <a:rect l="l" t="t" r="r" b="b"/>
              <a:pathLst>
                <a:path w="100173" h="6395662" extrusionOk="0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0" name="Google Shape;240;g3dd6299f58b_0_0"/>
            <p:cNvSpPr/>
            <p:nvPr/>
          </p:nvSpPr>
          <p:spPr>
            <a:xfrm>
              <a:off x="6231712" y="2926127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1" name="Google Shape;241;g3dd6299f58b_0_0"/>
            <p:cNvSpPr/>
            <p:nvPr/>
          </p:nvSpPr>
          <p:spPr>
            <a:xfrm>
              <a:off x="6598401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2" name="Google Shape;242;g3dd6299f58b_0_0"/>
            <p:cNvSpPr/>
            <p:nvPr/>
          </p:nvSpPr>
          <p:spPr>
            <a:xfrm>
              <a:off x="6680669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3" name="Google Shape;243;g3dd6299f58b_0_0"/>
            <p:cNvSpPr/>
            <p:nvPr/>
          </p:nvSpPr>
          <p:spPr>
            <a:xfrm>
              <a:off x="6516134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4" name="Google Shape;244;g3dd6299f58b_0_0"/>
            <p:cNvSpPr/>
            <p:nvPr/>
          </p:nvSpPr>
          <p:spPr>
            <a:xfrm>
              <a:off x="6399205" y="2927282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5" name="Google Shape;245;g3dd6299f58b_0_0"/>
            <p:cNvSpPr/>
            <p:nvPr/>
          </p:nvSpPr>
          <p:spPr>
            <a:xfrm>
              <a:off x="5237391" y="2926127"/>
              <a:ext cx="144480" cy="2395484"/>
            </a:xfrm>
            <a:custGeom>
              <a:avLst/>
              <a:gdLst/>
              <a:ahLst/>
              <a:cxnLst/>
              <a:rect l="l" t="t" r="r" b="b"/>
              <a:pathLst>
                <a:path w="385280" h="6387957" extrusionOk="0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6" name="Google Shape;246;g3dd6299f58b_0_0"/>
            <p:cNvSpPr/>
            <p:nvPr/>
          </p:nvSpPr>
          <p:spPr>
            <a:xfrm>
              <a:off x="5123269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7" name="Google Shape;247;g3dd6299f58b_0_0"/>
            <p:cNvSpPr/>
            <p:nvPr/>
          </p:nvSpPr>
          <p:spPr>
            <a:xfrm>
              <a:off x="5611343" y="2927282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8" name="Google Shape;248;g3dd6299f58b_0_0"/>
            <p:cNvSpPr/>
            <p:nvPr/>
          </p:nvSpPr>
          <p:spPr>
            <a:xfrm>
              <a:off x="5407259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9" name="Google Shape;249;g3dd6299f58b_0_0"/>
            <p:cNvSpPr/>
            <p:nvPr/>
          </p:nvSpPr>
          <p:spPr>
            <a:xfrm>
              <a:off x="5470252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0" name="Google Shape;250;g3dd6299f58b_0_0"/>
            <p:cNvSpPr/>
            <p:nvPr/>
          </p:nvSpPr>
          <p:spPr>
            <a:xfrm>
              <a:off x="5533244" y="2926127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51" name="Google Shape;251;g3dd6299f58b_0_0"/>
          <p:cNvSpPr/>
          <p:nvPr/>
        </p:nvSpPr>
        <p:spPr>
          <a:xfrm>
            <a:off x="0" y="-699"/>
            <a:ext cx="12192000" cy="6462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1. Presentation Flow (Foundations &amp; Objectives)</a:t>
            </a:r>
          </a:p>
        </p:txBody>
      </p:sp>
      <p:sp>
        <p:nvSpPr>
          <p:cNvPr id="252" name="Google Shape;252;g3dd6299f58b_0_0"/>
          <p:cNvSpPr/>
          <p:nvPr/>
        </p:nvSpPr>
        <p:spPr>
          <a:xfrm>
            <a:off x="4815840" y="2149902"/>
            <a:ext cx="1280100" cy="1282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g3dd6299f58b_0_0"/>
          <p:cNvSpPr/>
          <p:nvPr/>
        </p:nvSpPr>
        <p:spPr>
          <a:xfrm>
            <a:off x="6096000" y="2149902"/>
            <a:ext cx="1280100" cy="1282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g3dd6299f58b_0_0"/>
          <p:cNvSpPr/>
          <p:nvPr/>
        </p:nvSpPr>
        <p:spPr>
          <a:xfrm>
            <a:off x="4815840" y="3432791"/>
            <a:ext cx="1280100" cy="1282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g3dd6299f58b_0_0"/>
          <p:cNvSpPr/>
          <p:nvPr/>
        </p:nvSpPr>
        <p:spPr>
          <a:xfrm>
            <a:off x="6096000" y="3432791"/>
            <a:ext cx="1280100" cy="1282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g3dd6299f58b_0_0"/>
          <p:cNvSpPr/>
          <p:nvPr/>
        </p:nvSpPr>
        <p:spPr>
          <a:xfrm>
            <a:off x="7376160" y="2151266"/>
            <a:ext cx="1692300" cy="1280100"/>
          </a:xfrm>
          <a:prstGeom prst="homePlate">
            <a:avLst>
              <a:gd name="adj" fmla="val 36141"/>
            </a:avLst>
          </a:prstGeom>
          <a:solidFill>
            <a:srgbClr val="7B7B7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g3dd6299f58b_0_0"/>
          <p:cNvSpPr/>
          <p:nvPr/>
        </p:nvSpPr>
        <p:spPr>
          <a:xfrm rot="10800000">
            <a:off x="3123540" y="3434215"/>
            <a:ext cx="1692300" cy="1280100"/>
          </a:xfrm>
          <a:prstGeom prst="homePlate">
            <a:avLst>
              <a:gd name="adj" fmla="val 36141"/>
            </a:avLst>
          </a:prstGeom>
          <a:solidFill>
            <a:srgbClr val="2F549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8" name="Google Shape;258;g3dd6299f58b_0_0"/>
          <p:cNvPicPr preferRelativeResize="0"/>
          <p:nvPr/>
        </p:nvPicPr>
        <p:blipFill rotWithShape="1">
          <a:blip r:embed="rId3">
            <a:alphaModFix/>
          </a:blip>
          <a:srcRect b="62941"/>
          <a:stretch/>
        </p:blipFill>
        <p:spPr>
          <a:xfrm>
            <a:off x="6096001" y="4715680"/>
            <a:ext cx="1280161" cy="214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g3dd6299f58b_0_0"/>
          <p:cNvPicPr preferRelativeResize="0"/>
          <p:nvPr/>
        </p:nvPicPr>
        <p:blipFill rotWithShape="1">
          <a:blip r:embed="rId3">
            <a:alphaModFix/>
          </a:blip>
          <a:srcRect b="62941"/>
          <a:stretch/>
        </p:blipFill>
        <p:spPr>
          <a:xfrm rot="5400000">
            <a:off x="4068625" y="3964372"/>
            <a:ext cx="1280161" cy="214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g3dd6299f58b_0_0"/>
          <p:cNvPicPr preferRelativeResize="0"/>
          <p:nvPr/>
        </p:nvPicPr>
        <p:blipFill rotWithShape="1">
          <a:blip r:embed="rId3">
            <a:alphaModFix/>
          </a:blip>
          <a:srcRect b="62941"/>
          <a:stretch/>
        </p:blipFill>
        <p:spPr>
          <a:xfrm rot="-5400000">
            <a:off x="6843215" y="2682848"/>
            <a:ext cx="1280159" cy="214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g3dd6299f58b_0_0"/>
          <p:cNvPicPr preferRelativeResize="0"/>
          <p:nvPr/>
        </p:nvPicPr>
        <p:blipFill rotWithShape="1">
          <a:blip r:embed="rId3">
            <a:alphaModFix/>
          </a:blip>
          <a:srcRect b="62941"/>
          <a:stretch/>
        </p:blipFill>
        <p:spPr>
          <a:xfrm rot="10800000">
            <a:off x="4815840" y="1934268"/>
            <a:ext cx="1280159" cy="21427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g3dd6299f58b_0_0"/>
          <p:cNvSpPr txBox="1"/>
          <p:nvPr/>
        </p:nvSpPr>
        <p:spPr>
          <a:xfrm>
            <a:off x="4815838" y="958648"/>
            <a:ext cx="12801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263" name="Google Shape;263;g3dd6299f58b_0_0"/>
          <p:cNvSpPr txBox="1"/>
          <p:nvPr/>
        </p:nvSpPr>
        <p:spPr>
          <a:xfrm>
            <a:off x="7483294" y="2282149"/>
            <a:ext cx="12801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264" name="Google Shape;264;g3dd6299f58b_0_0"/>
          <p:cNvSpPr txBox="1"/>
          <p:nvPr/>
        </p:nvSpPr>
        <p:spPr>
          <a:xfrm>
            <a:off x="6095999" y="4927086"/>
            <a:ext cx="12801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265" name="Google Shape;265;g3dd6299f58b_0_0"/>
          <p:cNvSpPr txBox="1"/>
          <p:nvPr/>
        </p:nvSpPr>
        <p:spPr>
          <a:xfrm>
            <a:off x="3436733" y="3563674"/>
            <a:ext cx="12801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266" name="Google Shape;266;g3dd6299f58b_0_0"/>
          <p:cNvSpPr/>
          <p:nvPr/>
        </p:nvSpPr>
        <p:spPr>
          <a:xfrm>
            <a:off x="6153751" y="1065634"/>
            <a:ext cx="36105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Statements</a:t>
            </a:r>
            <a:endParaRPr sz="1800">
              <a:solidFill>
                <a:srgbClr val="C55A1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g3dd6299f58b_0_0"/>
          <p:cNvSpPr/>
          <p:nvPr/>
        </p:nvSpPr>
        <p:spPr>
          <a:xfrm>
            <a:off x="7416473" y="3434235"/>
            <a:ext cx="36105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7B7B7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Initiatives / Objectives</a:t>
            </a:r>
            <a:endParaRPr sz="1800" b="1">
              <a:solidFill>
                <a:srgbClr val="7B7B7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8" name="Google Shape;268;g3dd6299f58b_0_0"/>
          <p:cNvSpPr/>
          <p:nvPr/>
        </p:nvSpPr>
        <p:spPr>
          <a:xfrm>
            <a:off x="2375130" y="4808623"/>
            <a:ext cx="36105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processes/Solutions</a:t>
            </a:r>
            <a:endParaRPr sz="1800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g3dd6299f58b_0_0"/>
          <p:cNvSpPr/>
          <p:nvPr/>
        </p:nvSpPr>
        <p:spPr>
          <a:xfrm>
            <a:off x="638600" y="2387425"/>
            <a:ext cx="41772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Compare &amp; contrast alternative solution</a:t>
            </a:r>
            <a:endParaRPr sz="1800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g3dd6299f58b_0_0"/>
          <p:cNvSpPr/>
          <p:nvPr/>
        </p:nvSpPr>
        <p:spPr>
          <a:xfrm>
            <a:off x="5133215" y="3730542"/>
            <a:ext cx="668336" cy="687388"/>
          </a:xfrm>
          <a:custGeom>
            <a:avLst/>
            <a:gdLst/>
            <a:ahLst/>
            <a:cxnLst/>
            <a:rect l="l" t="t" r="r" b="b"/>
            <a:pathLst>
              <a:path w="3366" h="3464" extrusionOk="0">
                <a:moveTo>
                  <a:pt x="1323" y="1647"/>
                </a:moveTo>
                <a:lnTo>
                  <a:pt x="1078" y="2244"/>
                </a:lnTo>
                <a:lnTo>
                  <a:pt x="1207" y="2372"/>
                </a:lnTo>
                <a:lnTo>
                  <a:pt x="1804" y="2131"/>
                </a:lnTo>
                <a:lnTo>
                  <a:pt x="1323" y="1647"/>
                </a:lnTo>
                <a:close/>
                <a:moveTo>
                  <a:pt x="1741" y="452"/>
                </a:moveTo>
                <a:lnTo>
                  <a:pt x="1741" y="927"/>
                </a:lnTo>
                <a:lnTo>
                  <a:pt x="1878" y="927"/>
                </a:lnTo>
                <a:lnTo>
                  <a:pt x="2041" y="763"/>
                </a:lnTo>
                <a:lnTo>
                  <a:pt x="1741" y="452"/>
                </a:lnTo>
                <a:close/>
                <a:moveTo>
                  <a:pt x="281" y="281"/>
                </a:moveTo>
                <a:lnTo>
                  <a:pt x="281" y="3183"/>
                </a:lnTo>
                <a:lnTo>
                  <a:pt x="2387" y="3183"/>
                </a:lnTo>
                <a:lnTo>
                  <a:pt x="2387" y="1716"/>
                </a:lnTo>
                <a:lnTo>
                  <a:pt x="2088" y="2014"/>
                </a:lnTo>
                <a:lnTo>
                  <a:pt x="2088" y="2021"/>
                </a:lnTo>
                <a:lnTo>
                  <a:pt x="2082" y="2021"/>
                </a:lnTo>
                <a:lnTo>
                  <a:pt x="1886" y="2215"/>
                </a:lnTo>
                <a:lnTo>
                  <a:pt x="1275" y="2463"/>
                </a:lnTo>
                <a:lnTo>
                  <a:pt x="2088" y="2463"/>
                </a:lnTo>
                <a:lnTo>
                  <a:pt x="2088" y="2604"/>
                </a:lnTo>
                <a:lnTo>
                  <a:pt x="580" y="2604"/>
                </a:lnTo>
                <a:lnTo>
                  <a:pt x="580" y="2463"/>
                </a:lnTo>
                <a:lnTo>
                  <a:pt x="870" y="2463"/>
                </a:lnTo>
                <a:lnTo>
                  <a:pt x="1052" y="2021"/>
                </a:lnTo>
                <a:lnTo>
                  <a:pt x="580" y="2021"/>
                </a:lnTo>
                <a:lnTo>
                  <a:pt x="580" y="1880"/>
                </a:lnTo>
                <a:lnTo>
                  <a:pt x="1110" y="1880"/>
                </a:lnTo>
                <a:lnTo>
                  <a:pt x="1238" y="1564"/>
                </a:lnTo>
                <a:lnTo>
                  <a:pt x="1366" y="1438"/>
                </a:lnTo>
                <a:lnTo>
                  <a:pt x="580" y="1438"/>
                </a:lnTo>
                <a:lnTo>
                  <a:pt x="580" y="1296"/>
                </a:lnTo>
                <a:lnTo>
                  <a:pt x="1506" y="1296"/>
                </a:lnTo>
                <a:lnTo>
                  <a:pt x="1666" y="1138"/>
                </a:lnTo>
                <a:lnTo>
                  <a:pt x="1532" y="1138"/>
                </a:lnTo>
                <a:lnTo>
                  <a:pt x="1532" y="281"/>
                </a:lnTo>
                <a:lnTo>
                  <a:pt x="281" y="281"/>
                </a:lnTo>
                <a:close/>
                <a:moveTo>
                  <a:pt x="0" y="0"/>
                </a:moveTo>
                <a:lnTo>
                  <a:pt x="1696" y="0"/>
                </a:lnTo>
                <a:lnTo>
                  <a:pt x="2241" y="565"/>
                </a:lnTo>
                <a:lnTo>
                  <a:pt x="2637" y="171"/>
                </a:lnTo>
                <a:lnTo>
                  <a:pt x="2661" y="150"/>
                </a:lnTo>
                <a:lnTo>
                  <a:pt x="2686" y="131"/>
                </a:lnTo>
                <a:lnTo>
                  <a:pt x="2712" y="117"/>
                </a:lnTo>
                <a:lnTo>
                  <a:pt x="2739" y="104"/>
                </a:lnTo>
                <a:lnTo>
                  <a:pt x="2765" y="97"/>
                </a:lnTo>
                <a:lnTo>
                  <a:pt x="2791" y="91"/>
                </a:lnTo>
                <a:lnTo>
                  <a:pt x="2816" y="90"/>
                </a:lnTo>
                <a:lnTo>
                  <a:pt x="2840" y="93"/>
                </a:lnTo>
                <a:lnTo>
                  <a:pt x="2863" y="100"/>
                </a:lnTo>
                <a:lnTo>
                  <a:pt x="2882" y="110"/>
                </a:lnTo>
                <a:lnTo>
                  <a:pt x="2900" y="125"/>
                </a:lnTo>
                <a:lnTo>
                  <a:pt x="3332" y="558"/>
                </a:lnTo>
                <a:lnTo>
                  <a:pt x="3347" y="578"/>
                </a:lnTo>
                <a:lnTo>
                  <a:pt x="3358" y="600"/>
                </a:lnTo>
                <a:lnTo>
                  <a:pt x="3364" y="626"/>
                </a:lnTo>
                <a:lnTo>
                  <a:pt x="3366" y="652"/>
                </a:lnTo>
                <a:lnTo>
                  <a:pt x="3363" y="680"/>
                </a:lnTo>
                <a:lnTo>
                  <a:pt x="3356" y="710"/>
                </a:lnTo>
                <a:lnTo>
                  <a:pt x="3344" y="739"/>
                </a:lnTo>
                <a:lnTo>
                  <a:pt x="3329" y="767"/>
                </a:lnTo>
                <a:lnTo>
                  <a:pt x="3310" y="796"/>
                </a:lnTo>
                <a:lnTo>
                  <a:pt x="3286" y="822"/>
                </a:lnTo>
                <a:lnTo>
                  <a:pt x="2668" y="1437"/>
                </a:lnTo>
                <a:lnTo>
                  <a:pt x="2668" y="3464"/>
                </a:lnTo>
                <a:lnTo>
                  <a:pt x="0" y="3464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g3dd6299f58b_0_0"/>
          <p:cNvSpPr/>
          <p:nvPr/>
        </p:nvSpPr>
        <p:spPr>
          <a:xfrm>
            <a:off x="5130834" y="2538361"/>
            <a:ext cx="673101" cy="503238"/>
          </a:xfrm>
          <a:custGeom>
            <a:avLst/>
            <a:gdLst/>
            <a:ahLst/>
            <a:cxnLst/>
            <a:rect l="l" t="t" r="r" b="b"/>
            <a:pathLst>
              <a:path w="3390" h="2540" extrusionOk="0">
                <a:moveTo>
                  <a:pt x="2622" y="1219"/>
                </a:moveTo>
                <a:lnTo>
                  <a:pt x="2561" y="1223"/>
                </a:lnTo>
                <a:lnTo>
                  <a:pt x="2503" y="1232"/>
                </a:lnTo>
                <a:lnTo>
                  <a:pt x="2447" y="1248"/>
                </a:lnTo>
                <a:lnTo>
                  <a:pt x="2394" y="1269"/>
                </a:lnTo>
                <a:lnTo>
                  <a:pt x="2343" y="1295"/>
                </a:lnTo>
                <a:lnTo>
                  <a:pt x="2296" y="1326"/>
                </a:lnTo>
                <a:lnTo>
                  <a:pt x="2252" y="1361"/>
                </a:lnTo>
                <a:lnTo>
                  <a:pt x="2212" y="1401"/>
                </a:lnTo>
                <a:lnTo>
                  <a:pt x="2176" y="1446"/>
                </a:lnTo>
                <a:lnTo>
                  <a:pt x="2144" y="1493"/>
                </a:lnTo>
                <a:lnTo>
                  <a:pt x="2118" y="1544"/>
                </a:lnTo>
                <a:lnTo>
                  <a:pt x="2097" y="1597"/>
                </a:lnTo>
                <a:lnTo>
                  <a:pt x="2082" y="1653"/>
                </a:lnTo>
                <a:lnTo>
                  <a:pt x="2073" y="1712"/>
                </a:lnTo>
                <a:lnTo>
                  <a:pt x="2070" y="1772"/>
                </a:lnTo>
                <a:lnTo>
                  <a:pt x="2073" y="1832"/>
                </a:lnTo>
                <a:lnTo>
                  <a:pt x="2082" y="1890"/>
                </a:lnTo>
                <a:lnTo>
                  <a:pt x="2097" y="1947"/>
                </a:lnTo>
                <a:lnTo>
                  <a:pt x="2118" y="1999"/>
                </a:lnTo>
                <a:lnTo>
                  <a:pt x="2144" y="2051"/>
                </a:lnTo>
                <a:lnTo>
                  <a:pt x="2176" y="2098"/>
                </a:lnTo>
                <a:lnTo>
                  <a:pt x="2212" y="2142"/>
                </a:lnTo>
                <a:lnTo>
                  <a:pt x="2252" y="2182"/>
                </a:lnTo>
                <a:lnTo>
                  <a:pt x="2296" y="2218"/>
                </a:lnTo>
                <a:lnTo>
                  <a:pt x="2343" y="2249"/>
                </a:lnTo>
                <a:lnTo>
                  <a:pt x="2394" y="2275"/>
                </a:lnTo>
                <a:lnTo>
                  <a:pt x="2447" y="2296"/>
                </a:lnTo>
                <a:lnTo>
                  <a:pt x="2503" y="2312"/>
                </a:lnTo>
                <a:lnTo>
                  <a:pt x="2561" y="2322"/>
                </a:lnTo>
                <a:lnTo>
                  <a:pt x="2622" y="2325"/>
                </a:lnTo>
                <a:lnTo>
                  <a:pt x="2682" y="2322"/>
                </a:lnTo>
                <a:lnTo>
                  <a:pt x="2740" y="2312"/>
                </a:lnTo>
                <a:lnTo>
                  <a:pt x="2795" y="2296"/>
                </a:lnTo>
                <a:lnTo>
                  <a:pt x="2849" y="2275"/>
                </a:lnTo>
                <a:lnTo>
                  <a:pt x="2900" y="2249"/>
                </a:lnTo>
                <a:lnTo>
                  <a:pt x="2947" y="2218"/>
                </a:lnTo>
                <a:lnTo>
                  <a:pt x="2991" y="2182"/>
                </a:lnTo>
                <a:lnTo>
                  <a:pt x="3031" y="2142"/>
                </a:lnTo>
                <a:lnTo>
                  <a:pt x="3067" y="2098"/>
                </a:lnTo>
                <a:lnTo>
                  <a:pt x="3098" y="2051"/>
                </a:lnTo>
                <a:lnTo>
                  <a:pt x="3125" y="1999"/>
                </a:lnTo>
                <a:lnTo>
                  <a:pt x="3146" y="1947"/>
                </a:lnTo>
                <a:lnTo>
                  <a:pt x="3161" y="1890"/>
                </a:lnTo>
                <a:lnTo>
                  <a:pt x="3170" y="1832"/>
                </a:lnTo>
                <a:lnTo>
                  <a:pt x="3173" y="1772"/>
                </a:lnTo>
                <a:lnTo>
                  <a:pt x="3170" y="1712"/>
                </a:lnTo>
                <a:lnTo>
                  <a:pt x="3161" y="1653"/>
                </a:lnTo>
                <a:lnTo>
                  <a:pt x="3146" y="1597"/>
                </a:lnTo>
                <a:lnTo>
                  <a:pt x="3125" y="1544"/>
                </a:lnTo>
                <a:lnTo>
                  <a:pt x="3098" y="1493"/>
                </a:lnTo>
                <a:lnTo>
                  <a:pt x="3067" y="1446"/>
                </a:lnTo>
                <a:lnTo>
                  <a:pt x="3031" y="1401"/>
                </a:lnTo>
                <a:lnTo>
                  <a:pt x="2991" y="1361"/>
                </a:lnTo>
                <a:lnTo>
                  <a:pt x="2947" y="1326"/>
                </a:lnTo>
                <a:lnTo>
                  <a:pt x="2900" y="1295"/>
                </a:lnTo>
                <a:lnTo>
                  <a:pt x="2849" y="1269"/>
                </a:lnTo>
                <a:lnTo>
                  <a:pt x="2795" y="1248"/>
                </a:lnTo>
                <a:lnTo>
                  <a:pt x="2740" y="1232"/>
                </a:lnTo>
                <a:lnTo>
                  <a:pt x="2682" y="1223"/>
                </a:lnTo>
                <a:lnTo>
                  <a:pt x="2622" y="1219"/>
                </a:lnTo>
                <a:close/>
                <a:moveTo>
                  <a:pt x="767" y="1219"/>
                </a:moveTo>
                <a:lnTo>
                  <a:pt x="707" y="1223"/>
                </a:lnTo>
                <a:lnTo>
                  <a:pt x="649" y="1232"/>
                </a:lnTo>
                <a:lnTo>
                  <a:pt x="593" y="1248"/>
                </a:lnTo>
                <a:lnTo>
                  <a:pt x="540" y="1269"/>
                </a:lnTo>
                <a:lnTo>
                  <a:pt x="489" y="1295"/>
                </a:lnTo>
                <a:lnTo>
                  <a:pt x="441" y="1326"/>
                </a:lnTo>
                <a:lnTo>
                  <a:pt x="398" y="1361"/>
                </a:lnTo>
                <a:lnTo>
                  <a:pt x="358" y="1401"/>
                </a:lnTo>
                <a:lnTo>
                  <a:pt x="322" y="1446"/>
                </a:lnTo>
                <a:lnTo>
                  <a:pt x="290" y="1493"/>
                </a:lnTo>
                <a:lnTo>
                  <a:pt x="264" y="1544"/>
                </a:lnTo>
                <a:lnTo>
                  <a:pt x="243" y="1597"/>
                </a:lnTo>
                <a:lnTo>
                  <a:pt x="228" y="1653"/>
                </a:lnTo>
                <a:lnTo>
                  <a:pt x="219" y="1712"/>
                </a:lnTo>
                <a:lnTo>
                  <a:pt x="216" y="1772"/>
                </a:lnTo>
                <a:lnTo>
                  <a:pt x="219" y="1832"/>
                </a:lnTo>
                <a:lnTo>
                  <a:pt x="228" y="1890"/>
                </a:lnTo>
                <a:lnTo>
                  <a:pt x="243" y="1947"/>
                </a:lnTo>
                <a:lnTo>
                  <a:pt x="264" y="1999"/>
                </a:lnTo>
                <a:lnTo>
                  <a:pt x="290" y="2051"/>
                </a:lnTo>
                <a:lnTo>
                  <a:pt x="322" y="2098"/>
                </a:lnTo>
                <a:lnTo>
                  <a:pt x="358" y="2142"/>
                </a:lnTo>
                <a:lnTo>
                  <a:pt x="398" y="2182"/>
                </a:lnTo>
                <a:lnTo>
                  <a:pt x="441" y="2218"/>
                </a:lnTo>
                <a:lnTo>
                  <a:pt x="489" y="2249"/>
                </a:lnTo>
                <a:lnTo>
                  <a:pt x="540" y="2275"/>
                </a:lnTo>
                <a:lnTo>
                  <a:pt x="593" y="2296"/>
                </a:lnTo>
                <a:lnTo>
                  <a:pt x="649" y="2312"/>
                </a:lnTo>
                <a:lnTo>
                  <a:pt x="707" y="2322"/>
                </a:lnTo>
                <a:lnTo>
                  <a:pt x="767" y="2325"/>
                </a:lnTo>
                <a:lnTo>
                  <a:pt x="828" y="2322"/>
                </a:lnTo>
                <a:lnTo>
                  <a:pt x="886" y="2312"/>
                </a:lnTo>
                <a:lnTo>
                  <a:pt x="942" y="2296"/>
                </a:lnTo>
                <a:lnTo>
                  <a:pt x="995" y="2275"/>
                </a:lnTo>
                <a:lnTo>
                  <a:pt x="1046" y="2249"/>
                </a:lnTo>
                <a:lnTo>
                  <a:pt x="1093" y="2218"/>
                </a:lnTo>
                <a:lnTo>
                  <a:pt x="1137" y="2182"/>
                </a:lnTo>
                <a:lnTo>
                  <a:pt x="1177" y="2142"/>
                </a:lnTo>
                <a:lnTo>
                  <a:pt x="1213" y="2098"/>
                </a:lnTo>
                <a:lnTo>
                  <a:pt x="1245" y="2051"/>
                </a:lnTo>
                <a:lnTo>
                  <a:pt x="1271" y="1999"/>
                </a:lnTo>
                <a:lnTo>
                  <a:pt x="1292" y="1947"/>
                </a:lnTo>
                <a:lnTo>
                  <a:pt x="1307" y="1890"/>
                </a:lnTo>
                <a:lnTo>
                  <a:pt x="1316" y="1832"/>
                </a:lnTo>
                <a:lnTo>
                  <a:pt x="1319" y="1772"/>
                </a:lnTo>
                <a:lnTo>
                  <a:pt x="1316" y="1712"/>
                </a:lnTo>
                <a:lnTo>
                  <a:pt x="1307" y="1653"/>
                </a:lnTo>
                <a:lnTo>
                  <a:pt x="1292" y="1597"/>
                </a:lnTo>
                <a:lnTo>
                  <a:pt x="1271" y="1544"/>
                </a:lnTo>
                <a:lnTo>
                  <a:pt x="1245" y="1493"/>
                </a:lnTo>
                <a:lnTo>
                  <a:pt x="1213" y="1446"/>
                </a:lnTo>
                <a:lnTo>
                  <a:pt x="1177" y="1401"/>
                </a:lnTo>
                <a:lnTo>
                  <a:pt x="1137" y="1361"/>
                </a:lnTo>
                <a:lnTo>
                  <a:pt x="1093" y="1326"/>
                </a:lnTo>
                <a:lnTo>
                  <a:pt x="1046" y="1295"/>
                </a:lnTo>
                <a:lnTo>
                  <a:pt x="995" y="1269"/>
                </a:lnTo>
                <a:lnTo>
                  <a:pt x="942" y="1248"/>
                </a:lnTo>
                <a:lnTo>
                  <a:pt x="886" y="1232"/>
                </a:lnTo>
                <a:lnTo>
                  <a:pt x="828" y="1223"/>
                </a:lnTo>
                <a:lnTo>
                  <a:pt x="767" y="1219"/>
                </a:lnTo>
                <a:close/>
                <a:moveTo>
                  <a:pt x="1695" y="886"/>
                </a:moveTo>
                <a:lnTo>
                  <a:pt x="1647" y="887"/>
                </a:lnTo>
                <a:lnTo>
                  <a:pt x="1599" y="891"/>
                </a:lnTo>
                <a:lnTo>
                  <a:pt x="1556" y="896"/>
                </a:lnTo>
                <a:lnTo>
                  <a:pt x="1514" y="905"/>
                </a:lnTo>
                <a:lnTo>
                  <a:pt x="1476" y="915"/>
                </a:lnTo>
                <a:lnTo>
                  <a:pt x="1442" y="927"/>
                </a:lnTo>
                <a:lnTo>
                  <a:pt x="1412" y="941"/>
                </a:lnTo>
                <a:lnTo>
                  <a:pt x="1387" y="956"/>
                </a:lnTo>
                <a:lnTo>
                  <a:pt x="1366" y="973"/>
                </a:lnTo>
                <a:lnTo>
                  <a:pt x="1350" y="991"/>
                </a:lnTo>
                <a:lnTo>
                  <a:pt x="1340" y="1009"/>
                </a:lnTo>
                <a:lnTo>
                  <a:pt x="1337" y="1029"/>
                </a:lnTo>
                <a:lnTo>
                  <a:pt x="1340" y="1048"/>
                </a:lnTo>
                <a:lnTo>
                  <a:pt x="1350" y="1067"/>
                </a:lnTo>
                <a:lnTo>
                  <a:pt x="1366" y="1085"/>
                </a:lnTo>
                <a:lnTo>
                  <a:pt x="1387" y="1100"/>
                </a:lnTo>
                <a:lnTo>
                  <a:pt x="1412" y="1116"/>
                </a:lnTo>
                <a:lnTo>
                  <a:pt x="1442" y="1130"/>
                </a:lnTo>
                <a:lnTo>
                  <a:pt x="1476" y="1143"/>
                </a:lnTo>
                <a:lnTo>
                  <a:pt x="1514" y="1152"/>
                </a:lnTo>
                <a:lnTo>
                  <a:pt x="1556" y="1160"/>
                </a:lnTo>
                <a:lnTo>
                  <a:pt x="1599" y="1167"/>
                </a:lnTo>
                <a:lnTo>
                  <a:pt x="1647" y="1171"/>
                </a:lnTo>
                <a:lnTo>
                  <a:pt x="1695" y="1172"/>
                </a:lnTo>
                <a:lnTo>
                  <a:pt x="1743" y="1171"/>
                </a:lnTo>
                <a:lnTo>
                  <a:pt x="1790" y="1167"/>
                </a:lnTo>
                <a:lnTo>
                  <a:pt x="1834" y="1160"/>
                </a:lnTo>
                <a:lnTo>
                  <a:pt x="1875" y="1152"/>
                </a:lnTo>
                <a:lnTo>
                  <a:pt x="1913" y="1143"/>
                </a:lnTo>
                <a:lnTo>
                  <a:pt x="1947" y="1130"/>
                </a:lnTo>
                <a:lnTo>
                  <a:pt x="1978" y="1116"/>
                </a:lnTo>
                <a:lnTo>
                  <a:pt x="2003" y="1100"/>
                </a:lnTo>
                <a:lnTo>
                  <a:pt x="2024" y="1085"/>
                </a:lnTo>
                <a:lnTo>
                  <a:pt x="2039" y="1067"/>
                </a:lnTo>
                <a:lnTo>
                  <a:pt x="2048" y="1048"/>
                </a:lnTo>
                <a:lnTo>
                  <a:pt x="2052" y="1029"/>
                </a:lnTo>
                <a:lnTo>
                  <a:pt x="2048" y="1009"/>
                </a:lnTo>
                <a:lnTo>
                  <a:pt x="2039" y="991"/>
                </a:lnTo>
                <a:lnTo>
                  <a:pt x="2024" y="973"/>
                </a:lnTo>
                <a:lnTo>
                  <a:pt x="2003" y="956"/>
                </a:lnTo>
                <a:lnTo>
                  <a:pt x="1978" y="941"/>
                </a:lnTo>
                <a:lnTo>
                  <a:pt x="1947" y="927"/>
                </a:lnTo>
                <a:lnTo>
                  <a:pt x="1913" y="915"/>
                </a:lnTo>
                <a:lnTo>
                  <a:pt x="1875" y="905"/>
                </a:lnTo>
                <a:lnTo>
                  <a:pt x="1834" y="896"/>
                </a:lnTo>
                <a:lnTo>
                  <a:pt x="1790" y="891"/>
                </a:lnTo>
                <a:lnTo>
                  <a:pt x="1743" y="887"/>
                </a:lnTo>
                <a:lnTo>
                  <a:pt x="1695" y="886"/>
                </a:lnTo>
                <a:close/>
                <a:moveTo>
                  <a:pt x="2260" y="260"/>
                </a:moveTo>
                <a:lnTo>
                  <a:pt x="2211" y="261"/>
                </a:lnTo>
                <a:lnTo>
                  <a:pt x="2164" y="268"/>
                </a:lnTo>
                <a:lnTo>
                  <a:pt x="2121" y="278"/>
                </a:lnTo>
                <a:lnTo>
                  <a:pt x="2080" y="294"/>
                </a:lnTo>
                <a:lnTo>
                  <a:pt x="2043" y="315"/>
                </a:lnTo>
                <a:lnTo>
                  <a:pt x="2008" y="340"/>
                </a:lnTo>
                <a:lnTo>
                  <a:pt x="1977" y="371"/>
                </a:lnTo>
                <a:lnTo>
                  <a:pt x="1950" y="406"/>
                </a:lnTo>
                <a:lnTo>
                  <a:pt x="1944" y="417"/>
                </a:lnTo>
                <a:lnTo>
                  <a:pt x="1943" y="429"/>
                </a:lnTo>
                <a:lnTo>
                  <a:pt x="1945" y="441"/>
                </a:lnTo>
                <a:lnTo>
                  <a:pt x="1951" y="452"/>
                </a:lnTo>
                <a:lnTo>
                  <a:pt x="1960" y="461"/>
                </a:lnTo>
                <a:lnTo>
                  <a:pt x="1972" y="467"/>
                </a:lnTo>
                <a:lnTo>
                  <a:pt x="1983" y="469"/>
                </a:lnTo>
                <a:lnTo>
                  <a:pt x="1996" y="467"/>
                </a:lnTo>
                <a:lnTo>
                  <a:pt x="2007" y="460"/>
                </a:lnTo>
                <a:lnTo>
                  <a:pt x="2016" y="451"/>
                </a:lnTo>
                <a:lnTo>
                  <a:pt x="2040" y="421"/>
                </a:lnTo>
                <a:lnTo>
                  <a:pt x="2068" y="396"/>
                </a:lnTo>
                <a:lnTo>
                  <a:pt x="2099" y="375"/>
                </a:lnTo>
                <a:lnTo>
                  <a:pt x="2134" y="359"/>
                </a:lnTo>
                <a:lnTo>
                  <a:pt x="2172" y="349"/>
                </a:lnTo>
                <a:lnTo>
                  <a:pt x="2212" y="342"/>
                </a:lnTo>
                <a:lnTo>
                  <a:pt x="2256" y="340"/>
                </a:lnTo>
                <a:lnTo>
                  <a:pt x="2283" y="342"/>
                </a:lnTo>
                <a:lnTo>
                  <a:pt x="2308" y="344"/>
                </a:lnTo>
                <a:lnTo>
                  <a:pt x="2333" y="349"/>
                </a:lnTo>
                <a:lnTo>
                  <a:pt x="2354" y="353"/>
                </a:lnTo>
                <a:lnTo>
                  <a:pt x="2371" y="357"/>
                </a:lnTo>
                <a:lnTo>
                  <a:pt x="2387" y="361"/>
                </a:lnTo>
                <a:lnTo>
                  <a:pt x="2399" y="366"/>
                </a:lnTo>
                <a:lnTo>
                  <a:pt x="2406" y="368"/>
                </a:lnTo>
                <a:lnTo>
                  <a:pt x="2409" y="369"/>
                </a:lnTo>
                <a:lnTo>
                  <a:pt x="2422" y="372"/>
                </a:lnTo>
                <a:lnTo>
                  <a:pt x="2435" y="371"/>
                </a:lnTo>
                <a:lnTo>
                  <a:pt x="2446" y="366"/>
                </a:lnTo>
                <a:lnTo>
                  <a:pt x="2455" y="357"/>
                </a:lnTo>
                <a:lnTo>
                  <a:pt x="2462" y="346"/>
                </a:lnTo>
                <a:lnTo>
                  <a:pt x="2464" y="333"/>
                </a:lnTo>
                <a:lnTo>
                  <a:pt x="2463" y="321"/>
                </a:lnTo>
                <a:lnTo>
                  <a:pt x="2458" y="310"/>
                </a:lnTo>
                <a:lnTo>
                  <a:pt x="2450" y="300"/>
                </a:lnTo>
                <a:lnTo>
                  <a:pt x="2439" y="294"/>
                </a:lnTo>
                <a:lnTo>
                  <a:pt x="2435" y="292"/>
                </a:lnTo>
                <a:lnTo>
                  <a:pt x="2426" y="289"/>
                </a:lnTo>
                <a:lnTo>
                  <a:pt x="2413" y="284"/>
                </a:lnTo>
                <a:lnTo>
                  <a:pt x="2395" y="280"/>
                </a:lnTo>
                <a:lnTo>
                  <a:pt x="2374" y="275"/>
                </a:lnTo>
                <a:lnTo>
                  <a:pt x="2349" y="270"/>
                </a:lnTo>
                <a:lnTo>
                  <a:pt x="2322" y="266"/>
                </a:lnTo>
                <a:lnTo>
                  <a:pt x="2292" y="261"/>
                </a:lnTo>
                <a:lnTo>
                  <a:pt x="2260" y="260"/>
                </a:lnTo>
                <a:close/>
                <a:moveTo>
                  <a:pt x="1130" y="260"/>
                </a:moveTo>
                <a:lnTo>
                  <a:pt x="1097" y="261"/>
                </a:lnTo>
                <a:lnTo>
                  <a:pt x="1068" y="266"/>
                </a:lnTo>
                <a:lnTo>
                  <a:pt x="1041" y="270"/>
                </a:lnTo>
                <a:lnTo>
                  <a:pt x="1015" y="275"/>
                </a:lnTo>
                <a:lnTo>
                  <a:pt x="994" y="280"/>
                </a:lnTo>
                <a:lnTo>
                  <a:pt x="976" y="284"/>
                </a:lnTo>
                <a:lnTo>
                  <a:pt x="964" y="289"/>
                </a:lnTo>
                <a:lnTo>
                  <a:pt x="954" y="292"/>
                </a:lnTo>
                <a:lnTo>
                  <a:pt x="951" y="294"/>
                </a:lnTo>
                <a:lnTo>
                  <a:pt x="940" y="300"/>
                </a:lnTo>
                <a:lnTo>
                  <a:pt x="931" y="310"/>
                </a:lnTo>
                <a:lnTo>
                  <a:pt x="927" y="321"/>
                </a:lnTo>
                <a:lnTo>
                  <a:pt x="925" y="333"/>
                </a:lnTo>
                <a:lnTo>
                  <a:pt x="928" y="346"/>
                </a:lnTo>
                <a:lnTo>
                  <a:pt x="934" y="357"/>
                </a:lnTo>
                <a:lnTo>
                  <a:pt x="944" y="366"/>
                </a:lnTo>
                <a:lnTo>
                  <a:pt x="955" y="371"/>
                </a:lnTo>
                <a:lnTo>
                  <a:pt x="968" y="372"/>
                </a:lnTo>
                <a:lnTo>
                  <a:pt x="981" y="369"/>
                </a:lnTo>
                <a:lnTo>
                  <a:pt x="983" y="368"/>
                </a:lnTo>
                <a:lnTo>
                  <a:pt x="990" y="366"/>
                </a:lnTo>
                <a:lnTo>
                  <a:pt x="1002" y="362"/>
                </a:lnTo>
                <a:lnTo>
                  <a:pt x="1016" y="358"/>
                </a:lnTo>
                <a:lnTo>
                  <a:pt x="1034" y="353"/>
                </a:lnTo>
                <a:lnTo>
                  <a:pt x="1055" y="349"/>
                </a:lnTo>
                <a:lnTo>
                  <a:pt x="1078" y="346"/>
                </a:lnTo>
                <a:lnTo>
                  <a:pt x="1103" y="342"/>
                </a:lnTo>
                <a:lnTo>
                  <a:pt x="1130" y="341"/>
                </a:lnTo>
                <a:lnTo>
                  <a:pt x="1157" y="341"/>
                </a:lnTo>
                <a:lnTo>
                  <a:pt x="1186" y="343"/>
                </a:lnTo>
                <a:lnTo>
                  <a:pt x="1215" y="348"/>
                </a:lnTo>
                <a:lnTo>
                  <a:pt x="1244" y="356"/>
                </a:lnTo>
                <a:lnTo>
                  <a:pt x="1272" y="367"/>
                </a:lnTo>
                <a:lnTo>
                  <a:pt x="1300" y="381"/>
                </a:lnTo>
                <a:lnTo>
                  <a:pt x="1326" y="400"/>
                </a:lnTo>
                <a:lnTo>
                  <a:pt x="1351" y="423"/>
                </a:lnTo>
                <a:lnTo>
                  <a:pt x="1373" y="451"/>
                </a:lnTo>
                <a:lnTo>
                  <a:pt x="1382" y="460"/>
                </a:lnTo>
                <a:lnTo>
                  <a:pt x="1394" y="467"/>
                </a:lnTo>
                <a:lnTo>
                  <a:pt x="1407" y="469"/>
                </a:lnTo>
                <a:lnTo>
                  <a:pt x="1418" y="467"/>
                </a:lnTo>
                <a:lnTo>
                  <a:pt x="1430" y="461"/>
                </a:lnTo>
                <a:lnTo>
                  <a:pt x="1439" y="452"/>
                </a:lnTo>
                <a:lnTo>
                  <a:pt x="1445" y="441"/>
                </a:lnTo>
                <a:lnTo>
                  <a:pt x="1447" y="429"/>
                </a:lnTo>
                <a:lnTo>
                  <a:pt x="1446" y="416"/>
                </a:lnTo>
                <a:lnTo>
                  <a:pt x="1439" y="404"/>
                </a:lnTo>
                <a:lnTo>
                  <a:pt x="1412" y="370"/>
                </a:lnTo>
                <a:lnTo>
                  <a:pt x="1381" y="340"/>
                </a:lnTo>
                <a:lnTo>
                  <a:pt x="1347" y="315"/>
                </a:lnTo>
                <a:lnTo>
                  <a:pt x="1309" y="294"/>
                </a:lnTo>
                <a:lnTo>
                  <a:pt x="1269" y="278"/>
                </a:lnTo>
                <a:lnTo>
                  <a:pt x="1225" y="268"/>
                </a:lnTo>
                <a:lnTo>
                  <a:pt x="1178" y="261"/>
                </a:lnTo>
                <a:lnTo>
                  <a:pt x="1130" y="260"/>
                </a:lnTo>
                <a:close/>
                <a:moveTo>
                  <a:pt x="1249" y="0"/>
                </a:moveTo>
                <a:lnTo>
                  <a:pt x="1288" y="3"/>
                </a:lnTo>
                <a:lnTo>
                  <a:pt x="1326" y="12"/>
                </a:lnTo>
                <a:lnTo>
                  <a:pt x="1361" y="25"/>
                </a:lnTo>
                <a:lnTo>
                  <a:pt x="1394" y="44"/>
                </a:lnTo>
                <a:lnTo>
                  <a:pt x="1424" y="67"/>
                </a:lnTo>
                <a:lnTo>
                  <a:pt x="1449" y="92"/>
                </a:lnTo>
                <a:lnTo>
                  <a:pt x="1470" y="121"/>
                </a:lnTo>
                <a:lnTo>
                  <a:pt x="1485" y="153"/>
                </a:lnTo>
                <a:lnTo>
                  <a:pt x="1494" y="186"/>
                </a:lnTo>
                <a:lnTo>
                  <a:pt x="1495" y="194"/>
                </a:lnTo>
                <a:lnTo>
                  <a:pt x="1496" y="209"/>
                </a:lnTo>
                <a:lnTo>
                  <a:pt x="1498" y="230"/>
                </a:lnTo>
                <a:lnTo>
                  <a:pt x="1500" y="257"/>
                </a:lnTo>
                <a:lnTo>
                  <a:pt x="1502" y="289"/>
                </a:lnTo>
                <a:lnTo>
                  <a:pt x="1505" y="324"/>
                </a:lnTo>
                <a:lnTo>
                  <a:pt x="1508" y="364"/>
                </a:lnTo>
                <a:lnTo>
                  <a:pt x="1511" y="406"/>
                </a:lnTo>
                <a:lnTo>
                  <a:pt x="1513" y="450"/>
                </a:lnTo>
                <a:lnTo>
                  <a:pt x="1516" y="494"/>
                </a:lnTo>
                <a:lnTo>
                  <a:pt x="1519" y="539"/>
                </a:lnTo>
                <a:lnTo>
                  <a:pt x="1521" y="583"/>
                </a:lnTo>
                <a:lnTo>
                  <a:pt x="1525" y="626"/>
                </a:lnTo>
                <a:lnTo>
                  <a:pt x="1527" y="667"/>
                </a:lnTo>
                <a:lnTo>
                  <a:pt x="1529" y="705"/>
                </a:lnTo>
                <a:lnTo>
                  <a:pt x="1547" y="703"/>
                </a:lnTo>
                <a:lnTo>
                  <a:pt x="1561" y="699"/>
                </a:lnTo>
                <a:lnTo>
                  <a:pt x="1573" y="693"/>
                </a:lnTo>
                <a:lnTo>
                  <a:pt x="1582" y="685"/>
                </a:lnTo>
                <a:lnTo>
                  <a:pt x="1591" y="675"/>
                </a:lnTo>
                <a:lnTo>
                  <a:pt x="1599" y="665"/>
                </a:lnTo>
                <a:lnTo>
                  <a:pt x="1607" y="652"/>
                </a:lnTo>
                <a:lnTo>
                  <a:pt x="1615" y="639"/>
                </a:lnTo>
                <a:lnTo>
                  <a:pt x="1626" y="626"/>
                </a:lnTo>
                <a:lnTo>
                  <a:pt x="1638" y="613"/>
                </a:lnTo>
                <a:lnTo>
                  <a:pt x="1643" y="610"/>
                </a:lnTo>
                <a:lnTo>
                  <a:pt x="1654" y="609"/>
                </a:lnTo>
                <a:lnTo>
                  <a:pt x="1669" y="607"/>
                </a:lnTo>
                <a:lnTo>
                  <a:pt x="1685" y="607"/>
                </a:lnTo>
                <a:lnTo>
                  <a:pt x="1703" y="607"/>
                </a:lnTo>
                <a:lnTo>
                  <a:pt x="1720" y="607"/>
                </a:lnTo>
                <a:lnTo>
                  <a:pt x="1735" y="609"/>
                </a:lnTo>
                <a:lnTo>
                  <a:pt x="1745" y="610"/>
                </a:lnTo>
                <a:lnTo>
                  <a:pt x="1752" y="613"/>
                </a:lnTo>
                <a:lnTo>
                  <a:pt x="1764" y="626"/>
                </a:lnTo>
                <a:lnTo>
                  <a:pt x="1774" y="639"/>
                </a:lnTo>
                <a:lnTo>
                  <a:pt x="1782" y="652"/>
                </a:lnTo>
                <a:lnTo>
                  <a:pt x="1791" y="665"/>
                </a:lnTo>
                <a:lnTo>
                  <a:pt x="1798" y="675"/>
                </a:lnTo>
                <a:lnTo>
                  <a:pt x="1806" y="685"/>
                </a:lnTo>
                <a:lnTo>
                  <a:pt x="1816" y="693"/>
                </a:lnTo>
                <a:lnTo>
                  <a:pt x="1828" y="699"/>
                </a:lnTo>
                <a:lnTo>
                  <a:pt x="1842" y="703"/>
                </a:lnTo>
                <a:lnTo>
                  <a:pt x="1860" y="705"/>
                </a:lnTo>
                <a:lnTo>
                  <a:pt x="1862" y="667"/>
                </a:lnTo>
                <a:lnTo>
                  <a:pt x="1865" y="626"/>
                </a:lnTo>
                <a:lnTo>
                  <a:pt x="1868" y="583"/>
                </a:lnTo>
                <a:lnTo>
                  <a:pt x="1871" y="539"/>
                </a:lnTo>
                <a:lnTo>
                  <a:pt x="1873" y="494"/>
                </a:lnTo>
                <a:lnTo>
                  <a:pt x="1876" y="450"/>
                </a:lnTo>
                <a:lnTo>
                  <a:pt x="1879" y="406"/>
                </a:lnTo>
                <a:lnTo>
                  <a:pt x="1881" y="364"/>
                </a:lnTo>
                <a:lnTo>
                  <a:pt x="1884" y="324"/>
                </a:lnTo>
                <a:lnTo>
                  <a:pt x="1886" y="289"/>
                </a:lnTo>
                <a:lnTo>
                  <a:pt x="1889" y="257"/>
                </a:lnTo>
                <a:lnTo>
                  <a:pt x="1891" y="230"/>
                </a:lnTo>
                <a:lnTo>
                  <a:pt x="1893" y="209"/>
                </a:lnTo>
                <a:lnTo>
                  <a:pt x="1894" y="194"/>
                </a:lnTo>
                <a:lnTo>
                  <a:pt x="1895" y="186"/>
                </a:lnTo>
                <a:lnTo>
                  <a:pt x="1904" y="153"/>
                </a:lnTo>
                <a:lnTo>
                  <a:pt x="1920" y="121"/>
                </a:lnTo>
                <a:lnTo>
                  <a:pt x="1940" y="92"/>
                </a:lnTo>
                <a:lnTo>
                  <a:pt x="1965" y="67"/>
                </a:lnTo>
                <a:lnTo>
                  <a:pt x="1995" y="44"/>
                </a:lnTo>
                <a:lnTo>
                  <a:pt x="2028" y="25"/>
                </a:lnTo>
                <a:lnTo>
                  <a:pt x="2063" y="12"/>
                </a:lnTo>
                <a:lnTo>
                  <a:pt x="2101" y="3"/>
                </a:lnTo>
                <a:lnTo>
                  <a:pt x="2140" y="0"/>
                </a:lnTo>
                <a:lnTo>
                  <a:pt x="2166" y="1"/>
                </a:lnTo>
                <a:lnTo>
                  <a:pt x="2192" y="5"/>
                </a:lnTo>
                <a:lnTo>
                  <a:pt x="2217" y="12"/>
                </a:lnTo>
                <a:lnTo>
                  <a:pt x="2241" y="21"/>
                </a:lnTo>
                <a:lnTo>
                  <a:pt x="2265" y="34"/>
                </a:lnTo>
                <a:lnTo>
                  <a:pt x="2289" y="50"/>
                </a:lnTo>
                <a:lnTo>
                  <a:pt x="2315" y="70"/>
                </a:lnTo>
                <a:lnTo>
                  <a:pt x="2340" y="94"/>
                </a:lnTo>
                <a:lnTo>
                  <a:pt x="2367" y="122"/>
                </a:lnTo>
                <a:lnTo>
                  <a:pt x="2396" y="155"/>
                </a:lnTo>
                <a:lnTo>
                  <a:pt x="2426" y="193"/>
                </a:lnTo>
                <a:lnTo>
                  <a:pt x="2458" y="235"/>
                </a:lnTo>
                <a:lnTo>
                  <a:pt x="2494" y="283"/>
                </a:lnTo>
                <a:lnTo>
                  <a:pt x="2501" y="294"/>
                </a:lnTo>
                <a:lnTo>
                  <a:pt x="2511" y="310"/>
                </a:lnTo>
                <a:lnTo>
                  <a:pt x="2525" y="329"/>
                </a:lnTo>
                <a:lnTo>
                  <a:pt x="2542" y="352"/>
                </a:lnTo>
                <a:lnTo>
                  <a:pt x="2561" y="379"/>
                </a:lnTo>
                <a:lnTo>
                  <a:pt x="2582" y="410"/>
                </a:lnTo>
                <a:lnTo>
                  <a:pt x="2605" y="442"/>
                </a:lnTo>
                <a:lnTo>
                  <a:pt x="2631" y="479"/>
                </a:lnTo>
                <a:lnTo>
                  <a:pt x="2658" y="517"/>
                </a:lnTo>
                <a:lnTo>
                  <a:pt x="2686" y="558"/>
                </a:lnTo>
                <a:lnTo>
                  <a:pt x="2717" y="600"/>
                </a:lnTo>
                <a:lnTo>
                  <a:pt x="2747" y="645"/>
                </a:lnTo>
                <a:lnTo>
                  <a:pt x="2779" y="690"/>
                </a:lnTo>
                <a:lnTo>
                  <a:pt x="2811" y="736"/>
                </a:lnTo>
                <a:lnTo>
                  <a:pt x="2844" y="783"/>
                </a:lnTo>
                <a:lnTo>
                  <a:pt x="2878" y="831"/>
                </a:lnTo>
                <a:lnTo>
                  <a:pt x="2910" y="878"/>
                </a:lnTo>
                <a:lnTo>
                  <a:pt x="2944" y="925"/>
                </a:lnTo>
                <a:lnTo>
                  <a:pt x="2976" y="972"/>
                </a:lnTo>
                <a:lnTo>
                  <a:pt x="3008" y="1017"/>
                </a:lnTo>
                <a:lnTo>
                  <a:pt x="3040" y="1062"/>
                </a:lnTo>
                <a:lnTo>
                  <a:pt x="3070" y="1106"/>
                </a:lnTo>
                <a:lnTo>
                  <a:pt x="3098" y="1147"/>
                </a:lnTo>
                <a:lnTo>
                  <a:pt x="3126" y="1187"/>
                </a:lnTo>
                <a:lnTo>
                  <a:pt x="3152" y="1224"/>
                </a:lnTo>
                <a:lnTo>
                  <a:pt x="3176" y="1258"/>
                </a:lnTo>
                <a:lnTo>
                  <a:pt x="3198" y="1290"/>
                </a:lnTo>
                <a:lnTo>
                  <a:pt x="3218" y="1318"/>
                </a:lnTo>
                <a:lnTo>
                  <a:pt x="3236" y="1344"/>
                </a:lnTo>
                <a:lnTo>
                  <a:pt x="3251" y="1366"/>
                </a:lnTo>
                <a:lnTo>
                  <a:pt x="3264" y="1383"/>
                </a:lnTo>
                <a:lnTo>
                  <a:pt x="3272" y="1395"/>
                </a:lnTo>
                <a:lnTo>
                  <a:pt x="3292" y="1426"/>
                </a:lnTo>
                <a:lnTo>
                  <a:pt x="3310" y="1460"/>
                </a:lnTo>
                <a:lnTo>
                  <a:pt x="3327" y="1498"/>
                </a:lnTo>
                <a:lnTo>
                  <a:pt x="3343" y="1538"/>
                </a:lnTo>
                <a:lnTo>
                  <a:pt x="3356" y="1579"/>
                </a:lnTo>
                <a:lnTo>
                  <a:pt x="3368" y="1622"/>
                </a:lnTo>
                <a:lnTo>
                  <a:pt x="3377" y="1663"/>
                </a:lnTo>
                <a:lnTo>
                  <a:pt x="3385" y="1702"/>
                </a:lnTo>
                <a:lnTo>
                  <a:pt x="3389" y="1738"/>
                </a:lnTo>
                <a:lnTo>
                  <a:pt x="3390" y="1772"/>
                </a:lnTo>
                <a:lnTo>
                  <a:pt x="3387" y="1842"/>
                </a:lnTo>
                <a:lnTo>
                  <a:pt x="3378" y="1910"/>
                </a:lnTo>
                <a:lnTo>
                  <a:pt x="3363" y="1976"/>
                </a:lnTo>
                <a:lnTo>
                  <a:pt x="3343" y="2039"/>
                </a:lnTo>
                <a:lnTo>
                  <a:pt x="3316" y="2101"/>
                </a:lnTo>
                <a:lnTo>
                  <a:pt x="3286" y="2160"/>
                </a:lnTo>
                <a:lnTo>
                  <a:pt x="3250" y="2214"/>
                </a:lnTo>
                <a:lnTo>
                  <a:pt x="3210" y="2267"/>
                </a:lnTo>
                <a:lnTo>
                  <a:pt x="3166" y="2314"/>
                </a:lnTo>
                <a:lnTo>
                  <a:pt x="3117" y="2358"/>
                </a:lnTo>
                <a:lnTo>
                  <a:pt x="3066" y="2398"/>
                </a:lnTo>
                <a:lnTo>
                  <a:pt x="3011" y="2434"/>
                </a:lnTo>
                <a:lnTo>
                  <a:pt x="2952" y="2466"/>
                </a:lnTo>
                <a:lnTo>
                  <a:pt x="2891" y="2491"/>
                </a:lnTo>
                <a:lnTo>
                  <a:pt x="2827" y="2512"/>
                </a:lnTo>
                <a:lnTo>
                  <a:pt x="2762" y="2527"/>
                </a:lnTo>
                <a:lnTo>
                  <a:pt x="2693" y="2536"/>
                </a:lnTo>
                <a:lnTo>
                  <a:pt x="2624" y="2540"/>
                </a:lnTo>
                <a:lnTo>
                  <a:pt x="2553" y="2536"/>
                </a:lnTo>
                <a:lnTo>
                  <a:pt x="2486" y="2527"/>
                </a:lnTo>
                <a:lnTo>
                  <a:pt x="2420" y="2512"/>
                </a:lnTo>
                <a:lnTo>
                  <a:pt x="2357" y="2491"/>
                </a:lnTo>
                <a:lnTo>
                  <a:pt x="2296" y="2466"/>
                </a:lnTo>
                <a:lnTo>
                  <a:pt x="2237" y="2434"/>
                </a:lnTo>
                <a:lnTo>
                  <a:pt x="2182" y="2398"/>
                </a:lnTo>
                <a:lnTo>
                  <a:pt x="2131" y="2358"/>
                </a:lnTo>
                <a:lnTo>
                  <a:pt x="2082" y="2314"/>
                </a:lnTo>
                <a:lnTo>
                  <a:pt x="2038" y="2267"/>
                </a:lnTo>
                <a:lnTo>
                  <a:pt x="1998" y="2214"/>
                </a:lnTo>
                <a:lnTo>
                  <a:pt x="1963" y="2160"/>
                </a:lnTo>
                <a:lnTo>
                  <a:pt x="1933" y="2101"/>
                </a:lnTo>
                <a:lnTo>
                  <a:pt x="1906" y="2039"/>
                </a:lnTo>
                <a:lnTo>
                  <a:pt x="1886" y="1976"/>
                </a:lnTo>
                <a:lnTo>
                  <a:pt x="1871" y="1910"/>
                </a:lnTo>
                <a:lnTo>
                  <a:pt x="1862" y="1842"/>
                </a:lnTo>
                <a:lnTo>
                  <a:pt x="1859" y="1772"/>
                </a:lnTo>
                <a:lnTo>
                  <a:pt x="1859" y="1578"/>
                </a:lnTo>
                <a:lnTo>
                  <a:pt x="1858" y="1557"/>
                </a:lnTo>
                <a:lnTo>
                  <a:pt x="1857" y="1538"/>
                </a:lnTo>
                <a:lnTo>
                  <a:pt x="1855" y="1522"/>
                </a:lnTo>
                <a:lnTo>
                  <a:pt x="1850" y="1507"/>
                </a:lnTo>
                <a:lnTo>
                  <a:pt x="1843" y="1494"/>
                </a:lnTo>
                <a:lnTo>
                  <a:pt x="1834" y="1484"/>
                </a:lnTo>
                <a:lnTo>
                  <a:pt x="1821" y="1475"/>
                </a:lnTo>
                <a:lnTo>
                  <a:pt x="1805" y="1469"/>
                </a:lnTo>
                <a:lnTo>
                  <a:pt x="1787" y="1466"/>
                </a:lnTo>
                <a:lnTo>
                  <a:pt x="1762" y="1465"/>
                </a:lnTo>
                <a:lnTo>
                  <a:pt x="1627" y="1465"/>
                </a:lnTo>
                <a:lnTo>
                  <a:pt x="1603" y="1466"/>
                </a:lnTo>
                <a:lnTo>
                  <a:pt x="1584" y="1469"/>
                </a:lnTo>
                <a:lnTo>
                  <a:pt x="1570" y="1475"/>
                </a:lnTo>
                <a:lnTo>
                  <a:pt x="1559" y="1484"/>
                </a:lnTo>
                <a:lnTo>
                  <a:pt x="1552" y="1494"/>
                </a:lnTo>
                <a:lnTo>
                  <a:pt x="1547" y="1507"/>
                </a:lnTo>
                <a:lnTo>
                  <a:pt x="1545" y="1522"/>
                </a:lnTo>
                <a:lnTo>
                  <a:pt x="1543" y="1538"/>
                </a:lnTo>
                <a:lnTo>
                  <a:pt x="1542" y="1557"/>
                </a:lnTo>
                <a:lnTo>
                  <a:pt x="1542" y="1772"/>
                </a:lnTo>
                <a:lnTo>
                  <a:pt x="1539" y="1842"/>
                </a:lnTo>
                <a:lnTo>
                  <a:pt x="1530" y="1910"/>
                </a:lnTo>
                <a:lnTo>
                  <a:pt x="1515" y="1976"/>
                </a:lnTo>
                <a:lnTo>
                  <a:pt x="1494" y="2039"/>
                </a:lnTo>
                <a:lnTo>
                  <a:pt x="1468" y="2101"/>
                </a:lnTo>
                <a:lnTo>
                  <a:pt x="1437" y="2160"/>
                </a:lnTo>
                <a:lnTo>
                  <a:pt x="1401" y="2214"/>
                </a:lnTo>
                <a:lnTo>
                  <a:pt x="1360" y="2267"/>
                </a:lnTo>
                <a:lnTo>
                  <a:pt x="1316" y="2314"/>
                </a:lnTo>
                <a:lnTo>
                  <a:pt x="1268" y="2358"/>
                </a:lnTo>
                <a:lnTo>
                  <a:pt x="1215" y="2398"/>
                </a:lnTo>
                <a:lnTo>
                  <a:pt x="1159" y="2434"/>
                </a:lnTo>
                <a:lnTo>
                  <a:pt x="1102" y="2466"/>
                </a:lnTo>
                <a:lnTo>
                  <a:pt x="1039" y="2491"/>
                </a:lnTo>
                <a:lnTo>
                  <a:pt x="976" y="2512"/>
                </a:lnTo>
                <a:lnTo>
                  <a:pt x="910" y="2527"/>
                </a:lnTo>
                <a:lnTo>
                  <a:pt x="842" y="2536"/>
                </a:lnTo>
                <a:lnTo>
                  <a:pt x="772" y="2540"/>
                </a:lnTo>
                <a:lnTo>
                  <a:pt x="702" y="2536"/>
                </a:lnTo>
                <a:lnTo>
                  <a:pt x="633" y="2527"/>
                </a:lnTo>
                <a:lnTo>
                  <a:pt x="568" y="2512"/>
                </a:lnTo>
                <a:lnTo>
                  <a:pt x="504" y="2491"/>
                </a:lnTo>
                <a:lnTo>
                  <a:pt x="442" y="2466"/>
                </a:lnTo>
                <a:lnTo>
                  <a:pt x="383" y="2434"/>
                </a:lnTo>
                <a:lnTo>
                  <a:pt x="328" y="2398"/>
                </a:lnTo>
                <a:lnTo>
                  <a:pt x="276" y="2358"/>
                </a:lnTo>
                <a:lnTo>
                  <a:pt x="227" y="2314"/>
                </a:lnTo>
                <a:lnTo>
                  <a:pt x="182" y="2267"/>
                </a:lnTo>
                <a:lnTo>
                  <a:pt x="142" y="2214"/>
                </a:lnTo>
                <a:lnTo>
                  <a:pt x="106" y="2160"/>
                </a:lnTo>
                <a:lnTo>
                  <a:pt x="75" y="2101"/>
                </a:lnTo>
                <a:lnTo>
                  <a:pt x="48" y="2039"/>
                </a:lnTo>
                <a:lnTo>
                  <a:pt x="27" y="1976"/>
                </a:lnTo>
                <a:lnTo>
                  <a:pt x="13" y="1910"/>
                </a:lnTo>
                <a:lnTo>
                  <a:pt x="3" y="1842"/>
                </a:lnTo>
                <a:lnTo>
                  <a:pt x="0" y="1772"/>
                </a:lnTo>
                <a:lnTo>
                  <a:pt x="1" y="1738"/>
                </a:lnTo>
                <a:lnTo>
                  <a:pt x="6" y="1702"/>
                </a:lnTo>
                <a:lnTo>
                  <a:pt x="13" y="1663"/>
                </a:lnTo>
                <a:lnTo>
                  <a:pt x="22" y="1622"/>
                </a:lnTo>
                <a:lnTo>
                  <a:pt x="34" y="1579"/>
                </a:lnTo>
                <a:lnTo>
                  <a:pt x="47" y="1538"/>
                </a:lnTo>
                <a:lnTo>
                  <a:pt x="62" y="1498"/>
                </a:lnTo>
                <a:lnTo>
                  <a:pt x="79" y="1460"/>
                </a:lnTo>
                <a:lnTo>
                  <a:pt x="98" y="1426"/>
                </a:lnTo>
                <a:lnTo>
                  <a:pt x="117" y="1395"/>
                </a:lnTo>
                <a:lnTo>
                  <a:pt x="126" y="1383"/>
                </a:lnTo>
                <a:lnTo>
                  <a:pt x="138" y="1366"/>
                </a:lnTo>
                <a:lnTo>
                  <a:pt x="153" y="1344"/>
                </a:lnTo>
                <a:lnTo>
                  <a:pt x="170" y="1318"/>
                </a:lnTo>
                <a:lnTo>
                  <a:pt x="190" y="1290"/>
                </a:lnTo>
                <a:lnTo>
                  <a:pt x="213" y="1258"/>
                </a:lnTo>
                <a:lnTo>
                  <a:pt x="237" y="1224"/>
                </a:lnTo>
                <a:lnTo>
                  <a:pt x="263" y="1187"/>
                </a:lnTo>
                <a:lnTo>
                  <a:pt x="290" y="1147"/>
                </a:lnTo>
                <a:lnTo>
                  <a:pt x="320" y="1106"/>
                </a:lnTo>
                <a:lnTo>
                  <a:pt x="350" y="1062"/>
                </a:lnTo>
                <a:lnTo>
                  <a:pt x="381" y="1017"/>
                </a:lnTo>
                <a:lnTo>
                  <a:pt x="413" y="972"/>
                </a:lnTo>
                <a:lnTo>
                  <a:pt x="446" y="925"/>
                </a:lnTo>
                <a:lnTo>
                  <a:pt x="479" y="878"/>
                </a:lnTo>
                <a:lnTo>
                  <a:pt x="512" y="831"/>
                </a:lnTo>
                <a:lnTo>
                  <a:pt x="545" y="783"/>
                </a:lnTo>
                <a:lnTo>
                  <a:pt x="578" y="736"/>
                </a:lnTo>
                <a:lnTo>
                  <a:pt x="610" y="690"/>
                </a:lnTo>
                <a:lnTo>
                  <a:pt x="642" y="645"/>
                </a:lnTo>
                <a:lnTo>
                  <a:pt x="673" y="600"/>
                </a:lnTo>
                <a:lnTo>
                  <a:pt x="703" y="558"/>
                </a:lnTo>
                <a:lnTo>
                  <a:pt x="731" y="517"/>
                </a:lnTo>
                <a:lnTo>
                  <a:pt x="759" y="479"/>
                </a:lnTo>
                <a:lnTo>
                  <a:pt x="784" y="442"/>
                </a:lnTo>
                <a:lnTo>
                  <a:pt x="807" y="410"/>
                </a:lnTo>
                <a:lnTo>
                  <a:pt x="828" y="379"/>
                </a:lnTo>
                <a:lnTo>
                  <a:pt x="847" y="352"/>
                </a:lnTo>
                <a:lnTo>
                  <a:pt x="864" y="329"/>
                </a:lnTo>
                <a:lnTo>
                  <a:pt x="877" y="310"/>
                </a:lnTo>
                <a:lnTo>
                  <a:pt x="888" y="294"/>
                </a:lnTo>
                <a:lnTo>
                  <a:pt x="895" y="283"/>
                </a:lnTo>
                <a:lnTo>
                  <a:pt x="931" y="235"/>
                </a:lnTo>
                <a:lnTo>
                  <a:pt x="963" y="193"/>
                </a:lnTo>
                <a:lnTo>
                  <a:pt x="993" y="155"/>
                </a:lnTo>
                <a:lnTo>
                  <a:pt x="1022" y="122"/>
                </a:lnTo>
                <a:lnTo>
                  <a:pt x="1049" y="94"/>
                </a:lnTo>
                <a:lnTo>
                  <a:pt x="1075" y="70"/>
                </a:lnTo>
                <a:lnTo>
                  <a:pt x="1099" y="50"/>
                </a:lnTo>
                <a:lnTo>
                  <a:pt x="1124" y="34"/>
                </a:lnTo>
                <a:lnTo>
                  <a:pt x="1148" y="21"/>
                </a:lnTo>
                <a:lnTo>
                  <a:pt x="1172" y="12"/>
                </a:lnTo>
                <a:lnTo>
                  <a:pt x="1197" y="5"/>
                </a:lnTo>
                <a:lnTo>
                  <a:pt x="1223" y="1"/>
                </a:lnTo>
                <a:lnTo>
                  <a:pt x="1249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2" name="Google Shape;272;g3dd6299f58b_0_0"/>
          <p:cNvGrpSpPr/>
          <p:nvPr/>
        </p:nvGrpSpPr>
        <p:grpSpPr>
          <a:xfrm>
            <a:off x="6345373" y="2438267"/>
            <a:ext cx="713436" cy="694664"/>
            <a:chOff x="638" y="291"/>
            <a:chExt cx="554" cy="539"/>
          </a:xfrm>
        </p:grpSpPr>
        <p:sp>
          <p:nvSpPr>
            <p:cNvPr id="273" name="Google Shape;273;g3dd6299f58b_0_0"/>
            <p:cNvSpPr/>
            <p:nvPr/>
          </p:nvSpPr>
          <p:spPr>
            <a:xfrm>
              <a:off x="1120" y="444"/>
              <a:ext cx="57" cy="62"/>
            </a:xfrm>
            <a:custGeom>
              <a:avLst/>
              <a:gdLst/>
              <a:ahLst/>
              <a:cxnLst/>
              <a:rect l="l" t="t" r="r" b="b"/>
              <a:pathLst>
                <a:path w="341" h="371" extrusionOk="0">
                  <a:moveTo>
                    <a:pt x="0" y="0"/>
                  </a:moveTo>
                  <a:lnTo>
                    <a:pt x="171" y="0"/>
                  </a:lnTo>
                  <a:lnTo>
                    <a:pt x="201" y="3"/>
                  </a:lnTo>
                  <a:lnTo>
                    <a:pt x="230" y="11"/>
                  </a:lnTo>
                  <a:lnTo>
                    <a:pt x="257" y="24"/>
                  </a:lnTo>
                  <a:lnTo>
                    <a:pt x="280" y="40"/>
                  </a:lnTo>
                  <a:lnTo>
                    <a:pt x="301" y="61"/>
                  </a:lnTo>
                  <a:lnTo>
                    <a:pt x="317" y="86"/>
                  </a:lnTo>
                  <a:lnTo>
                    <a:pt x="330" y="111"/>
                  </a:lnTo>
                  <a:lnTo>
                    <a:pt x="338" y="141"/>
                  </a:lnTo>
                  <a:lnTo>
                    <a:pt x="341" y="171"/>
                  </a:lnTo>
                  <a:lnTo>
                    <a:pt x="341" y="200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1"/>
                  </a:lnTo>
                  <a:lnTo>
                    <a:pt x="280" y="331"/>
                  </a:lnTo>
                  <a:lnTo>
                    <a:pt x="257" y="349"/>
                  </a:lnTo>
                  <a:lnTo>
                    <a:pt x="230" y="361"/>
                  </a:lnTo>
                  <a:lnTo>
                    <a:pt x="201" y="369"/>
                  </a:lnTo>
                  <a:lnTo>
                    <a:pt x="171" y="371"/>
                  </a:lnTo>
                  <a:lnTo>
                    <a:pt x="0" y="3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274;g3dd6299f58b_0_0"/>
            <p:cNvSpPr/>
            <p:nvPr/>
          </p:nvSpPr>
          <p:spPr>
            <a:xfrm>
              <a:off x="1120" y="517"/>
              <a:ext cx="57" cy="62"/>
            </a:xfrm>
            <a:custGeom>
              <a:avLst/>
              <a:gdLst/>
              <a:ahLst/>
              <a:cxnLst/>
              <a:rect l="l" t="t" r="r" b="b"/>
              <a:pathLst>
                <a:path w="341" h="372" extrusionOk="0">
                  <a:moveTo>
                    <a:pt x="0" y="0"/>
                  </a:moveTo>
                  <a:lnTo>
                    <a:pt x="171" y="0"/>
                  </a:lnTo>
                  <a:lnTo>
                    <a:pt x="201" y="4"/>
                  </a:lnTo>
                  <a:lnTo>
                    <a:pt x="230" y="11"/>
                  </a:lnTo>
                  <a:lnTo>
                    <a:pt x="257" y="24"/>
                  </a:lnTo>
                  <a:lnTo>
                    <a:pt x="280" y="41"/>
                  </a:lnTo>
                  <a:lnTo>
                    <a:pt x="301" y="61"/>
                  </a:lnTo>
                  <a:lnTo>
                    <a:pt x="317" y="85"/>
                  </a:lnTo>
                  <a:lnTo>
                    <a:pt x="330" y="112"/>
                  </a:lnTo>
                  <a:lnTo>
                    <a:pt x="338" y="141"/>
                  </a:lnTo>
                  <a:lnTo>
                    <a:pt x="341" y="172"/>
                  </a:lnTo>
                  <a:lnTo>
                    <a:pt x="341" y="201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1"/>
                  </a:lnTo>
                  <a:lnTo>
                    <a:pt x="280" y="332"/>
                  </a:lnTo>
                  <a:lnTo>
                    <a:pt x="257" y="349"/>
                  </a:lnTo>
                  <a:lnTo>
                    <a:pt x="230" y="361"/>
                  </a:lnTo>
                  <a:lnTo>
                    <a:pt x="201" y="370"/>
                  </a:lnTo>
                  <a:lnTo>
                    <a:pt x="171" y="372"/>
                  </a:lnTo>
                  <a:lnTo>
                    <a:pt x="0" y="3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" name="Google Shape;275;g3dd6299f58b_0_0"/>
            <p:cNvSpPr/>
            <p:nvPr/>
          </p:nvSpPr>
          <p:spPr>
            <a:xfrm>
              <a:off x="1120" y="590"/>
              <a:ext cx="57" cy="62"/>
            </a:xfrm>
            <a:custGeom>
              <a:avLst/>
              <a:gdLst/>
              <a:ahLst/>
              <a:cxnLst/>
              <a:rect l="l" t="t" r="r" b="b"/>
              <a:pathLst>
                <a:path w="341" h="371" extrusionOk="0">
                  <a:moveTo>
                    <a:pt x="0" y="0"/>
                  </a:moveTo>
                  <a:lnTo>
                    <a:pt x="171" y="0"/>
                  </a:lnTo>
                  <a:lnTo>
                    <a:pt x="201" y="3"/>
                  </a:lnTo>
                  <a:lnTo>
                    <a:pt x="230" y="10"/>
                  </a:lnTo>
                  <a:lnTo>
                    <a:pt x="257" y="24"/>
                  </a:lnTo>
                  <a:lnTo>
                    <a:pt x="280" y="40"/>
                  </a:lnTo>
                  <a:lnTo>
                    <a:pt x="301" y="61"/>
                  </a:lnTo>
                  <a:lnTo>
                    <a:pt x="317" y="84"/>
                  </a:lnTo>
                  <a:lnTo>
                    <a:pt x="330" y="111"/>
                  </a:lnTo>
                  <a:lnTo>
                    <a:pt x="338" y="140"/>
                  </a:lnTo>
                  <a:lnTo>
                    <a:pt x="341" y="171"/>
                  </a:lnTo>
                  <a:lnTo>
                    <a:pt x="341" y="200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0"/>
                  </a:lnTo>
                  <a:lnTo>
                    <a:pt x="280" y="331"/>
                  </a:lnTo>
                  <a:lnTo>
                    <a:pt x="257" y="348"/>
                  </a:lnTo>
                  <a:lnTo>
                    <a:pt x="230" y="361"/>
                  </a:lnTo>
                  <a:lnTo>
                    <a:pt x="201" y="369"/>
                  </a:lnTo>
                  <a:lnTo>
                    <a:pt x="171" y="371"/>
                  </a:lnTo>
                  <a:lnTo>
                    <a:pt x="0" y="3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" name="Google Shape;276;g3dd6299f58b_0_0"/>
            <p:cNvSpPr/>
            <p:nvPr/>
          </p:nvSpPr>
          <p:spPr>
            <a:xfrm>
              <a:off x="1120" y="339"/>
              <a:ext cx="72" cy="73"/>
            </a:xfrm>
            <a:custGeom>
              <a:avLst/>
              <a:gdLst/>
              <a:ahLst/>
              <a:cxnLst/>
              <a:rect l="l" t="t" r="r" b="b"/>
              <a:pathLst>
                <a:path w="430" h="433" extrusionOk="0">
                  <a:moveTo>
                    <a:pt x="317" y="0"/>
                  </a:moveTo>
                  <a:lnTo>
                    <a:pt x="341" y="3"/>
                  </a:lnTo>
                  <a:lnTo>
                    <a:pt x="362" y="10"/>
                  </a:lnTo>
                  <a:lnTo>
                    <a:pt x="382" y="22"/>
                  </a:lnTo>
                  <a:lnTo>
                    <a:pt x="398" y="37"/>
                  </a:lnTo>
                  <a:lnTo>
                    <a:pt x="411" y="56"/>
                  </a:lnTo>
                  <a:lnTo>
                    <a:pt x="421" y="77"/>
                  </a:lnTo>
                  <a:lnTo>
                    <a:pt x="427" y="102"/>
                  </a:lnTo>
                  <a:lnTo>
                    <a:pt x="430" y="129"/>
                  </a:lnTo>
                  <a:lnTo>
                    <a:pt x="430" y="153"/>
                  </a:lnTo>
                  <a:lnTo>
                    <a:pt x="426" y="189"/>
                  </a:lnTo>
                  <a:lnTo>
                    <a:pt x="416" y="225"/>
                  </a:lnTo>
                  <a:lnTo>
                    <a:pt x="402" y="259"/>
                  </a:lnTo>
                  <a:lnTo>
                    <a:pt x="383" y="291"/>
                  </a:lnTo>
                  <a:lnTo>
                    <a:pt x="358" y="321"/>
                  </a:lnTo>
                  <a:lnTo>
                    <a:pt x="331" y="345"/>
                  </a:lnTo>
                  <a:lnTo>
                    <a:pt x="301" y="366"/>
                  </a:lnTo>
                  <a:lnTo>
                    <a:pt x="269" y="382"/>
                  </a:lnTo>
                  <a:lnTo>
                    <a:pt x="0" y="433"/>
                  </a:lnTo>
                  <a:lnTo>
                    <a:pt x="0" y="37"/>
                  </a:lnTo>
                  <a:lnTo>
                    <a:pt x="266" y="6"/>
                  </a:lnTo>
                  <a:lnTo>
                    <a:pt x="293" y="1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" name="Google Shape;277;g3dd6299f58b_0_0"/>
            <p:cNvSpPr/>
            <p:nvPr/>
          </p:nvSpPr>
          <p:spPr>
            <a:xfrm>
              <a:off x="865" y="291"/>
              <a:ext cx="247" cy="422"/>
            </a:xfrm>
            <a:custGeom>
              <a:avLst/>
              <a:gdLst/>
              <a:ahLst/>
              <a:cxnLst/>
              <a:rect l="l" t="t" r="r" b="b"/>
              <a:pathLst>
                <a:path w="1472" h="2521" extrusionOk="0">
                  <a:moveTo>
                    <a:pt x="169" y="0"/>
                  </a:moveTo>
                  <a:lnTo>
                    <a:pt x="1304" y="0"/>
                  </a:lnTo>
                  <a:lnTo>
                    <a:pt x="1334" y="3"/>
                  </a:lnTo>
                  <a:lnTo>
                    <a:pt x="1363" y="12"/>
                  </a:lnTo>
                  <a:lnTo>
                    <a:pt x="1388" y="24"/>
                  </a:lnTo>
                  <a:lnTo>
                    <a:pt x="1412" y="40"/>
                  </a:lnTo>
                  <a:lnTo>
                    <a:pt x="1432" y="61"/>
                  </a:lnTo>
                  <a:lnTo>
                    <a:pt x="1449" y="85"/>
                  </a:lnTo>
                  <a:lnTo>
                    <a:pt x="1461" y="112"/>
                  </a:lnTo>
                  <a:lnTo>
                    <a:pt x="1469" y="140"/>
                  </a:lnTo>
                  <a:lnTo>
                    <a:pt x="1472" y="170"/>
                  </a:lnTo>
                  <a:lnTo>
                    <a:pt x="1472" y="2351"/>
                  </a:lnTo>
                  <a:lnTo>
                    <a:pt x="1469" y="2382"/>
                  </a:lnTo>
                  <a:lnTo>
                    <a:pt x="1461" y="2411"/>
                  </a:lnTo>
                  <a:lnTo>
                    <a:pt x="1449" y="2437"/>
                  </a:lnTo>
                  <a:lnTo>
                    <a:pt x="1432" y="2461"/>
                  </a:lnTo>
                  <a:lnTo>
                    <a:pt x="1412" y="2482"/>
                  </a:lnTo>
                  <a:lnTo>
                    <a:pt x="1388" y="2498"/>
                  </a:lnTo>
                  <a:lnTo>
                    <a:pt x="1363" y="2511"/>
                  </a:lnTo>
                  <a:lnTo>
                    <a:pt x="1334" y="2519"/>
                  </a:lnTo>
                  <a:lnTo>
                    <a:pt x="1304" y="2521"/>
                  </a:lnTo>
                  <a:lnTo>
                    <a:pt x="947" y="2521"/>
                  </a:lnTo>
                  <a:lnTo>
                    <a:pt x="952" y="2503"/>
                  </a:lnTo>
                  <a:lnTo>
                    <a:pt x="955" y="2488"/>
                  </a:lnTo>
                  <a:lnTo>
                    <a:pt x="959" y="2476"/>
                  </a:lnTo>
                  <a:lnTo>
                    <a:pt x="961" y="2467"/>
                  </a:lnTo>
                  <a:lnTo>
                    <a:pt x="961" y="2463"/>
                  </a:lnTo>
                  <a:lnTo>
                    <a:pt x="977" y="2383"/>
                  </a:lnTo>
                  <a:lnTo>
                    <a:pt x="811" y="2383"/>
                  </a:lnTo>
                  <a:lnTo>
                    <a:pt x="823" y="2367"/>
                  </a:lnTo>
                  <a:lnTo>
                    <a:pt x="832" y="2350"/>
                  </a:lnTo>
                  <a:lnTo>
                    <a:pt x="838" y="2330"/>
                  </a:lnTo>
                  <a:lnTo>
                    <a:pt x="840" y="2311"/>
                  </a:lnTo>
                  <a:lnTo>
                    <a:pt x="837" y="2286"/>
                  </a:lnTo>
                  <a:lnTo>
                    <a:pt x="829" y="2263"/>
                  </a:lnTo>
                  <a:lnTo>
                    <a:pt x="816" y="2244"/>
                  </a:lnTo>
                  <a:lnTo>
                    <a:pt x="800" y="2227"/>
                  </a:lnTo>
                  <a:lnTo>
                    <a:pt x="780" y="2215"/>
                  </a:lnTo>
                  <a:lnTo>
                    <a:pt x="758" y="2206"/>
                  </a:lnTo>
                  <a:lnTo>
                    <a:pt x="733" y="2203"/>
                  </a:lnTo>
                  <a:lnTo>
                    <a:pt x="709" y="2206"/>
                  </a:lnTo>
                  <a:lnTo>
                    <a:pt x="686" y="2215"/>
                  </a:lnTo>
                  <a:lnTo>
                    <a:pt x="667" y="2227"/>
                  </a:lnTo>
                  <a:lnTo>
                    <a:pt x="650" y="2244"/>
                  </a:lnTo>
                  <a:lnTo>
                    <a:pt x="638" y="2263"/>
                  </a:lnTo>
                  <a:lnTo>
                    <a:pt x="630" y="2286"/>
                  </a:lnTo>
                  <a:lnTo>
                    <a:pt x="627" y="2311"/>
                  </a:lnTo>
                  <a:lnTo>
                    <a:pt x="629" y="2330"/>
                  </a:lnTo>
                  <a:lnTo>
                    <a:pt x="635" y="2350"/>
                  </a:lnTo>
                  <a:lnTo>
                    <a:pt x="643" y="2367"/>
                  </a:lnTo>
                  <a:lnTo>
                    <a:pt x="656" y="2383"/>
                  </a:lnTo>
                  <a:lnTo>
                    <a:pt x="360" y="2383"/>
                  </a:lnTo>
                  <a:lnTo>
                    <a:pt x="361" y="2381"/>
                  </a:lnTo>
                  <a:lnTo>
                    <a:pt x="363" y="2374"/>
                  </a:lnTo>
                  <a:lnTo>
                    <a:pt x="365" y="2366"/>
                  </a:lnTo>
                  <a:lnTo>
                    <a:pt x="369" y="2356"/>
                  </a:lnTo>
                  <a:lnTo>
                    <a:pt x="372" y="2345"/>
                  </a:lnTo>
                  <a:lnTo>
                    <a:pt x="372" y="2054"/>
                  </a:lnTo>
                  <a:lnTo>
                    <a:pt x="1198" y="2054"/>
                  </a:lnTo>
                  <a:lnTo>
                    <a:pt x="1212" y="2051"/>
                  </a:lnTo>
                  <a:lnTo>
                    <a:pt x="1226" y="2044"/>
                  </a:lnTo>
                  <a:lnTo>
                    <a:pt x="1236" y="2034"/>
                  </a:lnTo>
                  <a:lnTo>
                    <a:pt x="1242" y="2022"/>
                  </a:lnTo>
                  <a:lnTo>
                    <a:pt x="1244" y="2006"/>
                  </a:lnTo>
                  <a:lnTo>
                    <a:pt x="1244" y="328"/>
                  </a:lnTo>
                  <a:lnTo>
                    <a:pt x="1242" y="313"/>
                  </a:lnTo>
                  <a:lnTo>
                    <a:pt x="1236" y="300"/>
                  </a:lnTo>
                  <a:lnTo>
                    <a:pt x="1226" y="290"/>
                  </a:lnTo>
                  <a:lnTo>
                    <a:pt x="1212" y="284"/>
                  </a:lnTo>
                  <a:lnTo>
                    <a:pt x="1198" y="281"/>
                  </a:lnTo>
                  <a:lnTo>
                    <a:pt x="275" y="281"/>
                  </a:lnTo>
                  <a:lnTo>
                    <a:pt x="259" y="284"/>
                  </a:lnTo>
                  <a:lnTo>
                    <a:pt x="247" y="290"/>
                  </a:lnTo>
                  <a:lnTo>
                    <a:pt x="237" y="300"/>
                  </a:lnTo>
                  <a:lnTo>
                    <a:pt x="231" y="313"/>
                  </a:lnTo>
                  <a:lnTo>
                    <a:pt x="228" y="328"/>
                  </a:lnTo>
                  <a:lnTo>
                    <a:pt x="228" y="1459"/>
                  </a:lnTo>
                  <a:lnTo>
                    <a:pt x="0" y="1459"/>
                  </a:lnTo>
                  <a:lnTo>
                    <a:pt x="0" y="170"/>
                  </a:lnTo>
                  <a:lnTo>
                    <a:pt x="3" y="140"/>
                  </a:lnTo>
                  <a:lnTo>
                    <a:pt x="11" y="112"/>
                  </a:lnTo>
                  <a:lnTo>
                    <a:pt x="23" y="85"/>
                  </a:lnTo>
                  <a:lnTo>
                    <a:pt x="40" y="61"/>
                  </a:lnTo>
                  <a:lnTo>
                    <a:pt x="60" y="40"/>
                  </a:lnTo>
                  <a:lnTo>
                    <a:pt x="83" y="24"/>
                  </a:lnTo>
                  <a:lnTo>
                    <a:pt x="110" y="12"/>
                  </a:lnTo>
                  <a:lnTo>
                    <a:pt x="139" y="3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g3dd6299f58b_0_0"/>
            <p:cNvSpPr/>
            <p:nvPr/>
          </p:nvSpPr>
          <p:spPr>
            <a:xfrm>
              <a:off x="638" y="439"/>
              <a:ext cx="405" cy="391"/>
            </a:xfrm>
            <a:custGeom>
              <a:avLst/>
              <a:gdLst/>
              <a:ahLst/>
              <a:cxnLst/>
              <a:rect l="l" t="t" r="r" b="b"/>
              <a:pathLst>
                <a:path w="2416" h="2337" extrusionOk="0">
                  <a:moveTo>
                    <a:pt x="1252" y="0"/>
                  </a:moveTo>
                  <a:lnTo>
                    <a:pt x="1252" y="666"/>
                  </a:lnTo>
                  <a:lnTo>
                    <a:pt x="2189" y="666"/>
                  </a:lnTo>
                  <a:lnTo>
                    <a:pt x="2225" y="669"/>
                  </a:lnTo>
                  <a:lnTo>
                    <a:pt x="2260" y="676"/>
                  </a:lnTo>
                  <a:lnTo>
                    <a:pt x="2293" y="689"/>
                  </a:lnTo>
                  <a:lnTo>
                    <a:pt x="2323" y="707"/>
                  </a:lnTo>
                  <a:lnTo>
                    <a:pt x="2349" y="727"/>
                  </a:lnTo>
                  <a:lnTo>
                    <a:pt x="2372" y="752"/>
                  </a:lnTo>
                  <a:lnTo>
                    <a:pt x="2390" y="780"/>
                  </a:lnTo>
                  <a:lnTo>
                    <a:pt x="2403" y="811"/>
                  </a:lnTo>
                  <a:lnTo>
                    <a:pt x="2413" y="843"/>
                  </a:lnTo>
                  <a:lnTo>
                    <a:pt x="2416" y="878"/>
                  </a:lnTo>
                  <a:lnTo>
                    <a:pt x="2413" y="912"/>
                  </a:lnTo>
                  <a:lnTo>
                    <a:pt x="2403" y="945"/>
                  </a:lnTo>
                  <a:lnTo>
                    <a:pt x="2390" y="976"/>
                  </a:lnTo>
                  <a:lnTo>
                    <a:pt x="2372" y="1004"/>
                  </a:lnTo>
                  <a:lnTo>
                    <a:pt x="2349" y="1029"/>
                  </a:lnTo>
                  <a:lnTo>
                    <a:pt x="2323" y="1049"/>
                  </a:lnTo>
                  <a:lnTo>
                    <a:pt x="2293" y="1067"/>
                  </a:lnTo>
                  <a:lnTo>
                    <a:pt x="2260" y="1080"/>
                  </a:lnTo>
                  <a:lnTo>
                    <a:pt x="2225" y="1087"/>
                  </a:lnTo>
                  <a:lnTo>
                    <a:pt x="2189" y="1090"/>
                  </a:lnTo>
                  <a:lnTo>
                    <a:pt x="1616" y="1090"/>
                  </a:lnTo>
                  <a:lnTo>
                    <a:pt x="1616" y="1467"/>
                  </a:lnTo>
                  <a:lnTo>
                    <a:pt x="1604" y="1504"/>
                  </a:lnTo>
                  <a:lnTo>
                    <a:pt x="1589" y="1541"/>
                  </a:lnTo>
                  <a:lnTo>
                    <a:pt x="1572" y="1577"/>
                  </a:lnTo>
                  <a:lnTo>
                    <a:pt x="1553" y="1613"/>
                  </a:lnTo>
                  <a:lnTo>
                    <a:pt x="1532" y="1647"/>
                  </a:lnTo>
                  <a:lnTo>
                    <a:pt x="1511" y="1681"/>
                  </a:lnTo>
                  <a:lnTo>
                    <a:pt x="1489" y="1714"/>
                  </a:lnTo>
                  <a:lnTo>
                    <a:pt x="1466" y="1745"/>
                  </a:lnTo>
                  <a:lnTo>
                    <a:pt x="1443" y="1775"/>
                  </a:lnTo>
                  <a:lnTo>
                    <a:pt x="1422" y="1803"/>
                  </a:lnTo>
                  <a:lnTo>
                    <a:pt x="1400" y="1829"/>
                  </a:lnTo>
                  <a:lnTo>
                    <a:pt x="1380" y="1853"/>
                  </a:lnTo>
                  <a:lnTo>
                    <a:pt x="1360" y="1873"/>
                  </a:lnTo>
                  <a:lnTo>
                    <a:pt x="1343" y="1892"/>
                  </a:lnTo>
                  <a:lnTo>
                    <a:pt x="1329" y="1907"/>
                  </a:lnTo>
                  <a:lnTo>
                    <a:pt x="1316" y="1920"/>
                  </a:lnTo>
                  <a:lnTo>
                    <a:pt x="1307" y="1929"/>
                  </a:lnTo>
                  <a:lnTo>
                    <a:pt x="1301" y="1935"/>
                  </a:lnTo>
                  <a:lnTo>
                    <a:pt x="1298" y="1937"/>
                  </a:lnTo>
                  <a:lnTo>
                    <a:pt x="1287" y="1952"/>
                  </a:lnTo>
                  <a:lnTo>
                    <a:pt x="1280" y="1968"/>
                  </a:lnTo>
                  <a:lnTo>
                    <a:pt x="1276" y="1985"/>
                  </a:lnTo>
                  <a:lnTo>
                    <a:pt x="1279" y="2002"/>
                  </a:lnTo>
                  <a:lnTo>
                    <a:pt x="1285" y="2019"/>
                  </a:lnTo>
                  <a:lnTo>
                    <a:pt x="1295" y="2034"/>
                  </a:lnTo>
                  <a:lnTo>
                    <a:pt x="1309" y="2046"/>
                  </a:lnTo>
                  <a:lnTo>
                    <a:pt x="1327" y="2053"/>
                  </a:lnTo>
                  <a:lnTo>
                    <a:pt x="1344" y="2056"/>
                  </a:lnTo>
                  <a:lnTo>
                    <a:pt x="1360" y="2054"/>
                  </a:lnTo>
                  <a:lnTo>
                    <a:pt x="1376" y="2048"/>
                  </a:lnTo>
                  <a:lnTo>
                    <a:pt x="1390" y="2037"/>
                  </a:lnTo>
                  <a:lnTo>
                    <a:pt x="1394" y="2034"/>
                  </a:lnTo>
                  <a:lnTo>
                    <a:pt x="1401" y="2026"/>
                  </a:lnTo>
                  <a:lnTo>
                    <a:pt x="1413" y="2016"/>
                  </a:lnTo>
                  <a:lnTo>
                    <a:pt x="1427" y="2001"/>
                  </a:lnTo>
                  <a:lnTo>
                    <a:pt x="1443" y="1984"/>
                  </a:lnTo>
                  <a:lnTo>
                    <a:pt x="1463" y="1963"/>
                  </a:lnTo>
                  <a:lnTo>
                    <a:pt x="1483" y="1939"/>
                  </a:lnTo>
                  <a:lnTo>
                    <a:pt x="1506" y="1913"/>
                  </a:lnTo>
                  <a:lnTo>
                    <a:pt x="1529" y="1885"/>
                  </a:lnTo>
                  <a:lnTo>
                    <a:pt x="1554" y="1855"/>
                  </a:lnTo>
                  <a:lnTo>
                    <a:pt x="1578" y="1822"/>
                  </a:lnTo>
                  <a:lnTo>
                    <a:pt x="1603" y="1787"/>
                  </a:lnTo>
                  <a:lnTo>
                    <a:pt x="1628" y="1751"/>
                  </a:lnTo>
                  <a:lnTo>
                    <a:pt x="1651" y="1712"/>
                  </a:lnTo>
                  <a:lnTo>
                    <a:pt x="1674" y="1673"/>
                  </a:lnTo>
                  <a:lnTo>
                    <a:pt x="1695" y="1633"/>
                  </a:lnTo>
                  <a:lnTo>
                    <a:pt x="1714" y="1592"/>
                  </a:lnTo>
                  <a:lnTo>
                    <a:pt x="2205" y="1592"/>
                  </a:lnTo>
                  <a:lnTo>
                    <a:pt x="2204" y="1595"/>
                  </a:lnTo>
                  <a:lnTo>
                    <a:pt x="2203" y="1604"/>
                  </a:lnTo>
                  <a:lnTo>
                    <a:pt x="2199" y="1619"/>
                  </a:lnTo>
                  <a:lnTo>
                    <a:pt x="2195" y="1637"/>
                  </a:lnTo>
                  <a:lnTo>
                    <a:pt x="2189" y="1660"/>
                  </a:lnTo>
                  <a:lnTo>
                    <a:pt x="2181" y="1686"/>
                  </a:lnTo>
                  <a:lnTo>
                    <a:pt x="2172" y="1715"/>
                  </a:lnTo>
                  <a:lnTo>
                    <a:pt x="2161" y="1746"/>
                  </a:lnTo>
                  <a:lnTo>
                    <a:pt x="2149" y="1780"/>
                  </a:lnTo>
                  <a:lnTo>
                    <a:pt x="2134" y="1814"/>
                  </a:lnTo>
                  <a:lnTo>
                    <a:pt x="2119" y="1851"/>
                  </a:lnTo>
                  <a:lnTo>
                    <a:pt x="2102" y="1886"/>
                  </a:lnTo>
                  <a:lnTo>
                    <a:pt x="2082" y="1921"/>
                  </a:lnTo>
                  <a:lnTo>
                    <a:pt x="2061" y="1955"/>
                  </a:lnTo>
                  <a:lnTo>
                    <a:pt x="2037" y="1987"/>
                  </a:lnTo>
                  <a:lnTo>
                    <a:pt x="2011" y="2017"/>
                  </a:lnTo>
                  <a:lnTo>
                    <a:pt x="1984" y="2044"/>
                  </a:lnTo>
                  <a:lnTo>
                    <a:pt x="1954" y="2068"/>
                  </a:lnTo>
                  <a:lnTo>
                    <a:pt x="1893" y="2110"/>
                  </a:lnTo>
                  <a:lnTo>
                    <a:pt x="1829" y="2148"/>
                  </a:lnTo>
                  <a:lnTo>
                    <a:pt x="1766" y="2182"/>
                  </a:lnTo>
                  <a:lnTo>
                    <a:pt x="1705" y="2212"/>
                  </a:lnTo>
                  <a:lnTo>
                    <a:pt x="1648" y="2239"/>
                  </a:lnTo>
                  <a:lnTo>
                    <a:pt x="1596" y="2265"/>
                  </a:lnTo>
                  <a:lnTo>
                    <a:pt x="1568" y="2279"/>
                  </a:lnTo>
                  <a:lnTo>
                    <a:pt x="1539" y="2291"/>
                  </a:lnTo>
                  <a:lnTo>
                    <a:pt x="1507" y="2303"/>
                  </a:lnTo>
                  <a:lnTo>
                    <a:pt x="1474" y="2314"/>
                  </a:lnTo>
                  <a:lnTo>
                    <a:pt x="1440" y="2324"/>
                  </a:lnTo>
                  <a:lnTo>
                    <a:pt x="1408" y="2331"/>
                  </a:lnTo>
                  <a:lnTo>
                    <a:pt x="1376" y="2336"/>
                  </a:lnTo>
                  <a:lnTo>
                    <a:pt x="1346" y="2337"/>
                  </a:lnTo>
                  <a:lnTo>
                    <a:pt x="96" y="2337"/>
                  </a:lnTo>
                  <a:lnTo>
                    <a:pt x="73" y="2335"/>
                  </a:lnTo>
                  <a:lnTo>
                    <a:pt x="52" y="2330"/>
                  </a:lnTo>
                  <a:lnTo>
                    <a:pt x="35" y="2320"/>
                  </a:lnTo>
                  <a:lnTo>
                    <a:pt x="20" y="2307"/>
                  </a:lnTo>
                  <a:lnTo>
                    <a:pt x="9" y="2292"/>
                  </a:lnTo>
                  <a:lnTo>
                    <a:pt x="3" y="2274"/>
                  </a:lnTo>
                  <a:lnTo>
                    <a:pt x="0" y="2255"/>
                  </a:lnTo>
                  <a:lnTo>
                    <a:pt x="2" y="2233"/>
                  </a:lnTo>
                  <a:lnTo>
                    <a:pt x="8" y="2211"/>
                  </a:lnTo>
                  <a:lnTo>
                    <a:pt x="605" y="582"/>
                  </a:lnTo>
                  <a:lnTo>
                    <a:pt x="623" y="542"/>
                  </a:lnTo>
                  <a:lnTo>
                    <a:pt x="646" y="500"/>
                  </a:lnTo>
                  <a:lnTo>
                    <a:pt x="674" y="458"/>
                  </a:lnTo>
                  <a:lnTo>
                    <a:pt x="704" y="417"/>
                  </a:lnTo>
                  <a:lnTo>
                    <a:pt x="738" y="377"/>
                  </a:lnTo>
                  <a:lnTo>
                    <a:pt x="773" y="340"/>
                  </a:lnTo>
                  <a:lnTo>
                    <a:pt x="810" y="306"/>
                  </a:lnTo>
                  <a:lnTo>
                    <a:pt x="847" y="276"/>
                  </a:lnTo>
                  <a:lnTo>
                    <a:pt x="882" y="251"/>
                  </a:lnTo>
                  <a:lnTo>
                    <a:pt x="125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9" name="Google Shape;279;g3dd6299f58b_0_0"/>
          <p:cNvSpPr/>
          <p:nvPr/>
        </p:nvSpPr>
        <p:spPr>
          <a:xfrm>
            <a:off x="6549005" y="3730542"/>
            <a:ext cx="355601" cy="695322"/>
          </a:xfrm>
          <a:custGeom>
            <a:avLst/>
            <a:gdLst/>
            <a:ahLst/>
            <a:cxnLst/>
            <a:rect l="l" t="t" r="r" b="b"/>
            <a:pathLst>
              <a:path w="1790" h="3502" extrusionOk="0">
                <a:moveTo>
                  <a:pt x="942" y="1469"/>
                </a:moveTo>
                <a:lnTo>
                  <a:pt x="904" y="1472"/>
                </a:lnTo>
                <a:lnTo>
                  <a:pt x="870" y="1482"/>
                </a:lnTo>
                <a:lnTo>
                  <a:pt x="839" y="1498"/>
                </a:lnTo>
                <a:lnTo>
                  <a:pt x="810" y="1518"/>
                </a:lnTo>
                <a:lnTo>
                  <a:pt x="786" y="1542"/>
                </a:lnTo>
                <a:lnTo>
                  <a:pt x="765" y="1570"/>
                </a:lnTo>
                <a:lnTo>
                  <a:pt x="751" y="1602"/>
                </a:lnTo>
                <a:lnTo>
                  <a:pt x="741" y="1636"/>
                </a:lnTo>
                <a:lnTo>
                  <a:pt x="737" y="1673"/>
                </a:lnTo>
                <a:lnTo>
                  <a:pt x="741" y="1706"/>
                </a:lnTo>
                <a:lnTo>
                  <a:pt x="748" y="1737"/>
                </a:lnTo>
                <a:lnTo>
                  <a:pt x="761" y="1766"/>
                </a:lnTo>
                <a:lnTo>
                  <a:pt x="778" y="1793"/>
                </a:lnTo>
                <a:lnTo>
                  <a:pt x="798" y="1816"/>
                </a:lnTo>
                <a:lnTo>
                  <a:pt x="822" y="1837"/>
                </a:lnTo>
                <a:lnTo>
                  <a:pt x="850" y="1852"/>
                </a:lnTo>
                <a:lnTo>
                  <a:pt x="850" y="1744"/>
                </a:lnTo>
                <a:lnTo>
                  <a:pt x="852" y="1721"/>
                </a:lnTo>
                <a:lnTo>
                  <a:pt x="860" y="1700"/>
                </a:lnTo>
                <a:lnTo>
                  <a:pt x="871" y="1683"/>
                </a:lnTo>
                <a:lnTo>
                  <a:pt x="887" y="1667"/>
                </a:lnTo>
                <a:lnTo>
                  <a:pt x="905" y="1655"/>
                </a:lnTo>
                <a:lnTo>
                  <a:pt x="926" y="1649"/>
                </a:lnTo>
                <a:lnTo>
                  <a:pt x="950" y="1645"/>
                </a:lnTo>
                <a:lnTo>
                  <a:pt x="960" y="1645"/>
                </a:lnTo>
                <a:lnTo>
                  <a:pt x="983" y="1649"/>
                </a:lnTo>
                <a:lnTo>
                  <a:pt x="1004" y="1655"/>
                </a:lnTo>
                <a:lnTo>
                  <a:pt x="1021" y="1667"/>
                </a:lnTo>
                <a:lnTo>
                  <a:pt x="1037" y="1683"/>
                </a:lnTo>
                <a:lnTo>
                  <a:pt x="1049" y="1701"/>
                </a:lnTo>
                <a:lnTo>
                  <a:pt x="1056" y="1721"/>
                </a:lnTo>
                <a:lnTo>
                  <a:pt x="1059" y="1744"/>
                </a:lnTo>
                <a:lnTo>
                  <a:pt x="1059" y="1838"/>
                </a:lnTo>
                <a:lnTo>
                  <a:pt x="1083" y="1817"/>
                </a:lnTo>
                <a:lnTo>
                  <a:pt x="1104" y="1794"/>
                </a:lnTo>
                <a:lnTo>
                  <a:pt x="1122" y="1766"/>
                </a:lnTo>
                <a:lnTo>
                  <a:pt x="1134" y="1738"/>
                </a:lnTo>
                <a:lnTo>
                  <a:pt x="1142" y="1706"/>
                </a:lnTo>
                <a:lnTo>
                  <a:pt x="1145" y="1673"/>
                </a:lnTo>
                <a:lnTo>
                  <a:pt x="1142" y="1636"/>
                </a:lnTo>
                <a:lnTo>
                  <a:pt x="1132" y="1601"/>
                </a:lnTo>
                <a:lnTo>
                  <a:pt x="1118" y="1570"/>
                </a:lnTo>
                <a:lnTo>
                  <a:pt x="1098" y="1542"/>
                </a:lnTo>
                <a:lnTo>
                  <a:pt x="1072" y="1518"/>
                </a:lnTo>
                <a:lnTo>
                  <a:pt x="1045" y="1498"/>
                </a:lnTo>
                <a:lnTo>
                  <a:pt x="1013" y="1482"/>
                </a:lnTo>
                <a:lnTo>
                  <a:pt x="978" y="1472"/>
                </a:lnTo>
                <a:lnTo>
                  <a:pt x="942" y="1469"/>
                </a:lnTo>
                <a:close/>
                <a:moveTo>
                  <a:pt x="942" y="1251"/>
                </a:moveTo>
                <a:lnTo>
                  <a:pt x="889" y="1254"/>
                </a:lnTo>
                <a:lnTo>
                  <a:pt x="837" y="1263"/>
                </a:lnTo>
                <a:lnTo>
                  <a:pt x="788" y="1279"/>
                </a:lnTo>
                <a:lnTo>
                  <a:pt x="743" y="1300"/>
                </a:lnTo>
                <a:lnTo>
                  <a:pt x="700" y="1326"/>
                </a:lnTo>
                <a:lnTo>
                  <a:pt x="660" y="1357"/>
                </a:lnTo>
                <a:lnTo>
                  <a:pt x="625" y="1392"/>
                </a:lnTo>
                <a:lnTo>
                  <a:pt x="594" y="1432"/>
                </a:lnTo>
                <a:lnTo>
                  <a:pt x="567" y="1475"/>
                </a:lnTo>
                <a:lnTo>
                  <a:pt x="546" y="1520"/>
                </a:lnTo>
                <a:lnTo>
                  <a:pt x="531" y="1569"/>
                </a:lnTo>
                <a:lnTo>
                  <a:pt x="521" y="1620"/>
                </a:lnTo>
                <a:lnTo>
                  <a:pt x="517" y="1673"/>
                </a:lnTo>
                <a:lnTo>
                  <a:pt x="522" y="1727"/>
                </a:lnTo>
                <a:lnTo>
                  <a:pt x="532" y="1778"/>
                </a:lnTo>
                <a:lnTo>
                  <a:pt x="547" y="1828"/>
                </a:lnTo>
                <a:lnTo>
                  <a:pt x="569" y="1874"/>
                </a:lnTo>
                <a:lnTo>
                  <a:pt x="597" y="1917"/>
                </a:lnTo>
                <a:lnTo>
                  <a:pt x="629" y="1957"/>
                </a:lnTo>
                <a:lnTo>
                  <a:pt x="667" y="1992"/>
                </a:lnTo>
                <a:lnTo>
                  <a:pt x="707" y="2023"/>
                </a:lnTo>
                <a:lnTo>
                  <a:pt x="752" y="2049"/>
                </a:lnTo>
                <a:lnTo>
                  <a:pt x="799" y="2069"/>
                </a:lnTo>
                <a:lnTo>
                  <a:pt x="850" y="2083"/>
                </a:lnTo>
                <a:lnTo>
                  <a:pt x="850" y="1957"/>
                </a:lnTo>
                <a:lnTo>
                  <a:pt x="810" y="1941"/>
                </a:lnTo>
                <a:lnTo>
                  <a:pt x="775" y="1920"/>
                </a:lnTo>
                <a:lnTo>
                  <a:pt x="742" y="1895"/>
                </a:lnTo>
                <a:lnTo>
                  <a:pt x="713" y="1866"/>
                </a:lnTo>
                <a:lnTo>
                  <a:pt x="688" y="1833"/>
                </a:lnTo>
                <a:lnTo>
                  <a:pt x="668" y="1797"/>
                </a:lnTo>
                <a:lnTo>
                  <a:pt x="653" y="1757"/>
                </a:lnTo>
                <a:lnTo>
                  <a:pt x="643" y="1716"/>
                </a:lnTo>
                <a:lnTo>
                  <a:pt x="640" y="1673"/>
                </a:lnTo>
                <a:lnTo>
                  <a:pt x="643" y="1629"/>
                </a:lnTo>
                <a:lnTo>
                  <a:pt x="653" y="1586"/>
                </a:lnTo>
                <a:lnTo>
                  <a:pt x="669" y="1546"/>
                </a:lnTo>
                <a:lnTo>
                  <a:pt x="689" y="1510"/>
                </a:lnTo>
                <a:lnTo>
                  <a:pt x="714" y="1476"/>
                </a:lnTo>
                <a:lnTo>
                  <a:pt x="744" y="1446"/>
                </a:lnTo>
                <a:lnTo>
                  <a:pt x="777" y="1421"/>
                </a:lnTo>
                <a:lnTo>
                  <a:pt x="815" y="1401"/>
                </a:lnTo>
                <a:lnTo>
                  <a:pt x="855" y="1385"/>
                </a:lnTo>
                <a:lnTo>
                  <a:pt x="897" y="1376"/>
                </a:lnTo>
                <a:lnTo>
                  <a:pt x="942" y="1372"/>
                </a:lnTo>
                <a:lnTo>
                  <a:pt x="986" y="1376"/>
                </a:lnTo>
                <a:lnTo>
                  <a:pt x="1028" y="1385"/>
                </a:lnTo>
                <a:lnTo>
                  <a:pt x="1068" y="1401"/>
                </a:lnTo>
                <a:lnTo>
                  <a:pt x="1105" y="1421"/>
                </a:lnTo>
                <a:lnTo>
                  <a:pt x="1139" y="1446"/>
                </a:lnTo>
                <a:lnTo>
                  <a:pt x="1168" y="1476"/>
                </a:lnTo>
                <a:lnTo>
                  <a:pt x="1194" y="1510"/>
                </a:lnTo>
                <a:lnTo>
                  <a:pt x="1215" y="1546"/>
                </a:lnTo>
                <a:lnTo>
                  <a:pt x="1230" y="1586"/>
                </a:lnTo>
                <a:lnTo>
                  <a:pt x="1239" y="1629"/>
                </a:lnTo>
                <a:lnTo>
                  <a:pt x="1243" y="1673"/>
                </a:lnTo>
                <a:lnTo>
                  <a:pt x="1239" y="1718"/>
                </a:lnTo>
                <a:lnTo>
                  <a:pt x="1229" y="1761"/>
                </a:lnTo>
                <a:lnTo>
                  <a:pt x="1213" y="1801"/>
                </a:lnTo>
                <a:lnTo>
                  <a:pt x="1192" y="1840"/>
                </a:lnTo>
                <a:lnTo>
                  <a:pt x="1164" y="1873"/>
                </a:lnTo>
                <a:lnTo>
                  <a:pt x="1133" y="1903"/>
                </a:lnTo>
                <a:lnTo>
                  <a:pt x="1098" y="1928"/>
                </a:lnTo>
                <a:lnTo>
                  <a:pt x="1059" y="1948"/>
                </a:lnTo>
                <a:lnTo>
                  <a:pt x="1059" y="2076"/>
                </a:lnTo>
                <a:lnTo>
                  <a:pt x="1105" y="2059"/>
                </a:lnTo>
                <a:lnTo>
                  <a:pt x="1150" y="2037"/>
                </a:lnTo>
                <a:lnTo>
                  <a:pt x="1191" y="2011"/>
                </a:lnTo>
                <a:lnTo>
                  <a:pt x="1228" y="1980"/>
                </a:lnTo>
                <a:lnTo>
                  <a:pt x="1262" y="1946"/>
                </a:lnTo>
                <a:lnTo>
                  <a:pt x="1292" y="1907"/>
                </a:lnTo>
                <a:lnTo>
                  <a:pt x="1318" y="1865"/>
                </a:lnTo>
                <a:lnTo>
                  <a:pt x="1338" y="1820"/>
                </a:lnTo>
                <a:lnTo>
                  <a:pt x="1353" y="1773"/>
                </a:lnTo>
                <a:lnTo>
                  <a:pt x="1362" y="1723"/>
                </a:lnTo>
                <a:lnTo>
                  <a:pt x="1365" y="1673"/>
                </a:lnTo>
                <a:lnTo>
                  <a:pt x="1362" y="1620"/>
                </a:lnTo>
                <a:lnTo>
                  <a:pt x="1352" y="1569"/>
                </a:lnTo>
                <a:lnTo>
                  <a:pt x="1336" y="1520"/>
                </a:lnTo>
                <a:lnTo>
                  <a:pt x="1315" y="1475"/>
                </a:lnTo>
                <a:lnTo>
                  <a:pt x="1289" y="1432"/>
                </a:lnTo>
                <a:lnTo>
                  <a:pt x="1258" y="1392"/>
                </a:lnTo>
                <a:lnTo>
                  <a:pt x="1223" y="1357"/>
                </a:lnTo>
                <a:lnTo>
                  <a:pt x="1184" y="1326"/>
                </a:lnTo>
                <a:lnTo>
                  <a:pt x="1141" y="1300"/>
                </a:lnTo>
                <a:lnTo>
                  <a:pt x="1094" y="1279"/>
                </a:lnTo>
                <a:lnTo>
                  <a:pt x="1046" y="1263"/>
                </a:lnTo>
                <a:lnTo>
                  <a:pt x="995" y="1254"/>
                </a:lnTo>
                <a:lnTo>
                  <a:pt x="942" y="1251"/>
                </a:lnTo>
                <a:close/>
                <a:moveTo>
                  <a:pt x="942" y="1203"/>
                </a:moveTo>
                <a:lnTo>
                  <a:pt x="996" y="1206"/>
                </a:lnTo>
                <a:lnTo>
                  <a:pt x="1049" y="1215"/>
                </a:lnTo>
                <a:lnTo>
                  <a:pt x="1101" y="1230"/>
                </a:lnTo>
                <a:lnTo>
                  <a:pt x="1149" y="1250"/>
                </a:lnTo>
                <a:lnTo>
                  <a:pt x="1194" y="1275"/>
                </a:lnTo>
                <a:lnTo>
                  <a:pt x="1237" y="1306"/>
                </a:lnTo>
                <a:lnTo>
                  <a:pt x="1276" y="1340"/>
                </a:lnTo>
                <a:lnTo>
                  <a:pt x="1310" y="1379"/>
                </a:lnTo>
                <a:lnTo>
                  <a:pt x="1340" y="1421"/>
                </a:lnTo>
                <a:lnTo>
                  <a:pt x="1365" y="1466"/>
                </a:lnTo>
                <a:lnTo>
                  <a:pt x="1386" y="1514"/>
                </a:lnTo>
                <a:lnTo>
                  <a:pt x="1401" y="1565"/>
                </a:lnTo>
                <a:lnTo>
                  <a:pt x="1411" y="1618"/>
                </a:lnTo>
                <a:lnTo>
                  <a:pt x="1414" y="1673"/>
                </a:lnTo>
                <a:lnTo>
                  <a:pt x="1411" y="1727"/>
                </a:lnTo>
                <a:lnTo>
                  <a:pt x="1402" y="1778"/>
                </a:lnTo>
                <a:lnTo>
                  <a:pt x="1386" y="1828"/>
                </a:lnTo>
                <a:lnTo>
                  <a:pt x="1366" y="1875"/>
                </a:lnTo>
                <a:lnTo>
                  <a:pt x="1342" y="1920"/>
                </a:lnTo>
                <a:lnTo>
                  <a:pt x="1312" y="1961"/>
                </a:lnTo>
                <a:lnTo>
                  <a:pt x="1279" y="2000"/>
                </a:lnTo>
                <a:lnTo>
                  <a:pt x="1241" y="2034"/>
                </a:lnTo>
                <a:lnTo>
                  <a:pt x="1201" y="2063"/>
                </a:lnTo>
                <a:lnTo>
                  <a:pt x="1155" y="2090"/>
                </a:lnTo>
                <a:lnTo>
                  <a:pt x="1109" y="2111"/>
                </a:lnTo>
                <a:lnTo>
                  <a:pt x="1059" y="2126"/>
                </a:lnTo>
                <a:lnTo>
                  <a:pt x="1059" y="2385"/>
                </a:lnTo>
                <a:lnTo>
                  <a:pt x="1090" y="2385"/>
                </a:lnTo>
                <a:lnTo>
                  <a:pt x="1090" y="2275"/>
                </a:lnTo>
                <a:lnTo>
                  <a:pt x="1093" y="2252"/>
                </a:lnTo>
                <a:lnTo>
                  <a:pt x="1100" y="2232"/>
                </a:lnTo>
                <a:lnTo>
                  <a:pt x="1112" y="2213"/>
                </a:lnTo>
                <a:lnTo>
                  <a:pt x="1128" y="2198"/>
                </a:lnTo>
                <a:lnTo>
                  <a:pt x="1145" y="2187"/>
                </a:lnTo>
                <a:lnTo>
                  <a:pt x="1166" y="2179"/>
                </a:lnTo>
                <a:lnTo>
                  <a:pt x="1188" y="2177"/>
                </a:lnTo>
                <a:lnTo>
                  <a:pt x="1199" y="2177"/>
                </a:lnTo>
                <a:lnTo>
                  <a:pt x="1222" y="2179"/>
                </a:lnTo>
                <a:lnTo>
                  <a:pt x="1243" y="2187"/>
                </a:lnTo>
                <a:lnTo>
                  <a:pt x="1261" y="2198"/>
                </a:lnTo>
                <a:lnTo>
                  <a:pt x="1276" y="2213"/>
                </a:lnTo>
                <a:lnTo>
                  <a:pt x="1288" y="2232"/>
                </a:lnTo>
                <a:lnTo>
                  <a:pt x="1296" y="2252"/>
                </a:lnTo>
                <a:lnTo>
                  <a:pt x="1298" y="2275"/>
                </a:lnTo>
                <a:lnTo>
                  <a:pt x="1298" y="2385"/>
                </a:lnTo>
                <a:lnTo>
                  <a:pt x="1336" y="2385"/>
                </a:lnTo>
                <a:lnTo>
                  <a:pt x="1336" y="2275"/>
                </a:lnTo>
                <a:lnTo>
                  <a:pt x="1339" y="2252"/>
                </a:lnTo>
                <a:lnTo>
                  <a:pt x="1346" y="2232"/>
                </a:lnTo>
                <a:lnTo>
                  <a:pt x="1357" y="2213"/>
                </a:lnTo>
                <a:lnTo>
                  <a:pt x="1373" y="2198"/>
                </a:lnTo>
                <a:lnTo>
                  <a:pt x="1391" y="2187"/>
                </a:lnTo>
                <a:lnTo>
                  <a:pt x="1412" y="2179"/>
                </a:lnTo>
                <a:lnTo>
                  <a:pt x="1435" y="2177"/>
                </a:lnTo>
                <a:lnTo>
                  <a:pt x="1446" y="2177"/>
                </a:lnTo>
                <a:lnTo>
                  <a:pt x="1468" y="2179"/>
                </a:lnTo>
                <a:lnTo>
                  <a:pt x="1489" y="2187"/>
                </a:lnTo>
                <a:lnTo>
                  <a:pt x="1507" y="2198"/>
                </a:lnTo>
                <a:lnTo>
                  <a:pt x="1522" y="2213"/>
                </a:lnTo>
                <a:lnTo>
                  <a:pt x="1533" y="2232"/>
                </a:lnTo>
                <a:lnTo>
                  <a:pt x="1541" y="2252"/>
                </a:lnTo>
                <a:lnTo>
                  <a:pt x="1543" y="2275"/>
                </a:lnTo>
                <a:lnTo>
                  <a:pt x="1543" y="2385"/>
                </a:lnTo>
                <a:lnTo>
                  <a:pt x="1582" y="2385"/>
                </a:lnTo>
                <a:lnTo>
                  <a:pt x="1582" y="2275"/>
                </a:lnTo>
                <a:lnTo>
                  <a:pt x="1584" y="2252"/>
                </a:lnTo>
                <a:lnTo>
                  <a:pt x="1592" y="2232"/>
                </a:lnTo>
                <a:lnTo>
                  <a:pt x="1603" y="2213"/>
                </a:lnTo>
                <a:lnTo>
                  <a:pt x="1618" y="2198"/>
                </a:lnTo>
                <a:lnTo>
                  <a:pt x="1637" y="2187"/>
                </a:lnTo>
                <a:lnTo>
                  <a:pt x="1657" y="2179"/>
                </a:lnTo>
                <a:lnTo>
                  <a:pt x="1680" y="2177"/>
                </a:lnTo>
                <a:lnTo>
                  <a:pt x="1690" y="2177"/>
                </a:lnTo>
                <a:lnTo>
                  <a:pt x="1713" y="2179"/>
                </a:lnTo>
                <a:lnTo>
                  <a:pt x="1734" y="2187"/>
                </a:lnTo>
                <a:lnTo>
                  <a:pt x="1752" y="2198"/>
                </a:lnTo>
                <a:lnTo>
                  <a:pt x="1768" y="2213"/>
                </a:lnTo>
                <a:lnTo>
                  <a:pt x="1780" y="2232"/>
                </a:lnTo>
                <a:lnTo>
                  <a:pt x="1786" y="2252"/>
                </a:lnTo>
                <a:lnTo>
                  <a:pt x="1790" y="2275"/>
                </a:lnTo>
                <a:lnTo>
                  <a:pt x="1790" y="2482"/>
                </a:lnTo>
                <a:lnTo>
                  <a:pt x="1789" y="2482"/>
                </a:lnTo>
                <a:lnTo>
                  <a:pt x="1789" y="2483"/>
                </a:lnTo>
                <a:lnTo>
                  <a:pt x="1789" y="3085"/>
                </a:lnTo>
                <a:lnTo>
                  <a:pt x="1789" y="3087"/>
                </a:lnTo>
                <a:lnTo>
                  <a:pt x="1789" y="3093"/>
                </a:lnTo>
                <a:lnTo>
                  <a:pt x="1788" y="3101"/>
                </a:lnTo>
                <a:lnTo>
                  <a:pt x="1786" y="3113"/>
                </a:lnTo>
                <a:lnTo>
                  <a:pt x="1785" y="3128"/>
                </a:lnTo>
                <a:lnTo>
                  <a:pt x="1782" y="3145"/>
                </a:lnTo>
                <a:lnTo>
                  <a:pt x="1779" y="3164"/>
                </a:lnTo>
                <a:lnTo>
                  <a:pt x="1773" y="3186"/>
                </a:lnTo>
                <a:lnTo>
                  <a:pt x="1767" y="3208"/>
                </a:lnTo>
                <a:lnTo>
                  <a:pt x="1759" y="3231"/>
                </a:lnTo>
                <a:lnTo>
                  <a:pt x="1749" y="3256"/>
                </a:lnTo>
                <a:lnTo>
                  <a:pt x="1737" y="3281"/>
                </a:lnTo>
                <a:lnTo>
                  <a:pt x="1723" y="3306"/>
                </a:lnTo>
                <a:lnTo>
                  <a:pt x="1707" y="3330"/>
                </a:lnTo>
                <a:lnTo>
                  <a:pt x="1688" y="3356"/>
                </a:lnTo>
                <a:lnTo>
                  <a:pt x="1666" y="3379"/>
                </a:lnTo>
                <a:lnTo>
                  <a:pt x="1642" y="3401"/>
                </a:lnTo>
                <a:lnTo>
                  <a:pt x="1614" y="3422"/>
                </a:lnTo>
                <a:lnTo>
                  <a:pt x="1583" y="3441"/>
                </a:lnTo>
                <a:lnTo>
                  <a:pt x="1549" y="3459"/>
                </a:lnTo>
                <a:lnTo>
                  <a:pt x="1511" y="3473"/>
                </a:lnTo>
                <a:lnTo>
                  <a:pt x="1469" y="3485"/>
                </a:lnTo>
                <a:lnTo>
                  <a:pt x="1424" y="3494"/>
                </a:lnTo>
                <a:lnTo>
                  <a:pt x="1374" y="3500"/>
                </a:lnTo>
                <a:lnTo>
                  <a:pt x="1320" y="3502"/>
                </a:lnTo>
                <a:lnTo>
                  <a:pt x="1264" y="3500"/>
                </a:lnTo>
                <a:lnTo>
                  <a:pt x="1212" y="3495"/>
                </a:lnTo>
                <a:lnTo>
                  <a:pt x="1163" y="3487"/>
                </a:lnTo>
                <a:lnTo>
                  <a:pt x="1120" y="3477"/>
                </a:lnTo>
                <a:lnTo>
                  <a:pt x="1080" y="3463"/>
                </a:lnTo>
                <a:lnTo>
                  <a:pt x="1044" y="3448"/>
                </a:lnTo>
                <a:lnTo>
                  <a:pt x="1011" y="3431"/>
                </a:lnTo>
                <a:lnTo>
                  <a:pt x="983" y="3413"/>
                </a:lnTo>
                <a:lnTo>
                  <a:pt x="956" y="3394"/>
                </a:lnTo>
                <a:lnTo>
                  <a:pt x="934" y="3373"/>
                </a:lnTo>
                <a:lnTo>
                  <a:pt x="914" y="3353"/>
                </a:lnTo>
                <a:lnTo>
                  <a:pt x="898" y="3332"/>
                </a:lnTo>
                <a:lnTo>
                  <a:pt x="884" y="3312"/>
                </a:lnTo>
                <a:lnTo>
                  <a:pt x="873" y="3292"/>
                </a:lnTo>
                <a:lnTo>
                  <a:pt x="864" y="3273"/>
                </a:lnTo>
                <a:lnTo>
                  <a:pt x="862" y="3270"/>
                </a:lnTo>
                <a:lnTo>
                  <a:pt x="858" y="3263"/>
                </a:lnTo>
                <a:lnTo>
                  <a:pt x="851" y="3251"/>
                </a:lnTo>
                <a:lnTo>
                  <a:pt x="842" y="3234"/>
                </a:lnTo>
                <a:lnTo>
                  <a:pt x="830" y="3215"/>
                </a:lnTo>
                <a:lnTo>
                  <a:pt x="817" y="3192"/>
                </a:lnTo>
                <a:lnTo>
                  <a:pt x="803" y="3165"/>
                </a:lnTo>
                <a:lnTo>
                  <a:pt x="786" y="3137"/>
                </a:lnTo>
                <a:lnTo>
                  <a:pt x="768" y="3106"/>
                </a:lnTo>
                <a:lnTo>
                  <a:pt x="749" y="3074"/>
                </a:lnTo>
                <a:lnTo>
                  <a:pt x="731" y="3040"/>
                </a:lnTo>
                <a:lnTo>
                  <a:pt x="711" y="3004"/>
                </a:lnTo>
                <a:lnTo>
                  <a:pt x="691" y="2969"/>
                </a:lnTo>
                <a:lnTo>
                  <a:pt x="670" y="2934"/>
                </a:lnTo>
                <a:lnTo>
                  <a:pt x="650" y="2898"/>
                </a:lnTo>
                <a:lnTo>
                  <a:pt x="630" y="2864"/>
                </a:lnTo>
                <a:lnTo>
                  <a:pt x="611" y="2829"/>
                </a:lnTo>
                <a:lnTo>
                  <a:pt x="593" y="2796"/>
                </a:lnTo>
                <a:lnTo>
                  <a:pt x="575" y="2766"/>
                </a:lnTo>
                <a:lnTo>
                  <a:pt x="559" y="2737"/>
                </a:lnTo>
                <a:lnTo>
                  <a:pt x="545" y="2711"/>
                </a:lnTo>
                <a:lnTo>
                  <a:pt x="532" y="2686"/>
                </a:lnTo>
                <a:lnTo>
                  <a:pt x="521" y="2667"/>
                </a:lnTo>
                <a:lnTo>
                  <a:pt x="512" y="2650"/>
                </a:lnTo>
                <a:lnTo>
                  <a:pt x="500" y="2621"/>
                </a:lnTo>
                <a:lnTo>
                  <a:pt x="492" y="2596"/>
                </a:lnTo>
                <a:lnTo>
                  <a:pt x="490" y="2572"/>
                </a:lnTo>
                <a:lnTo>
                  <a:pt x="492" y="2551"/>
                </a:lnTo>
                <a:lnTo>
                  <a:pt x="497" y="2532"/>
                </a:lnTo>
                <a:lnTo>
                  <a:pt x="507" y="2517"/>
                </a:lnTo>
                <a:lnTo>
                  <a:pt x="520" y="2504"/>
                </a:lnTo>
                <a:lnTo>
                  <a:pt x="534" y="2494"/>
                </a:lnTo>
                <a:lnTo>
                  <a:pt x="552" y="2487"/>
                </a:lnTo>
                <a:lnTo>
                  <a:pt x="572" y="2484"/>
                </a:lnTo>
                <a:lnTo>
                  <a:pt x="591" y="2483"/>
                </a:lnTo>
                <a:lnTo>
                  <a:pt x="614" y="2486"/>
                </a:lnTo>
                <a:lnTo>
                  <a:pt x="636" y="2496"/>
                </a:lnTo>
                <a:lnTo>
                  <a:pt x="659" y="2511"/>
                </a:lnTo>
                <a:lnTo>
                  <a:pt x="681" y="2533"/>
                </a:lnTo>
                <a:lnTo>
                  <a:pt x="705" y="2561"/>
                </a:lnTo>
                <a:lnTo>
                  <a:pt x="731" y="2592"/>
                </a:lnTo>
                <a:lnTo>
                  <a:pt x="757" y="2626"/>
                </a:lnTo>
                <a:lnTo>
                  <a:pt x="785" y="2662"/>
                </a:lnTo>
                <a:lnTo>
                  <a:pt x="816" y="2700"/>
                </a:lnTo>
                <a:lnTo>
                  <a:pt x="850" y="2737"/>
                </a:lnTo>
                <a:lnTo>
                  <a:pt x="850" y="2133"/>
                </a:lnTo>
                <a:lnTo>
                  <a:pt x="797" y="2120"/>
                </a:lnTo>
                <a:lnTo>
                  <a:pt x="746" y="2100"/>
                </a:lnTo>
                <a:lnTo>
                  <a:pt x="699" y="2076"/>
                </a:lnTo>
                <a:lnTo>
                  <a:pt x="654" y="2046"/>
                </a:lnTo>
                <a:lnTo>
                  <a:pt x="615" y="2011"/>
                </a:lnTo>
                <a:lnTo>
                  <a:pt x="578" y="1972"/>
                </a:lnTo>
                <a:lnTo>
                  <a:pt x="546" y="1930"/>
                </a:lnTo>
                <a:lnTo>
                  <a:pt x="520" y="1884"/>
                </a:lnTo>
                <a:lnTo>
                  <a:pt x="499" y="1835"/>
                </a:lnTo>
                <a:lnTo>
                  <a:pt x="482" y="1783"/>
                </a:lnTo>
                <a:lnTo>
                  <a:pt x="473" y="1729"/>
                </a:lnTo>
                <a:lnTo>
                  <a:pt x="469" y="1673"/>
                </a:lnTo>
                <a:lnTo>
                  <a:pt x="472" y="1618"/>
                </a:lnTo>
                <a:lnTo>
                  <a:pt x="482" y="1565"/>
                </a:lnTo>
                <a:lnTo>
                  <a:pt x="496" y="1514"/>
                </a:lnTo>
                <a:lnTo>
                  <a:pt x="517" y="1466"/>
                </a:lnTo>
                <a:lnTo>
                  <a:pt x="543" y="1421"/>
                </a:lnTo>
                <a:lnTo>
                  <a:pt x="573" y="1379"/>
                </a:lnTo>
                <a:lnTo>
                  <a:pt x="608" y="1340"/>
                </a:lnTo>
                <a:lnTo>
                  <a:pt x="647" y="1306"/>
                </a:lnTo>
                <a:lnTo>
                  <a:pt x="689" y="1275"/>
                </a:lnTo>
                <a:lnTo>
                  <a:pt x="734" y="1250"/>
                </a:lnTo>
                <a:lnTo>
                  <a:pt x="783" y="1230"/>
                </a:lnTo>
                <a:lnTo>
                  <a:pt x="834" y="1215"/>
                </a:lnTo>
                <a:lnTo>
                  <a:pt x="887" y="1206"/>
                </a:lnTo>
                <a:lnTo>
                  <a:pt x="942" y="1203"/>
                </a:lnTo>
                <a:close/>
                <a:moveTo>
                  <a:pt x="639" y="141"/>
                </a:moveTo>
                <a:lnTo>
                  <a:pt x="628" y="144"/>
                </a:lnTo>
                <a:lnTo>
                  <a:pt x="619" y="153"/>
                </a:lnTo>
                <a:lnTo>
                  <a:pt x="616" y="165"/>
                </a:lnTo>
                <a:lnTo>
                  <a:pt x="619" y="177"/>
                </a:lnTo>
                <a:lnTo>
                  <a:pt x="628" y="185"/>
                </a:lnTo>
                <a:lnTo>
                  <a:pt x="639" y="188"/>
                </a:lnTo>
                <a:lnTo>
                  <a:pt x="1056" y="188"/>
                </a:lnTo>
                <a:lnTo>
                  <a:pt x="1068" y="185"/>
                </a:lnTo>
                <a:lnTo>
                  <a:pt x="1077" y="177"/>
                </a:lnTo>
                <a:lnTo>
                  <a:pt x="1080" y="165"/>
                </a:lnTo>
                <a:lnTo>
                  <a:pt x="1077" y="153"/>
                </a:lnTo>
                <a:lnTo>
                  <a:pt x="1068" y="144"/>
                </a:lnTo>
                <a:lnTo>
                  <a:pt x="1056" y="141"/>
                </a:lnTo>
                <a:lnTo>
                  <a:pt x="639" y="141"/>
                </a:lnTo>
                <a:close/>
                <a:moveTo>
                  <a:pt x="197" y="0"/>
                </a:moveTo>
                <a:lnTo>
                  <a:pt x="1498" y="0"/>
                </a:lnTo>
                <a:lnTo>
                  <a:pt x="1533" y="2"/>
                </a:lnTo>
                <a:lnTo>
                  <a:pt x="1566" y="12"/>
                </a:lnTo>
                <a:lnTo>
                  <a:pt x="1597" y="26"/>
                </a:lnTo>
                <a:lnTo>
                  <a:pt x="1625" y="46"/>
                </a:lnTo>
                <a:lnTo>
                  <a:pt x="1648" y="69"/>
                </a:lnTo>
                <a:lnTo>
                  <a:pt x="1668" y="97"/>
                </a:lnTo>
                <a:lnTo>
                  <a:pt x="1683" y="127"/>
                </a:lnTo>
                <a:lnTo>
                  <a:pt x="1692" y="160"/>
                </a:lnTo>
                <a:lnTo>
                  <a:pt x="1696" y="196"/>
                </a:lnTo>
                <a:lnTo>
                  <a:pt x="1696" y="2034"/>
                </a:lnTo>
                <a:lnTo>
                  <a:pt x="1558" y="2034"/>
                </a:lnTo>
                <a:lnTo>
                  <a:pt x="1558" y="310"/>
                </a:lnTo>
                <a:lnTo>
                  <a:pt x="137" y="310"/>
                </a:lnTo>
                <a:lnTo>
                  <a:pt x="137" y="2542"/>
                </a:lnTo>
                <a:lnTo>
                  <a:pt x="356" y="2542"/>
                </a:lnTo>
                <a:lnTo>
                  <a:pt x="551" y="2905"/>
                </a:lnTo>
                <a:lnTo>
                  <a:pt x="197" y="2905"/>
                </a:lnTo>
                <a:lnTo>
                  <a:pt x="161" y="2902"/>
                </a:lnTo>
                <a:lnTo>
                  <a:pt x="128" y="2892"/>
                </a:lnTo>
                <a:lnTo>
                  <a:pt x="98" y="2878"/>
                </a:lnTo>
                <a:lnTo>
                  <a:pt x="71" y="2858"/>
                </a:lnTo>
                <a:lnTo>
                  <a:pt x="46" y="2835"/>
                </a:lnTo>
                <a:lnTo>
                  <a:pt x="27" y="2807"/>
                </a:lnTo>
                <a:lnTo>
                  <a:pt x="12" y="2777"/>
                </a:lnTo>
                <a:lnTo>
                  <a:pt x="3" y="2744"/>
                </a:lnTo>
                <a:lnTo>
                  <a:pt x="0" y="2708"/>
                </a:lnTo>
                <a:lnTo>
                  <a:pt x="0" y="196"/>
                </a:lnTo>
                <a:lnTo>
                  <a:pt x="3" y="160"/>
                </a:lnTo>
                <a:lnTo>
                  <a:pt x="12" y="127"/>
                </a:lnTo>
                <a:lnTo>
                  <a:pt x="27" y="97"/>
                </a:lnTo>
                <a:lnTo>
                  <a:pt x="46" y="69"/>
                </a:lnTo>
                <a:lnTo>
                  <a:pt x="71" y="46"/>
                </a:lnTo>
                <a:lnTo>
                  <a:pt x="98" y="26"/>
                </a:lnTo>
                <a:lnTo>
                  <a:pt x="128" y="12"/>
                </a:lnTo>
                <a:lnTo>
                  <a:pt x="161" y="2"/>
                </a:lnTo>
                <a:lnTo>
                  <a:pt x="1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g3dd6299f58b_0_0"/>
          <p:cNvSpPr/>
          <p:nvPr/>
        </p:nvSpPr>
        <p:spPr>
          <a:xfrm>
            <a:off x="9890164" y="824365"/>
            <a:ext cx="2170200" cy="307800"/>
          </a:xfrm>
          <a:prstGeom prst="rect">
            <a:avLst/>
          </a:prstGeom>
          <a:solidFill>
            <a:srgbClr val="CC0000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1. Presentation Flow</a:t>
            </a:r>
            <a:endParaRPr sz="14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3dd6299f58b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587" y="34941"/>
            <a:ext cx="1343005" cy="575049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g3dd6299f58b_0_0"/>
          <p:cNvSpPr txBox="1">
            <a:spLocks noGrp="1"/>
          </p:cNvSpPr>
          <p:nvPr>
            <p:ph type="sldNum" idx="12"/>
          </p:nvPr>
        </p:nvSpPr>
        <p:spPr>
          <a:xfrm>
            <a:off x="9258300" y="64452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dd6299f58b_0_111"/>
          <p:cNvSpPr/>
          <p:nvPr/>
        </p:nvSpPr>
        <p:spPr>
          <a:xfrm rot="5400000">
            <a:off x="5889960" y="4836525"/>
            <a:ext cx="1692300" cy="1280100"/>
          </a:xfrm>
          <a:prstGeom prst="homePlate">
            <a:avLst>
              <a:gd name="adj" fmla="val 36141"/>
            </a:avLst>
          </a:prstGeom>
          <a:solidFill>
            <a:srgbClr val="5481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g3dd6299f58b_0_111"/>
          <p:cNvSpPr/>
          <p:nvPr/>
        </p:nvSpPr>
        <p:spPr>
          <a:xfrm rot="-5400000">
            <a:off x="4609740" y="881816"/>
            <a:ext cx="1692300" cy="1280100"/>
          </a:xfrm>
          <a:prstGeom prst="homePlate">
            <a:avLst>
              <a:gd name="adj" fmla="val 36141"/>
            </a:avLst>
          </a:prstGeom>
          <a:solidFill>
            <a:srgbClr val="C55A1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9" name="Google Shape;289;g3dd6299f58b_0_111"/>
          <p:cNvGrpSpPr/>
          <p:nvPr/>
        </p:nvGrpSpPr>
        <p:grpSpPr>
          <a:xfrm>
            <a:off x="4232" y="6382984"/>
            <a:ext cx="12192000" cy="476400"/>
            <a:chOff x="0" y="6381750"/>
            <a:chExt cx="12192000" cy="476400"/>
          </a:xfrm>
        </p:grpSpPr>
        <p:sp>
          <p:nvSpPr>
            <p:cNvPr id="290" name="Google Shape;290;g3dd6299f58b_0_111"/>
            <p:cNvSpPr/>
            <p:nvPr/>
          </p:nvSpPr>
          <p:spPr>
            <a:xfrm>
              <a:off x="0" y="6381750"/>
              <a:ext cx="12192000" cy="4764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291" name="Google Shape;291;g3dd6299f58b_0_111"/>
            <p:cNvGrpSpPr/>
            <p:nvPr/>
          </p:nvGrpSpPr>
          <p:grpSpPr>
            <a:xfrm>
              <a:off x="160100" y="6467251"/>
              <a:ext cx="4087770" cy="273665"/>
              <a:chOff x="4366684" y="2926127"/>
              <a:chExt cx="3278346" cy="2572038"/>
            </a:xfrm>
          </p:grpSpPr>
          <p:sp>
            <p:nvSpPr>
              <p:cNvPr id="292" name="Google Shape;292;g3dd6299f58b_0_111"/>
              <p:cNvSpPr/>
              <p:nvPr/>
            </p:nvSpPr>
            <p:spPr>
              <a:xfrm>
                <a:off x="4744501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3" name="Google Shape;293;g3dd6299f58b_0_111"/>
              <p:cNvSpPr/>
              <p:nvPr/>
            </p:nvSpPr>
            <p:spPr>
              <a:xfrm>
                <a:off x="4676621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4" name="Google Shape;294;g3dd6299f58b_0_111"/>
              <p:cNvSpPr/>
              <p:nvPr/>
            </p:nvSpPr>
            <p:spPr>
              <a:xfrm>
                <a:off x="5706626" y="2927282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5" name="Google Shape;295;g3dd6299f58b_0_111"/>
              <p:cNvSpPr/>
              <p:nvPr/>
            </p:nvSpPr>
            <p:spPr>
              <a:xfrm>
                <a:off x="5022376" y="2926994"/>
                <a:ext cx="7513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00346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6" name="Google Shape;296;g3dd6299f58b_0_111"/>
              <p:cNvSpPr/>
              <p:nvPr/>
            </p:nvSpPr>
            <p:spPr>
              <a:xfrm>
                <a:off x="4877829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7" name="Google Shape;297;g3dd6299f58b_0_111"/>
              <p:cNvSpPr/>
              <p:nvPr/>
            </p:nvSpPr>
            <p:spPr>
              <a:xfrm>
                <a:off x="4559765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8" name="Google Shape;298;g3dd6299f58b_0_111"/>
              <p:cNvSpPr/>
              <p:nvPr/>
            </p:nvSpPr>
            <p:spPr>
              <a:xfrm>
                <a:off x="4433987" y="2926705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9" name="Google Shape;299;g3dd6299f58b_0_111"/>
              <p:cNvSpPr/>
              <p:nvPr/>
            </p:nvSpPr>
            <p:spPr>
              <a:xfrm>
                <a:off x="4366684" y="2927282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0" name="Google Shape;300;g3dd6299f58b_0_111"/>
              <p:cNvSpPr/>
              <p:nvPr/>
            </p:nvSpPr>
            <p:spPr>
              <a:xfrm>
                <a:off x="5957386" y="2926705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1" name="Google Shape;301;g3dd6299f58b_0_111"/>
              <p:cNvSpPr/>
              <p:nvPr/>
            </p:nvSpPr>
            <p:spPr>
              <a:xfrm>
                <a:off x="6024689" y="2926127"/>
                <a:ext cx="37565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850294" extrusionOk="0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2" name="Google Shape;302;g3dd6299f58b_0_111"/>
              <p:cNvSpPr/>
              <p:nvPr/>
            </p:nvSpPr>
            <p:spPr>
              <a:xfrm>
                <a:off x="5890084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3" name="Google Shape;303;g3dd6299f58b_0_111"/>
              <p:cNvSpPr/>
              <p:nvPr/>
            </p:nvSpPr>
            <p:spPr>
              <a:xfrm>
                <a:off x="6091991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4" name="Google Shape;304;g3dd6299f58b_0_111"/>
              <p:cNvSpPr/>
              <p:nvPr/>
            </p:nvSpPr>
            <p:spPr>
              <a:xfrm>
                <a:off x="7139759" y="2926994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5" name="Google Shape;305;g3dd6299f58b_0_111"/>
              <p:cNvSpPr/>
              <p:nvPr/>
            </p:nvSpPr>
            <p:spPr>
              <a:xfrm>
                <a:off x="7280788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6" name="Google Shape;306;g3dd6299f58b_0_111"/>
              <p:cNvSpPr/>
              <p:nvPr/>
            </p:nvSpPr>
            <p:spPr>
              <a:xfrm>
                <a:off x="7349773" y="2926994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7" name="Google Shape;307;g3dd6299f58b_0_111"/>
              <p:cNvSpPr/>
              <p:nvPr/>
            </p:nvSpPr>
            <p:spPr>
              <a:xfrm>
                <a:off x="7548511" y="2927282"/>
                <a:ext cx="41926" cy="2570883"/>
              </a:xfrm>
              <a:custGeom>
                <a:avLst/>
                <a:gdLst/>
                <a:ahLst/>
                <a:cxnLst/>
                <a:rect l="l" t="t" r="r" b="b"/>
                <a:pathLst>
                  <a:path w="111804" h="6855688" extrusionOk="0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8" name="Google Shape;308;g3dd6299f58b_0_111"/>
              <p:cNvSpPr/>
              <p:nvPr/>
            </p:nvSpPr>
            <p:spPr>
              <a:xfrm>
                <a:off x="7485249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9" name="Google Shape;309;g3dd6299f58b_0_111"/>
              <p:cNvSpPr/>
              <p:nvPr/>
            </p:nvSpPr>
            <p:spPr>
              <a:xfrm>
                <a:off x="7616134" y="2926994"/>
                <a:ext cx="28896" cy="2568860"/>
              </a:xfrm>
              <a:custGeom>
                <a:avLst/>
                <a:gdLst/>
                <a:ahLst/>
                <a:cxnLst/>
                <a:rect l="l" t="t" r="r" b="b"/>
                <a:pathLst>
                  <a:path w="77056" h="6850294" extrusionOk="0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10" name="Google Shape;310;g3dd6299f58b_0_111"/>
              <p:cNvSpPr/>
              <p:nvPr/>
            </p:nvSpPr>
            <p:spPr>
              <a:xfrm>
                <a:off x="6838507" y="2926994"/>
                <a:ext cx="10980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292813" h="6387957" extrusionOk="0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11" name="Google Shape;311;g3dd6299f58b_0_111"/>
              <p:cNvSpPr/>
              <p:nvPr/>
            </p:nvSpPr>
            <p:spPr>
              <a:xfrm>
                <a:off x="6980994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12" name="Google Shape;312;g3dd6299f58b_0_111"/>
              <p:cNvSpPr/>
              <p:nvPr/>
            </p:nvSpPr>
            <p:spPr>
              <a:xfrm>
                <a:off x="7065051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13" name="Google Shape;313;g3dd6299f58b_0_111"/>
              <p:cNvSpPr/>
              <p:nvPr/>
            </p:nvSpPr>
            <p:spPr>
              <a:xfrm>
                <a:off x="6754449" y="2926127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14" name="Google Shape;314;g3dd6299f58b_0_111"/>
              <p:cNvSpPr/>
              <p:nvPr/>
            </p:nvSpPr>
            <p:spPr>
              <a:xfrm>
                <a:off x="6334914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15" name="Google Shape;315;g3dd6299f58b_0_111"/>
              <p:cNvSpPr/>
              <p:nvPr/>
            </p:nvSpPr>
            <p:spPr>
              <a:xfrm>
                <a:off x="6159871" y="2926127"/>
                <a:ext cx="37565" cy="2398373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95662" extrusionOk="0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16" name="Google Shape;316;g3dd6299f58b_0_111"/>
              <p:cNvSpPr/>
              <p:nvPr/>
            </p:nvSpPr>
            <p:spPr>
              <a:xfrm>
                <a:off x="6231712" y="2926127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17" name="Google Shape;317;g3dd6299f58b_0_111"/>
              <p:cNvSpPr/>
              <p:nvPr/>
            </p:nvSpPr>
            <p:spPr>
              <a:xfrm>
                <a:off x="6598401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18" name="Google Shape;318;g3dd6299f58b_0_111"/>
              <p:cNvSpPr/>
              <p:nvPr/>
            </p:nvSpPr>
            <p:spPr>
              <a:xfrm>
                <a:off x="6680669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19" name="Google Shape;319;g3dd6299f58b_0_111"/>
              <p:cNvSpPr/>
              <p:nvPr/>
            </p:nvSpPr>
            <p:spPr>
              <a:xfrm>
                <a:off x="6516134" y="2927282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20" name="Google Shape;320;g3dd6299f58b_0_111"/>
              <p:cNvSpPr/>
              <p:nvPr/>
            </p:nvSpPr>
            <p:spPr>
              <a:xfrm>
                <a:off x="6399205" y="2927282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21" name="Google Shape;321;g3dd6299f58b_0_111"/>
              <p:cNvSpPr/>
              <p:nvPr/>
            </p:nvSpPr>
            <p:spPr>
              <a:xfrm>
                <a:off x="5237391" y="2926127"/>
                <a:ext cx="14448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385280" h="6387957" extrusionOk="0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22" name="Google Shape;322;g3dd6299f58b_0_111"/>
              <p:cNvSpPr/>
              <p:nvPr/>
            </p:nvSpPr>
            <p:spPr>
              <a:xfrm>
                <a:off x="5123269" y="2926994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23" name="Google Shape;323;g3dd6299f58b_0_111"/>
              <p:cNvSpPr/>
              <p:nvPr/>
            </p:nvSpPr>
            <p:spPr>
              <a:xfrm>
                <a:off x="5611343" y="2927282"/>
                <a:ext cx="72240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92640" h="6387957" extrusionOk="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24" name="Google Shape;324;g3dd6299f58b_0_111"/>
              <p:cNvSpPr/>
              <p:nvPr/>
            </p:nvSpPr>
            <p:spPr>
              <a:xfrm>
                <a:off x="5407259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25" name="Google Shape;325;g3dd6299f58b_0_111"/>
              <p:cNvSpPr/>
              <p:nvPr/>
            </p:nvSpPr>
            <p:spPr>
              <a:xfrm>
                <a:off x="5470252" y="2926994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26" name="Google Shape;326;g3dd6299f58b_0_111"/>
              <p:cNvSpPr/>
              <p:nvPr/>
            </p:nvSpPr>
            <p:spPr>
              <a:xfrm>
                <a:off x="5533244" y="2926127"/>
                <a:ext cx="37565" cy="2395484"/>
              </a:xfrm>
              <a:custGeom>
                <a:avLst/>
                <a:gdLst/>
                <a:ahLst/>
                <a:cxnLst/>
                <a:rect l="l" t="t" r="r" b="b"/>
                <a:pathLst>
                  <a:path w="100173" h="6387957" extrusionOk="0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327" name="Google Shape;327;g3dd6299f58b_0_111"/>
          <p:cNvGrpSpPr/>
          <p:nvPr/>
        </p:nvGrpSpPr>
        <p:grpSpPr>
          <a:xfrm>
            <a:off x="166359" y="6490656"/>
            <a:ext cx="4247753" cy="273665"/>
            <a:chOff x="4366684" y="2926127"/>
            <a:chExt cx="3278346" cy="2572038"/>
          </a:xfrm>
        </p:grpSpPr>
        <p:sp>
          <p:nvSpPr>
            <p:cNvPr id="328" name="Google Shape;328;g3dd6299f58b_0_111"/>
            <p:cNvSpPr/>
            <p:nvPr/>
          </p:nvSpPr>
          <p:spPr>
            <a:xfrm>
              <a:off x="4744501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9" name="Google Shape;329;g3dd6299f58b_0_111"/>
            <p:cNvSpPr/>
            <p:nvPr/>
          </p:nvSpPr>
          <p:spPr>
            <a:xfrm>
              <a:off x="4676621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0" name="Google Shape;330;g3dd6299f58b_0_111"/>
            <p:cNvSpPr/>
            <p:nvPr/>
          </p:nvSpPr>
          <p:spPr>
            <a:xfrm>
              <a:off x="5706626" y="2927282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1" name="Google Shape;331;g3dd6299f58b_0_111"/>
            <p:cNvSpPr/>
            <p:nvPr/>
          </p:nvSpPr>
          <p:spPr>
            <a:xfrm>
              <a:off x="5022376" y="2926994"/>
              <a:ext cx="75130" cy="2395484"/>
            </a:xfrm>
            <a:custGeom>
              <a:avLst/>
              <a:gdLst/>
              <a:ahLst/>
              <a:cxnLst/>
              <a:rect l="l" t="t" r="r" b="b"/>
              <a:pathLst>
                <a:path w="200346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2" name="Google Shape;332;g3dd6299f58b_0_111"/>
            <p:cNvSpPr/>
            <p:nvPr/>
          </p:nvSpPr>
          <p:spPr>
            <a:xfrm>
              <a:off x="4877829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3" name="Google Shape;333;g3dd6299f58b_0_111"/>
            <p:cNvSpPr/>
            <p:nvPr/>
          </p:nvSpPr>
          <p:spPr>
            <a:xfrm>
              <a:off x="4559765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4" name="Google Shape;334;g3dd6299f58b_0_111"/>
            <p:cNvSpPr/>
            <p:nvPr/>
          </p:nvSpPr>
          <p:spPr>
            <a:xfrm>
              <a:off x="4433987" y="2926705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5" name="Google Shape;335;g3dd6299f58b_0_111"/>
            <p:cNvSpPr/>
            <p:nvPr/>
          </p:nvSpPr>
          <p:spPr>
            <a:xfrm>
              <a:off x="4366684" y="2927282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6" name="Google Shape;336;g3dd6299f58b_0_111"/>
            <p:cNvSpPr/>
            <p:nvPr/>
          </p:nvSpPr>
          <p:spPr>
            <a:xfrm>
              <a:off x="5957386" y="2926705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7" name="Google Shape;337;g3dd6299f58b_0_111"/>
            <p:cNvSpPr/>
            <p:nvPr/>
          </p:nvSpPr>
          <p:spPr>
            <a:xfrm>
              <a:off x="6024689" y="2926127"/>
              <a:ext cx="37565" cy="2568860"/>
            </a:xfrm>
            <a:custGeom>
              <a:avLst/>
              <a:gdLst/>
              <a:ahLst/>
              <a:cxnLst/>
              <a:rect l="l" t="t" r="r" b="b"/>
              <a:pathLst>
                <a:path w="100173" h="6850294" extrusionOk="0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8" name="Google Shape;338;g3dd6299f58b_0_111"/>
            <p:cNvSpPr/>
            <p:nvPr/>
          </p:nvSpPr>
          <p:spPr>
            <a:xfrm>
              <a:off x="5890084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9" name="Google Shape;339;g3dd6299f58b_0_111"/>
            <p:cNvSpPr/>
            <p:nvPr/>
          </p:nvSpPr>
          <p:spPr>
            <a:xfrm>
              <a:off x="6091991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0" name="Google Shape;340;g3dd6299f58b_0_111"/>
            <p:cNvSpPr/>
            <p:nvPr/>
          </p:nvSpPr>
          <p:spPr>
            <a:xfrm>
              <a:off x="7139759" y="2926994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1" name="Google Shape;341;g3dd6299f58b_0_111"/>
            <p:cNvSpPr/>
            <p:nvPr/>
          </p:nvSpPr>
          <p:spPr>
            <a:xfrm>
              <a:off x="7280788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2" name="Google Shape;342;g3dd6299f58b_0_111"/>
            <p:cNvSpPr/>
            <p:nvPr/>
          </p:nvSpPr>
          <p:spPr>
            <a:xfrm>
              <a:off x="7349773" y="2926994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3" name="Google Shape;343;g3dd6299f58b_0_111"/>
            <p:cNvSpPr/>
            <p:nvPr/>
          </p:nvSpPr>
          <p:spPr>
            <a:xfrm>
              <a:off x="7548511" y="2927282"/>
              <a:ext cx="41926" cy="2570883"/>
            </a:xfrm>
            <a:custGeom>
              <a:avLst/>
              <a:gdLst/>
              <a:ahLst/>
              <a:cxnLst/>
              <a:rect l="l" t="t" r="r" b="b"/>
              <a:pathLst>
                <a:path w="111804" h="6855688" extrusionOk="0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4" name="Google Shape;344;g3dd6299f58b_0_111"/>
            <p:cNvSpPr/>
            <p:nvPr/>
          </p:nvSpPr>
          <p:spPr>
            <a:xfrm>
              <a:off x="7485249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5" name="Google Shape;345;g3dd6299f58b_0_111"/>
            <p:cNvSpPr/>
            <p:nvPr/>
          </p:nvSpPr>
          <p:spPr>
            <a:xfrm>
              <a:off x="7616134" y="2926994"/>
              <a:ext cx="28896" cy="2568860"/>
            </a:xfrm>
            <a:custGeom>
              <a:avLst/>
              <a:gdLst/>
              <a:ahLst/>
              <a:cxnLst/>
              <a:rect l="l" t="t" r="r" b="b"/>
              <a:pathLst>
                <a:path w="77056" h="6850294" extrusionOk="0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6" name="Google Shape;346;g3dd6299f58b_0_111"/>
            <p:cNvSpPr/>
            <p:nvPr/>
          </p:nvSpPr>
          <p:spPr>
            <a:xfrm>
              <a:off x="6838507" y="2926994"/>
              <a:ext cx="109805" cy="2395484"/>
            </a:xfrm>
            <a:custGeom>
              <a:avLst/>
              <a:gdLst/>
              <a:ahLst/>
              <a:cxnLst/>
              <a:rect l="l" t="t" r="r" b="b"/>
              <a:pathLst>
                <a:path w="292813" h="6387957" extrusionOk="0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7" name="Google Shape;347;g3dd6299f58b_0_111"/>
            <p:cNvSpPr/>
            <p:nvPr/>
          </p:nvSpPr>
          <p:spPr>
            <a:xfrm>
              <a:off x="6980994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8" name="Google Shape;348;g3dd6299f58b_0_111"/>
            <p:cNvSpPr/>
            <p:nvPr/>
          </p:nvSpPr>
          <p:spPr>
            <a:xfrm>
              <a:off x="7065051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9" name="Google Shape;349;g3dd6299f58b_0_111"/>
            <p:cNvSpPr/>
            <p:nvPr/>
          </p:nvSpPr>
          <p:spPr>
            <a:xfrm>
              <a:off x="6754449" y="2926127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0" name="Google Shape;350;g3dd6299f58b_0_111"/>
            <p:cNvSpPr/>
            <p:nvPr/>
          </p:nvSpPr>
          <p:spPr>
            <a:xfrm>
              <a:off x="6334914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1" name="Google Shape;351;g3dd6299f58b_0_111"/>
            <p:cNvSpPr/>
            <p:nvPr/>
          </p:nvSpPr>
          <p:spPr>
            <a:xfrm>
              <a:off x="6159871" y="2926127"/>
              <a:ext cx="37565" cy="2398373"/>
            </a:xfrm>
            <a:custGeom>
              <a:avLst/>
              <a:gdLst/>
              <a:ahLst/>
              <a:cxnLst/>
              <a:rect l="l" t="t" r="r" b="b"/>
              <a:pathLst>
                <a:path w="100173" h="6395662" extrusionOk="0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2" name="Google Shape;352;g3dd6299f58b_0_111"/>
            <p:cNvSpPr/>
            <p:nvPr/>
          </p:nvSpPr>
          <p:spPr>
            <a:xfrm>
              <a:off x="6231712" y="2926127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3" name="Google Shape;353;g3dd6299f58b_0_111"/>
            <p:cNvSpPr/>
            <p:nvPr/>
          </p:nvSpPr>
          <p:spPr>
            <a:xfrm>
              <a:off x="6598401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4" name="Google Shape;354;g3dd6299f58b_0_111"/>
            <p:cNvSpPr/>
            <p:nvPr/>
          </p:nvSpPr>
          <p:spPr>
            <a:xfrm>
              <a:off x="6680669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5" name="Google Shape;355;g3dd6299f58b_0_111"/>
            <p:cNvSpPr/>
            <p:nvPr/>
          </p:nvSpPr>
          <p:spPr>
            <a:xfrm>
              <a:off x="6516134" y="2927282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6" name="Google Shape;356;g3dd6299f58b_0_111"/>
            <p:cNvSpPr/>
            <p:nvPr/>
          </p:nvSpPr>
          <p:spPr>
            <a:xfrm>
              <a:off x="6399205" y="2927282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7" name="Google Shape;357;g3dd6299f58b_0_111"/>
            <p:cNvSpPr/>
            <p:nvPr/>
          </p:nvSpPr>
          <p:spPr>
            <a:xfrm>
              <a:off x="5237391" y="2926127"/>
              <a:ext cx="144480" cy="2395484"/>
            </a:xfrm>
            <a:custGeom>
              <a:avLst/>
              <a:gdLst/>
              <a:ahLst/>
              <a:cxnLst/>
              <a:rect l="l" t="t" r="r" b="b"/>
              <a:pathLst>
                <a:path w="385280" h="6387957" extrusionOk="0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8" name="Google Shape;358;g3dd6299f58b_0_111"/>
            <p:cNvSpPr/>
            <p:nvPr/>
          </p:nvSpPr>
          <p:spPr>
            <a:xfrm>
              <a:off x="5123269" y="2926994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9" name="Google Shape;359;g3dd6299f58b_0_111"/>
            <p:cNvSpPr/>
            <p:nvPr/>
          </p:nvSpPr>
          <p:spPr>
            <a:xfrm>
              <a:off x="5611343" y="2927282"/>
              <a:ext cx="72240" cy="2395484"/>
            </a:xfrm>
            <a:custGeom>
              <a:avLst/>
              <a:gdLst/>
              <a:ahLst/>
              <a:cxnLst/>
              <a:rect l="l" t="t" r="r" b="b"/>
              <a:pathLst>
                <a:path w="192640" h="6387957" extrusionOk="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60" name="Google Shape;360;g3dd6299f58b_0_111"/>
            <p:cNvSpPr/>
            <p:nvPr/>
          </p:nvSpPr>
          <p:spPr>
            <a:xfrm>
              <a:off x="5407259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61" name="Google Shape;361;g3dd6299f58b_0_111"/>
            <p:cNvSpPr/>
            <p:nvPr/>
          </p:nvSpPr>
          <p:spPr>
            <a:xfrm>
              <a:off x="5470252" y="2926994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62" name="Google Shape;362;g3dd6299f58b_0_111"/>
            <p:cNvSpPr/>
            <p:nvPr/>
          </p:nvSpPr>
          <p:spPr>
            <a:xfrm>
              <a:off x="5533244" y="2926127"/>
              <a:ext cx="37565" cy="2395484"/>
            </a:xfrm>
            <a:custGeom>
              <a:avLst/>
              <a:gdLst/>
              <a:ahLst/>
              <a:cxnLst/>
              <a:rect l="l" t="t" r="r" b="b"/>
              <a:pathLst>
                <a:path w="100173" h="6387957" extrusionOk="0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363" name="Google Shape;363;g3dd6299f58b_0_111"/>
          <p:cNvSpPr/>
          <p:nvPr/>
        </p:nvSpPr>
        <p:spPr>
          <a:xfrm>
            <a:off x="0" y="-699"/>
            <a:ext cx="12192000" cy="6462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2. Presentation Flow (Architecture, Implementation &amp; Results)</a:t>
            </a:r>
          </a:p>
        </p:txBody>
      </p:sp>
      <p:sp>
        <p:nvSpPr>
          <p:cNvPr id="364" name="Google Shape;364;g3dd6299f58b_0_111"/>
          <p:cNvSpPr/>
          <p:nvPr/>
        </p:nvSpPr>
        <p:spPr>
          <a:xfrm>
            <a:off x="4815840" y="2149902"/>
            <a:ext cx="1280100" cy="1282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g3dd6299f58b_0_111"/>
          <p:cNvSpPr/>
          <p:nvPr/>
        </p:nvSpPr>
        <p:spPr>
          <a:xfrm>
            <a:off x="6096000" y="2149902"/>
            <a:ext cx="1280100" cy="1282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g3dd6299f58b_0_111"/>
          <p:cNvSpPr/>
          <p:nvPr/>
        </p:nvSpPr>
        <p:spPr>
          <a:xfrm>
            <a:off x="4815840" y="3432791"/>
            <a:ext cx="1280100" cy="1282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g3dd6299f58b_0_111"/>
          <p:cNvSpPr/>
          <p:nvPr/>
        </p:nvSpPr>
        <p:spPr>
          <a:xfrm>
            <a:off x="6096000" y="3432791"/>
            <a:ext cx="1280100" cy="1282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g3dd6299f58b_0_111"/>
          <p:cNvSpPr/>
          <p:nvPr/>
        </p:nvSpPr>
        <p:spPr>
          <a:xfrm>
            <a:off x="7376160" y="2151266"/>
            <a:ext cx="1692300" cy="1280100"/>
          </a:xfrm>
          <a:prstGeom prst="homePlate">
            <a:avLst>
              <a:gd name="adj" fmla="val 36141"/>
            </a:avLst>
          </a:prstGeom>
          <a:solidFill>
            <a:srgbClr val="7B7B7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g3dd6299f58b_0_111"/>
          <p:cNvSpPr/>
          <p:nvPr/>
        </p:nvSpPr>
        <p:spPr>
          <a:xfrm rot="10800000">
            <a:off x="3123540" y="3434215"/>
            <a:ext cx="1692300" cy="1280100"/>
          </a:xfrm>
          <a:prstGeom prst="homePlate">
            <a:avLst>
              <a:gd name="adj" fmla="val 36141"/>
            </a:avLst>
          </a:prstGeom>
          <a:solidFill>
            <a:srgbClr val="2F549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0" name="Google Shape;370;g3dd6299f58b_0_111"/>
          <p:cNvPicPr preferRelativeResize="0"/>
          <p:nvPr/>
        </p:nvPicPr>
        <p:blipFill rotWithShape="1">
          <a:blip r:embed="rId3">
            <a:alphaModFix/>
          </a:blip>
          <a:srcRect b="62941"/>
          <a:stretch/>
        </p:blipFill>
        <p:spPr>
          <a:xfrm>
            <a:off x="6096001" y="4715680"/>
            <a:ext cx="1280161" cy="214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g3dd6299f58b_0_111"/>
          <p:cNvPicPr preferRelativeResize="0"/>
          <p:nvPr/>
        </p:nvPicPr>
        <p:blipFill rotWithShape="1">
          <a:blip r:embed="rId3">
            <a:alphaModFix/>
          </a:blip>
          <a:srcRect b="62941"/>
          <a:stretch/>
        </p:blipFill>
        <p:spPr>
          <a:xfrm rot="5400000">
            <a:off x="4068625" y="3964372"/>
            <a:ext cx="1280161" cy="214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g3dd6299f58b_0_111"/>
          <p:cNvPicPr preferRelativeResize="0"/>
          <p:nvPr/>
        </p:nvPicPr>
        <p:blipFill rotWithShape="1">
          <a:blip r:embed="rId3">
            <a:alphaModFix/>
          </a:blip>
          <a:srcRect b="62941"/>
          <a:stretch/>
        </p:blipFill>
        <p:spPr>
          <a:xfrm rot="-5400000">
            <a:off x="6843215" y="2682848"/>
            <a:ext cx="1280159" cy="214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g3dd6299f58b_0_111"/>
          <p:cNvPicPr preferRelativeResize="0"/>
          <p:nvPr/>
        </p:nvPicPr>
        <p:blipFill rotWithShape="1">
          <a:blip r:embed="rId3">
            <a:alphaModFix/>
          </a:blip>
          <a:srcRect b="62941"/>
          <a:stretch/>
        </p:blipFill>
        <p:spPr>
          <a:xfrm rot="10800000">
            <a:off x="4815840" y="1934268"/>
            <a:ext cx="1280159" cy="21427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g3dd6299f58b_0_111"/>
          <p:cNvSpPr txBox="1"/>
          <p:nvPr/>
        </p:nvSpPr>
        <p:spPr>
          <a:xfrm>
            <a:off x="4815838" y="958648"/>
            <a:ext cx="12801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sz="60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g3dd6299f58b_0_111"/>
          <p:cNvSpPr txBox="1"/>
          <p:nvPr/>
        </p:nvSpPr>
        <p:spPr>
          <a:xfrm>
            <a:off x="7483294" y="2282149"/>
            <a:ext cx="12801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sz="60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g3dd6299f58b_0_111"/>
          <p:cNvSpPr txBox="1"/>
          <p:nvPr/>
        </p:nvSpPr>
        <p:spPr>
          <a:xfrm>
            <a:off x="6095999" y="4927086"/>
            <a:ext cx="12801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sz="60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g3dd6299f58b_0_111"/>
          <p:cNvSpPr txBox="1"/>
          <p:nvPr/>
        </p:nvSpPr>
        <p:spPr>
          <a:xfrm>
            <a:off x="3436733" y="3563674"/>
            <a:ext cx="12801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sz="60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g3dd6299f58b_0_111"/>
          <p:cNvSpPr/>
          <p:nvPr/>
        </p:nvSpPr>
        <p:spPr>
          <a:xfrm>
            <a:off x="6153801" y="1197297"/>
            <a:ext cx="36105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Modeling and Algorithm</a:t>
            </a:r>
            <a:endParaRPr sz="1800" b="1">
              <a:solidFill>
                <a:srgbClr val="C55A1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800" b="1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Development</a:t>
            </a:r>
            <a:endParaRPr sz="1800" b="1">
              <a:solidFill>
                <a:srgbClr val="C55A1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9" name="Google Shape;379;g3dd6299f58b_0_111"/>
          <p:cNvSpPr/>
          <p:nvPr/>
        </p:nvSpPr>
        <p:spPr>
          <a:xfrm>
            <a:off x="7670550" y="3442100"/>
            <a:ext cx="39117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7B7B7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 of Project Features</a:t>
            </a:r>
            <a:endParaRPr sz="1800" b="1">
              <a:solidFill>
                <a:srgbClr val="7B7B7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0" name="Google Shape;380;g3dd6299f58b_0_111"/>
          <p:cNvSpPr/>
          <p:nvPr/>
        </p:nvSpPr>
        <p:spPr>
          <a:xfrm>
            <a:off x="2543292" y="4924210"/>
            <a:ext cx="36105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and Outcomes</a:t>
            </a:r>
            <a:endParaRPr sz="1800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g3dd6299f58b_0_111"/>
          <p:cNvSpPr/>
          <p:nvPr/>
        </p:nvSpPr>
        <p:spPr>
          <a:xfrm>
            <a:off x="1051201" y="2489600"/>
            <a:ext cx="40029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Analysis of Developed Solution (Strengths &amp; Weaknesses)</a:t>
            </a:r>
            <a:endParaRPr sz="1800">
              <a:solidFill>
                <a:srgbClr val="0000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g3dd6299f58b_0_111"/>
          <p:cNvSpPr/>
          <p:nvPr/>
        </p:nvSpPr>
        <p:spPr>
          <a:xfrm>
            <a:off x="5133215" y="3730542"/>
            <a:ext cx="668336" cy="687388"/>
          </a:xfrm>
          <a:custGeom>
            <a:avLst/>
            <a:gdLst/>
            <a:ahLst/>
            <a:cxnLst/>
            <a:rect l="l" t="t" r="r" b="b"/>
            <a:pathLst>
              <a:path w="3366" h="3464" extrusionOk="0">
                <a:moveTo>
                  <a:pt x="1323" y="1647"/>
                </a:moveTo>
                <a:lnTo>
                  <a:pt x="1078" y="2244"/>
                </a:lnTo>
                <a:lnTo>
                  <a:pt x="1207" y="2372"/>
                </a:lnTo>
                <a:lnTo>
                  <a:pt x="1804" y="2131"/>
                </a:lnTo>
                <a:lnTo>
                  <a:pt x="1323" y="1647"/>
                </a:lnTo>
                <a:close/>
                <a:moveTo>
                  <a:pt x="1741" y="452"/>
                </a:moveTo>
                <a:lnTo>
                  <a:pt x="1741" y="927"/>
                </a:lnTo>
                <a:lnTo>
                  <a:pt x="1878" y="927"/>
                </a:lnTo>
                <a:lnTo>
                  <a:pt x="2041" y="763"/>
                </a:lnTo>
                <a:lnTo>
                  <a:pt x="1741" y="452"/>
                </a:lnTo>
                <a:close/>
                <a:moveTo>
                  <a:pt x="281" y="281"/>
                </a:moveTo>
                <a:lnTo>
                  <a:pt x="281" y="3183"/>
                </a:lnTo>
                <a:lnTo>
                  <a:pt x="2387" y="3183"/>
                </a:lnTo>
                <a:lnTo>
                  <a:pt x="2387" y="1716"/>
                </a:lnTo>
                <a:lnTo>
                  <a:pt x="2088" y="2014"/>
                </a:lnTo>
                <a:lnTo>
                  <a:pt x="2088" y="2021"/>
                </a:lnTo>
                <a:lnTo>
                  <a:pt x="2082" y="2021"/>
                </a:lnTo>
                <a:lnTo>
                  <a:pt x="1886" y="2215"/>
                </a:lnTo>
                <a:lnTo>
                  <a:pt x="1275" y="2463"/>
                </a:lnTo>
                <a:lnTo>
                  <a:pt x="2088" y="2463"/>
                </a:lnTo>
                <a:lnTo>
                  <a:pt x="2088" y="2604"/>
                </a:lnTo>
                <a:lnTo>
                  <a:pt x="580" y="2604"/>
                </a:lnTo>
                <a:lnTo>
                  <a:pt x="580" y="2463"/>
                </a:lnTo>
                <a:lnTo>
                  <a:pt x="870" y="2463"/>
                </a:lnTo>
                <a:lnTo>
                  <a:pt x="1052" y="2021"/>
                </a:lnTo>
                <a:lnTo>
                  <a:pt x="580" y="2021"/>
                </a:lnTo>
                <a:lnTo>
                  <a:pt x="580" y="1880"/>
                </a:lnTo>
                <a:lnTo>
                  <a:pt x="1110" y="1880"/>
                </a:lnTo>
                <a:lnTo>
                  <a:pt x="1238" y="1564"/>
                </a:lnTo>
                <a:lnTo>
                  <a:pt x="1366" y="1438"/>
                </a:lnTo>
                <a:lnTo>
                  <a:pt x="580" y="1438"/>
                </a:lnTo>
                <a:lnTo>
                  <a:pt x="580" y="1296"/>
                </a:lnTo>
                <a:lnTo>
                  <a:pt x="1506" y="1296"/>
                </a:lnTo>
                <a:lnTo>
                  <a:pt x="1666" y="1138"/>
                </a:lnTo>
                <a:lnTo>
                  <a:pt x="1532" y="1138"/>
                </a:lnTo>
                <a:lnTo>
                  <a:pt x="1532" y="281"/>
                </a:lnTo>
                <a:lnTo>
                  <a:pt x="281" y="281"/>
                </a:lnTo>
                <a:close/>
                <a:moveTo>
                  <a:pt x="0" y="0"/>
                </a:moveTo>
                <a:lnTo>
                  <a:pt x="1696" y="0"/>
                </a:lnTo>
                <a:lnTo>
                  <a:pt x="2241" y="565"/>
                </a:lnTo>
                <a:lnTo>
                  <a:pt x="2637" y="171"/>
                </a:lnTo>
                <a:lnTo>
                  <a:pt x="2661" y="150"/>
                </a:lnTo>
                <a:lnTo>
                  <a:pt x="2686" y="131"/>
                </a:lnTo>
                <a:lnTo>
                  <a:pt x="2712" y="117"/>
                </a:lnTo>
                <a:lnTo>
                  <a:pt x="2739" y="104"/>
                </a:lnTo>
                <a:lnTo>
                  <a:pt x="2765" y="97"/>
                </a:lnTo>
                <a:lnTo>
                  <a:pt x="2791" y="91"/>
                </a:lnTo>
                <a:lnTo>
                  <a:pt x="2816" y="90"/>
                </a:lnTo>
                <a:lnTo>
                  <a:pt x="2840" y="93"/>
                </a:lnTo>
                <a:lnTo>
                  <a:pt x="2863" y="100"/>
                </a:lnTo>
                <a:lnTo>
                  <a:pt x="2882" y="110"/>
                </a:lnTo>
                <a:lnTo>
                  <a:pt x="2900" y="125"/>
                </a:lnTo>
                <a:lnTo>
                  <a:pt x="3332" y="558"/>
                </a:lnTo>
                <a:lnTo>
                  <a:pt x="3347" y="578"/>
                </a:lnTo>
                <a:lnTo>
                  <a:pt x="3358" y="600"/>
                </a:lnTo>
                <a:lnTo>
                  <a:pt x="3364" y="626"/>
                </a:lnTo>
                <a:lnTo>
                  <a:pt x="3366" y="652"/>
                </a:lnTo>
                <a:lnTo>
                  <a:pt x="3363" y="680"/>
                </a:lnTo>
                <a:lnTo>
                  <a:pt x="3356" y="710"/>
                </a:lnTo>
                <a:lnTo>
                  <a:pt x="3344" y="739"/>
                </a:lnTo>
                <a:lnTo>
                  <a:pt x="3329" y="767"/>
                </a:lnTo>
                <a:lnTo>
                  <a:pt x="3310" y="796"/>
                </a:lnTo>
                <a:lnTo>
                  <a:pt x="3286" y="822"/>
                </a:lnTo>
                <a:lnTo>
                  <a:pt x="2668" y="1437"/>
                </a:lnTo>
                <a:lnTo>
                  <a:pt x="2668" y="3464"/>
                </a:lnTo>
                <a:lnTo>
                  <a:pt x="0" y="3464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g3dd6299f58b_0_111"/>
          <p:cNvSpPr/>
          <p:nvPr/>
        </p:nvSpPr>
        <p:spPr>
          <a:xfrm>
            <a:off x="5130834" y="2538361"/>
            <a:ext cx="673101" cy="503238"/>
          </a:xfrm>
          <a:custGeom>
            <a:avLst/>
            <a:gdLst/>
            <a:ahLst/>
            <a:cxnLst/>
            <a:rect l="l" t="t" r="r" b="b"/>
            <a:pathLst>
              <a:path w="3390" h="2540" extrusionOk="0">
                <a:moveTo>
                  <a:pt x="2622" y="1219"/>
                </a:moveTo>
                <a:lnTo>
                  <a:pt x="2561" y="1223"/>
                </a:lnTo>
                <a:lnTo>
                  <a:pt x="2503" y="1232"/>
                </a:lnTo>
                <a:lnTo>
                  <a:pt x="2447" y="1248"/>
                </a:lnTo>
                <a:lnTo>
                  <a:pt x="2394" y="1269"/>
                </a:lnTo>
                <a:lnTo>
                  <a:pt x="2343" y="1295"/>
                </a:lnTo>
                <a:lnTo>
                  <a:pt x="2296" y="1326"/>
                </a:lnTo>
                <a:lnTo>
                  <a:pt x="2252" y="1361"/>
                </a:lnTo>
                <a:lnTo>
                  <a:pt x="2212" y="1401"/>
                </a:lnTo>
                <a:lnTo>
                  <a:pt x="2176" y="1446"/>
                </a:lnTo>
                <a:lnTo>
                  <a:pt x="2144" y="1493"/>
                </a:lnTo>
                <a:lnTo>
                  <a:pt x="2118" y="1544"/>
                </a:lnTo>
                <a:lnTo>
                  <a:pt x="2097" y="1597"/>
                </a:lnTo>
                <a:lnTo>
                  <a:pt x="2082" y="1653"/>
                </a:lnTo>
                <a:lnTo>
                  <a:pt x="2073" y="1712"/>
                </a:lnTo>
                <a:lnTo>
                  <a:pt x="2070" y="1772"/>
                </a:lnTo>
                <a:lnTo>
                  <a:pt x="2073" y="1832"/>
                </a:lnTo>
                <a:lnTo>
                  <a:pt x="2082" y="1890"/>
                </a:lnTo>
                <a:lnTo>
                  <a:pt x="2097" y="1947"/>
                </a:lnTo>
                <a:lnTo>
                  <a:pt x="2118" y="1999"/>
                </a:lnTo>
                <a:lnTo>
                  <a:pt x="2144" y="2051"/>
                </a:lnTo>
                <a:lnTo>
                  <a:pt x="2176" y="2098"/>
                </a:lnTo>
                <a:lnTo>
                  <a:pt x="2212" y="2142"/>
                </a:lnTo>
                <a:lnTo>
                  <a:pt x="2252" y="2182"/>
                </a:lnTo>
                <a:lnTo>
                  <a:pt x="2296" y="2218"/>
                </a:lnTo>
                <a:lnTo>
                  <a:pt x="2343" y="2249"/>
                </a:lnTo>
                <a:lnTo>
                  <a:pt x="2394" y="2275"/>
                </a:lnTo>
                <a:lnTo>
                  <a:pt x="2447" y="2296"/>
                </a:lnTo>
                <a:lnTo>
                  <a:pt x="2503" y="2312"/>
                </a:lnTo>
                <a:lnTo>
                  <a:pt x="2561" y="2322"/>
                </a:lnTo>
                <a:lnTo>
                  <a:pt x="2622" y="2325"/>
                </a:lnTo>
                <a:lnTo>
                  <a:pt x="2682" y="2322"/>
                </a:lnTo>
                <a:lnTo>
                  <a:pt x="2740" y="2312"/>
                </a:lnTo>
                <a:lnTo>
                  <a:pt x="2795" y="2296"/>
                </a:lnTo>
                <a:lnTo>
                  <a:pt x="2849" y="2275"/>
                </a:lnTo>
                <a:lnTo>
                  <a:pt x="2900" y="2249"/>
                </a:lnTo>
                <a:lnTo>
                  <a:pt x="2947" y="2218"/>
                </a:lnTo>
                <a:lnTo>
                  <a:pt x="2991" y="2182"/>
                </a:lnTo>
                <a:lnTo>
                  <a:pt x="3031" y="2142"/>
                </a:lnTo>
                <a:lnTo>
                  <a:pt x="3067" y="2098"/>
                </a:lnTo>
                <a:lnTo>
                  <a:pt x="3098" y="2051"/>
                </a:lnTo>
                <a:lnTo>
                  <a:pt x="3125" y="1999"/>
                </a:lnTo>
                <a:lnTo>
                  <a:pt x="3146" y="1947"/>
                </a:lnTo>
                <a:lnTo>
                  <a:pt x="3161" y="1890"/>
                </a:lnTo>
                <a:lnTo>
                  <a:pt x="3170" y="1832"/>
                </a:lnTo>
                <a:lnTo>
                  <a:pt x="3173" y="1772"/>
                </a:lnTo>
                <a:lnTo>
                  <a:pt x="3170" y="1712"/>
                </a:lnTo>
                <a:lnTo>
                  <a:pt x="3161" y="1653"/>
                </a:lnTo>
                <a:lnTo>
                  <a:pt x="3146" y="1597"/>
                </a:lnTo>
                <a:lnTo>
                  <a:pt x="3125" y="1544"/>
                </a:lnTo>
                <a:lnTo>
                  <a:pt x="3098" y="1493"/>
                </a:lnTo>
                <a:lnTo>
                  <a:pt x="3067" y="1446"/>
                </a:lnTo>
                <a:lnTo>
                  <a:pt x="3031" y="1401"/>
                </a:lnTo>
                <a:lnTo>
                  <a:pt x="2991" y="1361"/>
                </a:lnTo>
                <a:lnTo>
                  <a:pt x="2947" y="1326"/>
                </a:lnTo>
                <a:lnTo>
                  <a:pt x="2900" y="1295"/>
                </a:lnTo>
                <a:lnTo>
                  <a:pt x="2849" y="1269"/>
                </a:lnTo>
                <a:lnTo>
                  <a:pt x="2795" y="1248"/>
                </a:lnTo>
                <a:lnTo>
                  <a:pt x="2740" y="1232"/>
                </a:lnTo>
                <a:lnTo>
                  <a:pt x="2682" y="1223"/>
                </a:lnTo>
                <a:lnTo>
                  <a:pt x="2622" y="1219"/>
                </a:lnTo>
                <a:close/>
                <a:moveTo>
                  <a:pt x="767" y="1219"/>
                </a:moveTo>
                <a:lnTo>
                  <a:pt x="707" y="1223"/>
                </a:lnTo>
                <a:lnTo>
                  <a:pt x="649" y="1232"/>
                </a:lnTo>
                <a:lnTo>
                  <a:pt x="593" y="1248"/>
                </a:lnTo>
                <a:lnTo>
                  <a:pt x="540" y="1269"/>
                </a:lnTo>
                <a:lnTo>
                  <a:pt x="489" y="1295"/>
                </a:lnTo>
                <a:lnTo>
                  <a:pt x="441" y="1326"/>
                </a:lnTo>
                <a:lnTo>
                  <a:pt x="398" y="1361"/>
                </a:lnTo>
                <a:lnTo>
                  <a:pt x="358" y="1401"/>
                </a:lnTo>
                <a:lnTo>
                  <a:pt x="322" y="1446"/>
                </a:lnTo>
                <a:lnTo>
                  <a:pt x="290" y="1493"/>
                </a:lnTo>
                <a:lnTo>
                  <a:pt x="264" y="1544"/>
                </a:lnTo>
                <a:lnTo>
                  <a:pt x="243" y="1597"/>
                </a:lnTo>
                <a:lnTo>
                  <a:pt x="228" y="1653"/>
                </a:lnTo>
                <a:lnTo>
                  <a:pt x="219" y="1712"/>
                </a:lnTo>
                <a:lnTo>
                  <a:pt x="216" y="1772"/>
                </a:lnTo>
                <a:lnTo>
                  <a:pt x="219" y="1832"/>
                </a:lnTo>
                <a:lnTo>
                  <a:pt x="228" y="1890"/>
                </a:lnTo>
                <a:lnTo>
                  <a:pt x="243" y="1947"/>
                </a:lnTo>
                <a:lnTo>
                  <a:pt x="264" y="1999"/>
                </a:lnTo>
                <a:lnTo>
                  <a:pt x="290" y="2051"/>
                </a:lnTo>
                <a:lnTo>
                  <a:pt x="322" y="2098"/>
                </a:lnTo>
                <a:lnTo>
                  <a:pt x="358" y="2142"/>
                </a:lnTo>
                <a:lnTo>
                  <a:pt x="398" y="2182"/>
                </a:lnTo>
                <a:lnTo>
                  <a:pt x="441" y="2218"/>
                </a:lnTo>
                <a:lnTo>
                  <a:pt x="489" y="2249"/>
                </a:lnTo>
                <a:lnTo>
                  <a:pt x="540" y="2275"/>
                </a:lnTo>
                <a:lnTo>
                  <a:pt x="593" y="2296"/>
                </a:lnTo>
                <a:lnTo>
                  <a:pt x="649" y="2312"/>
                </a:lnTo>
                <a:lnTo>
                  <a:pt x="707" y="2322"/>
                </a:lnTo>
                <a:lnTo>
                  <a:pt x="767" y="2325"/>
                </a:lnTo>
                <a:lnTo>
                  <a:pt x="828" y="2322"/>
                </a:lnTo>
                <a:lnTo>
                  <a:pt x="886" y="2312"/>
                </a:lnTo>
                <a:lnTo>
                  <a:pt x="942" y="2296"/>
                </a:lnTo>
                <a:lnTo>
                  <a:pt x="995" y="2275"/>
                </a:lnTo>
                <a:lnTo>
                  <a:pt x="1046" y="2249"/>
                </a:lnTo>
                <a:lnTo>
                  <a:pt x="1093" y="2218"/>
                </a:lnTo>
                <a:lnTo>
                  <a:pt x="1137" y="2182"/>
                </a:lnTo>
                <a:lnTo>
                  <a:pt x="1177" y="2142"/>
                </a:lnTo>
                <a:lnTo>
                  <a:pt x="1213" y="2098"/>
                </a:lnTo>
                <a:lnTo>
                  <a:pt x="1245" y="2051"/>
                </a:lnTo>
                <a:lnTo>
                  <a:pt x="1271" y="1999"/>
                </a:lnTo>
                <a:lnTo>
                  <a:pt x="1292" y="1947"/>
                </a:lnTo>
                <a:lnTo>
                  <a:pt x="1307" y="1890"/>
                </a:lnTo>
                <a:lnTo>
                  <a:pt x="1316" y="1832"/>
                </a:lnTo>
                <a:lnTo>
                  <a:pt x="1319" y="1772"/>
                </a:lnTo>
                <a:lnTo>
                  <a:pt x="1316" y="1712"/>
                </a:lnTo>
                <a:lnTo>
                  <a:pt x="1307" y="1653"/>
                </a:lnTo>
                <a:lnTo>
                  <a:pt x="1292" y="1597"/>
                </a:lnTo>
                <a:lnTo>
                  <a:pt x="1271" y="1544"/>
                </a:lnTo>
                <a:lnTo>
                  <a:pt x="1245" y="1493"/>
                </a:lnTo>
                <a:lnTo>
                  <a:pt x="1213" y="1446"/>
                </a:lnTo>
                <a:lnTo>
                  <a:pt x="1177" y="1401"/>
                </a:lnTo>
                <a:lnTo>
                  <a:pt x="1137" y="1361"/>
                </a:lnTo>
                <a:lnTo>
                  <a:pt x="1093" y="1326"/>
                </a:lnTo>
                <a:lnTo>
                  <a:pt x="1046" y="1295"/>
                </a:lnTo>
                <a:lnTo>
                  <a:pt x="995" y="1269"/>
                </a:lnTo>
                <a:lnTo>
                  <a:pt x="942" y="1248"/>
                </a:lnTo>
                <a:lnTo>
                  <a:pt x="886" y="1232"/>
                </a:lnTo>
                <a:lnTo>
                  <a:pt x="828" y="1223"/>
                </a:lnTo>
                <a:lnTo>
                  <a:pt x="767" y="1219"/>
                </a:lnTo>
                <a:close/>
                <a:moveTo>
                  <a:pt x="1695" y="886"/>
                </a:moveTo>
                <a:lnTo>
                  <a:pt x="1647" y="887"/>
                </a:lnTo>
                <a:lnTo>
                  <a:pt x="1599" y="891"/>
                </a:lnTo>
                <a:lnTo>
                  <a:pt x="1556" y="896"/>
                </a:lnTo>
                <a:lnTo>
                  <a:pt x="1514" y="905"/>
                </a:lnTo>
                <a:lnTo>
                  <a:pt x="1476" y="915"/>
                </a:lnTo>
                <a:lnTo>
                  <a:pt x="1442" y="927"/>
                </a:lnTo>
                <a:lnTo>
                  <a:pt x="1412" y="941"/>
                </a:lnTo>
                <a:lnTo>
                  <a:pt x="1387" y="956"/>
                </a:lnTo>
                <a:lnTo>
                  <a:pt x="1366" y="973"/>
                </a:lnTo>
                <a:lnTo>
                  <a:pt x="1350" y="991"/>
                </a:lnTo>
                <a:lnTo>
                  <a:pt x="1340" y="1009"/>
                </a:lnTo>
                <a:lnTo>
                  <a:pt x="1337" y="1029"/>
                </a:lnTo>
                <a:lnTo>
                  <a:pt x="1340" y="1048"/>
                </a:lnTo>
                <a:lnTo>
                  <a:pt x="1350" y="1067"/>
                </a:lnTo>
                <a:lnTo>
                  <a:pt x="1366" y="1085"/>
                </a:lnTo>
                <a:lnTo>
                  <a:pt x="1387" y="1100"/>
                </a:lnTo>
                <a:lnTo>
                  <a:pt x="1412" y="1116"/>
                </a:lnTo>
                <a:lnTo>
                  <a:pt x="1442" y="1130"/>
                </a:lnTo>
                <a:lnTo>
                  <a:pt x="1476" y="1143"/>
                </a:lnTo>
                <a:lnTo>
                  <a:pt x="1514" y="1152"/>
                </a:lnTo>
                <a:lnTo>
                  <a:pt x="1556" y="1160"/>
                </a:lnTo>
                <a:lnTo>
                  <a:pt x="1599" y="1167"/>
                </a:lnTo>
                <a:lnTo>
                  <a:pt x="1647" y="1171"/>
                </a:lnTo>
                <a:lnTo>
                  <a:pt x="1695" y="1172"/>
                </a:lnTo>
                <a:lnTo>
                  <a:pt x="1743" y="1171"/>
                </a:lnTo>
                <a:lnTo>
                  <a:pt x="1790" y="1167"/>
                </a:lnTo>
                <a:lnTo>
                  <a:pt x="1834" y="1160"/>
                </a:lnTo>
                <a:lnTo>
                  <a:pt x="1875" y="1152"/>
                </a:lnTo>
                <a:lnTo>
                  <a:pt x="1913" y="1143"/>
                </a:lnTo>
                <a:lnTo>
                  <a:pt x="1947" y="1130"/>
                </a:lnTo>
                <a:lnTo>
                  <a:pt x="1978" y="1116"/>
                </a:lnTo>
                <a:lnTo>
                  <a:pt x="2003" y="1100"/>
                </a:lnTo>
                <a:lnTo>
                  <a:pt x="2024" y="1085"/>
                </a:lnTo>
                <a:lnTo>
                  <a:pt x="2039" y="1067"/>
                </a:lnTo>
                <a:lnTo>
                  <a:pt x="2048" y="1048"/>
                </a:lnTo>
                <a:lnTo>
                  <a:pt x="2052" y="1029"/>
                </a:lnTo>
                <a:lnTo>
                  <a:pt x="2048" y="1009"/>
                </a:lnTo>
                <a:lnTo>
                  <a:pt x="2039" y="991"/>
                </a:lnTo>
                <a:lnTo>
                  <a:pt x="2024" y="973"/>
                </a:lnTo>
                <a:lnTo>
                  <a:pt x="2003" y="956"/>
                </a:lnTo>
                <a:lnTo>
                  <a:pt x="1978" y="941"/>
                </a:lnTo>
                <a:lnTo>
                  <a:pt x="1947" y="927"/>
                </a:lnTo>
                <a:lnTo>
                  <a:pt x="1913" y="915"/>
                </a:lnTo>
                <a:lnTo>
                  <a:pt x="1875" y="905"/>
                </a:lnTo>
                <a:lnTo>
                  <a:pt x="1834" y="896"/>
                </a:lnTo>
                <a:lnTo>
                  <a:pt x="1790" y="891"/>
                </a:lnTo>
                <a:lnTo>
                  <a:pt x="1743" y="887"/>
                </a:lnTo>
                <a:lnTo>
                  <a:pt x="1695" y="886"/>
                </a:lnTo>
                <a:close/>
                <a:moveTo>
                  <a:pt x="2260" y="260"/>
                </a:moveTo>
                <a:lnTo>
                  <a:pt x="2211" y="261"/>
                </a:lnTo>
                <a:lnTo>
                  <a:pt x="2164" y="268"/>
                </a:lnTo>
                <a:lnTo>
                  <a:pt x="2121" y="278"/>
                </a:lnTo>
                <a:lnTo>
                  <a:pt x="2080" y="294"/>
                </a:lnTo>
                <a:lnTo>
                  <a:pt x="2043" y="315"/>
                </a:lnTo>
                <a:lnTo>
                  <a:pt x="2008" y="340"/>
                </a:lnTo>
                <a:lnTo>
                  <a:pt x="1977" y="371"/>
                </a:lnTo>
                <a:lnTo>
                  <a:pt x="1950" y="406"/>
                </a:lnTo>
                <a:lnTo>
                  <a:pt x="1944" y="417"/>
                </a:lnTo>
                <a:lnTo>
                  <a:pt x="1943" y="429"/>
                </a:lnTo>
                <a:lnTo>
                  <a:pt x="1945" y="441"/>
                </a:lnTo>
                <a:lnTo>
                  <a:pt x="1951" y="452"/>
                </a:lnTo>
                <a:lnTo>
                  <a:pt x="1960" y="461"/>
                </a:lnTo>
                <a:lnTo>
                  <a:pt x="1972" y="467"/>
                </a:lnTo>
                <a:lnTo>
                  <a:pt x="1983" y="469"/>
                </a:lnTo>
                <a:lnTo>
                  <a:pt x="1996" y="467"/>
                </a:lnTo>
                <a:lnTo>
                  <a:pt x="2007" y="460"/>
                </a:lnTo>
                <a:lnTo>
                  <a:pt x="2016" y="451"/>
                </a:lnTo>
                <a:lnTo>
                  <a:pt x="2040" y="421"/>
                </a:lnTo>
                <a:lnTo>
                  <a:pt x="2068" y="396"/>
                </a:lnTo>
                <a:lnTo>
                  <a:pt x="2099" y="375"/>
                </a:lnTo>
                <a:lnTo>
                  <a:pt x="2134" y="359"/>
                </a:lnTo>
                <a:lnTo>
                  <a:pt x="2172" y="349"/>
                </a:lnTo>
                <a:lnTo>
                  <a:pt x="2212" y="342"/>
                </a:lnTo>
                <a:lnTo>
                  <a:pt x="2256" y="340"/>
                </a:lnTo>
                <a:lnTo>
                  <a:pt x="2283" y="342"/>
                </a:lnTo>
                <a:lnTo>
                  <a:pt x="2308" y="344"/>
                </a:lnTo>
                <a:lnTo>
                  <a:pt x="2333" y="349"/>
                </a:lnTo>
                <a:lnTo>
                  <a:pt x="2354" y="353"/>
                </a:lnTo>
                <a:lnTo>
                  <a:pt x="2371" y="357"/>
                </a:lnTo>
                <a:lnTo>
                  <a:pt x="2387" y="361"/>
                </a:lnTo>
                <a:lnTo>
                  <a:pt x="2399" y="366"/>
                </a:lnTo>
                <a:lnTo>
                  <a:pt x="2406" y="368"/>
                </a:lnTo>
                <a:lnTo>
                  <a:pt x="2409" y="369"/>
                </a:lnTo>
                <a:lnTo>
                  <a:pt x="2422" y="372"/>
                </a:lnTo>
                <a:lnTo>
                  <a:pt x="2435" y="371"/>
                </a:lnTo>
                <a:lnTo>
                  <a:pt x="2446" y="366"/>
                </a:lnTo>
                <a:lnTo>
                  <a:pt x="2455" y="357"/>
                </a:lnTo>
                <a:lnTo>
                  <a:pt x="2462" y="346"/>
                </a:lnTo>
                <a:lnTo>
                  <a:pt x="2464" y="333"/>
                </a:lnTo>
                <a:lnTo>
                  <a:pt x="2463" y="321"/>
                </a:lnTo>
                <a:lnTo>
                  <a:pt x="2458" y="310"/>
                </a:lnTo>
                <a:lnTo>
                  <a:pt x="2450" y="300"/>
                </a:lnTo>
                <a:lnTo>
                  <a:pt x="2439" y="294"/>
                </a:lnTo>
                <a:lnTo>
                  <a:pt x="2435" y="292"/>
                </a:lnTo>
                <a:lnTo>
                  <a:pt x="2426" y="289"/>
                </a:lnTo>
                <a:lnTo>
                  <a:pt x="2413" y="284"/>
                </a:lnTo>
                <a:lnTo>
                  <a:pt x="2395" y="280"/>
                </a:lnTo>
                <a:lnTo>
                  <a:pt x="2374" y="275"/>
                </a:lnTo>
                <a:lnTo>
                  <a:pt x="2349" y="270"/>
                </a:lnTo>
                <a:lnTo>
                  <a:pt x="2322" y="266"/>
                </a:lnTo>
                <a:lnTo>
                  <a:pt x="2292" y="261"/>
                </a:lnTo>
                <a:lnTo>
                  <a:pt x="2260" y="260"/>
                </a:lnTo>
                <a:close/>
                <a:moveTo>
                  <a:pt x="1130" y="260"/>
                </a:moveTo>
                <a:lnTo>
                  <a:pt x="1097" y="261"/>
                </a:lnTo>
                <a:lnTo>
                  <a:pt x="1068" y="266"/>
                </a:lnTo>
                <a:lnTo>
                  <a:pt x="1041" y="270"/>
                </a:lnTo>
                <a:lnTo>
                  <a:pt x="1015" y="275"/>
                </a:lnTo>
                <a:lnTo>
                  <a:pt x="994" y="280"/>
                </a:lnTo>
                <a:lnTo>
                  <a:pt x="976" y="284"/>
                </a:lnTo>
                <a:lnTo>
                  <a:pt x="964" y="289"/>
                </a:lnTo>
                <a:lnTo>
                  <a:pt x="954" y="292"/>
                </a:lnTo>
                <a:lnTo>
                  <a:pt x="951" y="294"/>
                </a:lnTo>
                <a:lnTo>
                  <a:pt x="940" y="300"/>
                </a:lnTo>
                <a:lnTo>
                  <a:pt x="931" y="310"/>
                </a:lnTo>
                <a:lnTo>
                  <a:pt x="927" y="321"/>
                </a:lnTo>
                <a:lnTo>
                  <a:pt x="925" y="333"/>
                </a:lnTo>
                <a:lnTo>
                  <a:pt x="928" y="346"/>
                </a:lnTo>
                <a:lnTo>
                  <a:pt x="934" y="357"/>
                </a:lnTo>
                <a:lnTo>
                  <a:pt x="944" y="366"/>
                </a:lnTo>
                <a:lnTo>
                  <a:pt x="955" y="371"/>
                </a:lnTo>
                <a:lnTo>
                  <a:pt x="968" y="372"/>
                </a:lnTo>
                <a:lnTo>
                  <a:pt x="981" y="369"/>
                </a:lnTo>
                <a:lnTo>
                  <a:pt x="983" y="368"/>
                </a:lnTo>
                <a:lnTo>
                  <a:pt x="990" y="366"/>
                </a:lnTo>
                <a:lnTo>
                  <a:pt x="1002" y="362"/>
                </a:lnTo>
                <a:lnTo>
                  <a:pt x="1016" y="358"/>
                </a:lnTo>
                <a:lnTo>
                  <a:pt x="1034" y="353"/>
                </a:lnTo>
                <a:lnTo>
                  <a:pt x="1055" y="349"/>
                </a:lnTo>
                <a:lnTo>
                  <a:pt x="1078" y="346"/>
                </a:lnTo>
                <a:lnTo>
                  <a:pt x="1103" y="342"/>
                </a:lnTo>
                <a:lnTo>
                  <a:pt x="1130" y="341"/>
                </a:lnTo>
                <a:lnTo>
                  <a:pt x="1157" y="341"/>
                </a:lnTo>
                <a:lnTo>
                  <a:pt x="1186" y="343"/>
                </a:lnTo>
                <a:lnTo>
                  <a:pt x="1215" y="348"/>
                </a:lnTo>
                <a:lnTo>
                  <a:pt x="1244" y="356"/>
                </a:lnTo>
                <a:lnTo>
                  <a:pt x="1272" y="367"/>
                </a:lnTo>
                <a:lnTo>
                  <a:pt x="1300" y="381"/>
                </a:lnTo>
                <a:lnTo>
                  <a:pt x="1326" y="400"/>
                </a:lnTo>
                <a:lnTo>
                  <a:pt x="1351" y="423"/>
                </a:lnTo>
                <a:lnTo>
                  <a:pt x="1373" y="451"/>
                </a:lnTo>
                <a:lnTo>
                  <a:pt x="1382" y="460"/>
                </a:lnTo>
                <a:lnTo>
                  <a:pt x="1394" y="467"/>
                </a:lnTo>
                <a:lnTo>
                  <a:pt x="1407" y="469"/>
                </a:lnTo>
                <a:lnTo>
                  <a:pt x="1418" y="467"/>
                </a:lnTo>
                <a:lnTo>
                  <a:pt x="1430" y="461"/>
                </a:lnTo>
                <a:lnTo>
                  <a:pt x="1439" y="452"/>
                </a:lnTo>
                <a:lnTo>
                  <a:pt x="1445" y="441"/>
                </a:lnTo>
                <a:lnTo>
                  <a:pt x="1447" y="429"/>
                </a:lnTo>
                <a:lnTo>
                  <a:pt x="1446" y="416"/>
                </a:lnTo>
                <a:lnTo>
                  <a:pt x="1439" y="404"/>
                </a:lnTo>
                <a:lnTo>
                  <a:pt x="1412" y="370"/>
                </a:lnTo>
                <a:lnTo>
                  <a:pt x="1381" y="340"/>
                </a:lnTo>
                <a:lnTo>
                  <a:pt x="1347" y="315"/>
                </a:lnTo>
                <a:lnTo>
                  <a:pt x="1309" y="294"/>
                </a:lnTo>
                <a:lnTo>
                  <a:pt x="1269" y="278"/>
                </a:lnTo>
                <a:lnTo>
                  <a:pt x="1225" y="268"/>
                </a:lnTo>
                <a:lnTo>
                  <a:pt x="1178" y="261"/>
                </a:lnTo>
                <a:lnTo>
                  <a:pt x="1130" y="260"/>
                </a:lnTo>
                <a:close/>
                <a:moveTo>
                  <a:pt x="1249" y="0"/>
                </a:moveTo>
                <a:lnTo>
                  <a:pt x="1288" y="3"/>
                </a:lnTo>
                <a:lnTo>
                  <a:pt x="1326" y="12"/>
                </a:lnTo>
                <a:lnTo>
                  <a:pt x="1361" y="25"/>
                </a:lnTo>
                <a:lnTo>
                  <a:pt x="1394" y="44"/>
                </a:lnTo>
                <a:lnTo>
                  <a:pt x="1424" y="67"/>
                </a:lnTo>
                <a:lnTo>
                  <a:pt x="1449" y="92"/>
                </a:lnTo>
                <a:lnTo>
                  <a:pt x="1470" y="121"/>
                </a:lnTo>
                <a:lnTo>
                  <a:pt x="1485" y="153"/>
                </a:lnTo>
                <a:lnTo>
                  <a:pt x="1494" y="186"/>
                </a:lnTo>
                <a:lnTo>
                  <a:pt x="1495" y="194"/>
                </a:lnTo>
                <a:lnTo>
                  <a:pt x="1496" y="209"/>
                </a:lnTo>
                <a:lnTo>
                  <a:pt x="1498" y="230"/>
                </a:lnTo>
                <a:lnTo>
                  <a:pt x="1500" y="257"/>
                </a:lnTo>
                <a:lnTo>
                  <a:pt x="1502" y="289"/>
                </a:lnTo>
                <a:lnTo>
                  <a:pt x="1505" y="324"/>
                </a:lnTo>
                <a:lnTo>
                  <a:pt x="1508" y="364"/>
                </a:lnTo>
                <a:lnTo>
                  <a:pt x="1511" y="406"/>
                </a:lnTo>
                <a:lnTo>
                  <a:pt x="1513" y="450"/>
                </a:lnTo>
                <a:lnTo>
                  <a:pt x="1516" y="494"/>
                </a:lnTo>
                <a:lnTo>
                  <a:pt x="1519" y="539"/>
                </a:lnTo>
                <a:lnTo>
                  <a:pt x="1521" y="583"/>
                </a:lnTo>
                <a:lnTo>
                  <a:pt x="1525" y="626"/>
                </a:lnTo>
                <a:lnTo>
                  <a:pt x="1527" y="667"/>
                </a:lnTo>
                <a:lnTo>
                  <a:pt x="1529" y="705"/>
                </a:lnTo>
                <a:lnTo>
                  <a:pt x="1547" y="703"/>
                </a:lnTo>
                <a:lnTo>
                  <a:pt x="1561" y="699"/>
                </a:lnTo>
                <a:lnTo>
                  <a:pt x="1573" y="693"/>
                </a:lnTo>
                <a:lnTo>
                  <a:pt x="1582" y="685"/>
                </a:lnTo>
                <a:lnTo>
                  <a:pt x="1591" y="675"/>
                </a:lnTo>
                <a:lnTo>
                  <a:pt x="1599" y="665"/>
                </a:lnTo>
                <a:lnTo>
                  <a:pt x="1607" y="652"/>
                </a:lnTo>
                <a:lnTo>
                  <a:pt x="1615" y="639"/>
                </a:lnTo>
                <a:lnTo>
                  <a:pt x="1626" y="626"/>
                </a:lnTo>
                <a:lnTo>
                  <a:pt x="1638" y="613"/>
                </a:lnTo>
                <a:lnTo>
                  <a:pt x="1643" y="610"/>
                </a:lnTo>
                <a:lnTo>
                  <a:pt x="1654" y="609"/>
                </a:lnTo>
                <a:lnTo>
                  <a:pt x="1669" y="607"/>
                </a:lnTo>
                <a:lnTo>
                  <a:pt x="1685" y="607"/>
                </a:lnTo>
                <a:lnTo>
                  <a:pt x="1703" y="607"/>
                </a:lnTo>
                <a:lnTo>
                  <a:pt x="1720" y="607"/>
                </a:lnTo>
                <a:lnTo>
                  <a:pt x="1735" y="609"/>
                </a:lnTo>
                <a:lnTo>
                  <a:pt x="1745" y="610"/>
                </a:lnTo>
                <a:lnTo>
                  <a:pt x="1752" y="613"/>
                </a:lnTo>
                <a:lnTo>
                  <a:pt x="1764" y="626"/>
                </a:lnTo>
                <a:lnTo>
                  <a:pt x="1774" y="639"/>
                </a:lnTo>
                <a:lnTo>
                  <a:pt x="1782" y="652"/>
                </a:lnTo>
                <a:lnTo>
                  <a:pt x="1791" y="665"/>
                </a:lnTo>
                <a:lnTo>
                  <a:pt x="1798" y="675"/>
                </a:lnTo>
                <a:lnTo>
                  <a:pt x="1806" y="685"/>
                </a:lnTo>
                <a:lnTo>
                  <a:pt x="1816" y="693"/>
                </a:lnTo>
                <a:lnTo>
                  <a:pt x="1828" y="699"/>
                </a:lnTo>
                <a:lnTo>
                  <a:pt x="1842" y="703"/>
                </a:lnTo>
                <a:lnTo>
                  <a:pt x="1860" y="705"/>
                </a:lnTo>
                <a:lnTo>
                  <a:pt x="1862" y="667"/>
                </a:lnTo>
                <a:lnTo>
                  <a:pt x="1865" y="626"/>
                </a:lnTo>
                <a:lnTo>
                  <a:pt x="1868" y="583"/>
                </a:lnTo>
                <a:lnTo>
                  <a:pt x="1871" y="539"/>
                </a:lnTo>
                <a:lnTo>
                  <a:pt x="1873" y="494"/>
                </a:lnTo>
                <a:lnTo>
                  <a:pt x="1876" y="450"/>
                </a:lnTo>
                <a:lnTo>
                  <a:pt x="1879" y="406"/>
                </a:lnTo>
                <a:lnTo>
                  <a:pt x="1881" y="364"/>
                </a:lnTo>
                <a:lnTo>
                  <a:pt x="1884" y="324"/>
                </a:lnTo>
                <a:lnTo>
                  <a:pt x="1886" y="289"/>
                </a:lnTo>
                <a:lnTo>
                  <a:pt x="1889" y="257"/>
                </a:lnTo>
                <a:lnTo>
                  <a:pt x="1891" y="230"/>
                </a:lnTo>
                <a:lnTo>
                  <a:pt x="1893" y="209"/>
                </a:lnTo>
                <a:lnTo>
                  <a:pt x="1894" y="194"/>
                </a:lnTo>
                <a:lnTo>
                  <a:pt x="1895" y="186"/>
                </a:lnTo>
                <a:lnTo>
                  <a:pt x="1904" y="153"/>
                </a:lnTo>
                <a:lnTo>
                  <a:pt x="1920" y="121"/>
                </a:lnTo>
                <a:lnTo>
                  <a:pt x="1940" y="92"/>
                </a:lnTo>
                <a:lnTo>
                  <a:pt x="1965" y="67"/>
                </a:lnTo>
                <a:lnTo>
                  <a:pt x="1995" y="44"/>
                </a:lnTo>
                <a:lnTo>
                  <a:pt x="2028" y="25"/>
                </a:lnTo>
                <a:lnTo>
                  <a:pt x="2063" y="12"/>
                </a:lnTo>
                <a:lnTo>
                  <a:pt x="2101" y="3"/>
                </a:lnTo>
                <a:lnTo>
                  <a:pt x="2140" y="0"/>
                </a:lnTo>
                <a:lnTo>
                  <a:pt x="2166" y="1"/>
                </a:lnTo>
                <a:lnTo>
                  <a:pt x="2192" y="5"/>
                </a:lnTo>
                <a:lnTo>
                  <a:pt x="2217" y="12"/>
                </a:lnTo>
                <a:lnTo>
                  <a:pt x="2241" y="21"/>
                </a:lnTo>
                <a:lnTo>
                  <a:pt x="2265" y="34"/>
                </a:lnTo>
                <a:lnTo>
                  <a:pt x="2289" y="50"/>
                </a:lnTo>
                <a:lnTo>
                  <a:pt x="2315" y="70"/>
                </a:lnTo>
                <a:lnTo>
                  <a:pt x="2340" y="94"/>
                </a:lnTo>
                <a:lnTo>
                  <a:pt x="2367" y="122"/>
                </a:lnTo>
                <a:lnTo>
                  <a:pt x="2396" y="155"/>
                </a:lnTo>
                <a:lnTo>
                  <a:pt x="2426" y="193"/>
                </a:lnTo>
                <a:lnTo>
                  <a:pt x="2458" y="235"/>
                </a:lnTo>
                <a:lnTo>
                  <a:pt x="2494" y="283"/>
                </a:lnTo>
                <a:lnTo>
                  <a:pt x="2501" y="294"/>
                </a:lnTo>
                <a:lnTo>
                  <a:pt x="2511" y="310"/>
                </a:lnTo>
                <a:lnTo>
                  <a:pt x="2525" y="329"/>
                </a:lnTo>
                <a:lnTo>
                  <a:pt x="2542" y="352"/>
                </a:lnTo>
                <a:lnTo>
                  <a:pt x="2561" y="379"/>
                </a:lnTo>
                <a:lnTo>
                  <a:pt x="2582" y="410"/>
                </a:lnTo>
                <a:lnTo>
                  <a:pt x="2605" y="442"/>
                </a:lnTo>
                <a:lnTo>
                  <a:pt x="2631" y="479"/>
                </a:lnTo>
                <a:lnTo>
                  <a:pt x="2658" y="517"/>
                </a:lnTo>
                <a:lnTo>
                  <a:pt x="2686" y="558"/>
                </a:lnTo>
                <a:lnTo>
                  <a:pt x="2717" y="600"/>
                </a:lnTo>
                <a:lnTo>
                  <a:pt x="2747" y="645"/>
                </a:lnTo>
                <a:lnTo>
                  <a:pt x="2779" y="690"/>
                </a:lnTo>
                <a:lnTo>
                  <a:pt x="2811" y="736"/>
                </a:lnTo>
                <a:lnTo>
                  <a:pt x="2844" y="783"/>
                </a:lnTo>
                <a:lnTo>
                  <a:pt x="2878" y="831"/>
                </a:lnTo>
                <a:lnTo>
                  <a:pt x="2910" y="878"/>
                </a:lnTo>
                <a:lnTo>
                  <a:pt x="2944" y="925"/>
                </a:lnTo>
                <a:lnTo>
                  <a:pt x="2976" y="972"/>
                </a:lnTo>
                <a:lnTo>
                  <a:pt x="3008" y="1017"/>
                </a:lnTo>
                <a:lnTo>
                  <a:pt x="3040" y="1062"/>
                </a:lnTo>
                <a:lnTo>
                  <a:pt x="3070" y="1106"/>
                </a:lnTo>
                <a:lnTo>
                  <a:pt x="3098" y="1147"/>
                </a:lnTo>
                <a:lnTo>
                  <a:pt x="3126" y="1187"/>
                </a:lnTo>
                <a:lnTo>
                  <a:pt x="3152" y="1224"/>
                </a:lnTo>
                <a:lnTo>
                  <a:pt x="3176" y="1258"/>
                </a:lnTo>
                <a:lnTo>
                  <a:pt x="3198" y="1290"/>
                </a:lnTo>
                <a:lnTo>
                  <a:pt x="3218" y="1318"/>
                </a:lnTo>
                <a:lnTo>
                  <a:pt x="3236" y="1344"/>
                </a:lnTo>
                <a:lnTo>
                  <a:pt x="3251" y="1366"/>
                </a:lnTo>
                <a:lnTo>
                  <a:pt x="3264" y="1383"/>
                </a:lnTo>
                <a:lnTo>
                  <a:pt x="3272" y="1395"/>
                </a:lnTo>
                <a:lnTo>
                  <a:pt x="3292" y="1426"/>
                </a:lnTo>
                <a:lnTo>
                  <a:pt x="3310" y="1460"/>
                </a:lnTo>
                <a:lnTo>
                  <a:pt x="3327" y="1498"/>
                </a:lnTo>
                <a:lnTo>
                  <a:pt x="3343" y="1538"/>
                </a:lnTo>
                <a:lnTo>
                  <a:pt x="3356" y="1579"/>
                </a:lnTo>
                <a:lnTo>
                  <a:pt x="3368" y="1622"/>
                </a:lnTo>
                <a:lnTo>
                  <a:pt x="3377" y="1663"/>
                </a:lnTo>
                <a:lnTo>
                  <a:pt x="3385" y="1702"/>
                </a:lnTo>
                <a:lnTo>
                  <a:pt x="3389" y="1738"/>
                </a:lnTo>
                <a:lnTo>
                  <a:pt x="3390" y="1772"/>
                </a:lnTo>
                <a:lnTo>
                  <a:pt x="3387" y="1842"/>
                </a:lnTo>
                <a:lnTo>
                  <a:pt x="3378" y="1910"/>
                </a:lnTo>
                <a:lnTo>
                  <a:pt x="3363" y="1976"/>
                </a:lnTo>
                <a:lnTo>
                  <a:pt x="3343" y="2039"/>
                </a:lnTo>
                <a:lnTo>
                  <a:pt x="3316" y="2101"/>
                </a:lnTo>
                <a:lnTo>
                  <a:pt x="3286" y="2160"/>
                </a:lnTo>
                <a:lnTo>
                  <a:pt x="3250" y="2214"/>
                </a:lnTo>
                <a:lnTo>
                  <a:pt x="3210" y="2267"/>
                </a:lnTo>
                <a:lnTo>
                  <a:pt x="3166" y="2314"/>
                </a:lnTo>
                <a:lnTo>
                  <a:pt x="3117" y="2358"/>
                </a:lnTo>
                <a:lnTo>
                  <a:pt x="3066" y="2398"/>
                </a:lnTo>
                <a:lnTo>
                  <a:pt x="3011" y="2434"/>
                </a:lnTo>
                <a:lnTo>
                  <a:pt x="2952" y="2466"/>
                </a:lnTo>
                <a:lnTo>
                  <a:pt x="2891" y="2491"/>
                </a:lnTo>
                <a:lnTo>
                  <a:pt x="2827" y="2512"/>
                </a:lnTo>
                <a:lnTo>
                  <a:pt x="2762" y="2527"/>
                </a:lnTo>
                <a:lnTo>
                  <a:pt x="2693" y="2536"/>
                </a:lnTo>
                <a:lnTo>
                  <a:pt x="2624" y="2540"/>
                </a:lnTo>
                <a:lnTo>
                  <a:pt x="2553" y="2536"/>
                </a:lnTo>
                <a:lnTo>
                  <a:pt x="2486" y="2527"/>
                </a:lnTo>
                <a:lnTo>
                  <a:pt x="2420" y="2512"/>
                </a:lnTo>
                <a:lnTo>
                  <a:pt x="2357" y="2491"/>
                </a:lnTo>
                <a:lnTo>
                  <a:pt x="2296" y="2466"/>
                </a:lnTo>
                <a:lnTo>
                  <a:pt x="2237" y="2434"/>
                </a:lnTo>
                <a:lnTo>
                  <a:pt x="2182" y="2398"/>
                </a:lnTo>
                <a:lnTo>
                  <a:pt x="2131" y="2358"/>
                </a:lnTo>
                <a:lnTo>
                  <a:pt x="2082" y="2314"/>
                </a:lnTo>
                <a:lnTo>
                  <a:pt x="2038" y="2267"/>
                </a:lnTo>
                <a:lnTo>
                  <a:pt x="1998" y="2214"/>
                </a:lnTo>
                <a:lnTo>
                  <a:pt x="1963" y="2160"/>
                </a:lnTo>
                <a:lnTo>
                  <a:pt x="1933" y="2101"/>
                </a:lnTo>
                <a:lnTo>
                  <a:pt x="1906" y="2039"/>
                </a:lnTo>
                <a:lnTo>
                  <a:pt x="1886" y="1976"/>
                </a:lnTo>
                <a:lnTo>
                  <a:pt x="1871" y="1910"/>
                </a:lnTo>
                <a:lnTo>
                  <a:pt x="1862" y="1842"/>
                </a:lnTo>
                <a:lnTo>
                  <a:pt x="1859" y="1772"/>
                </a:lnTo>
                <a:lnTo>
                  <a:pt x="1859" y="1578"/>
                </a:lnTo>
                <a:lnTo>
                  <a:pt x="1858" y="1557"/>
                </a:lnTo>
                <a:lnTo>
                  <a:pt x="1857" y="1538"/>
                </a:lnTo>
                <a:lnTo>
                  <a:pt x="1855" y="1522"/>
                </a:lnTo>
                <a:lnTo>
                  <a:pt x="1850" y="1507"/>
                </a:lnTo>
                <a:lnTo>
                  <a:pt x="1843" y="1494"/>
                </a:lnTo>
                <a:lnTo>
                  <a:pt x="1834" y="1484"/>
                </a:lnTo>
                <a:lnTo>
                  <a:pt x="1821" y="1475"/>
                </a:lnTo>
                <a:lnTo>
                  <a:pt x="1805" y="1469"/>
                </a:lnTo>
                <a:lnTo>
                  <a:pt x="1787" y="1466"/>
                </a:lnTo>
                <a:lnTo>
                  <a:pt x="1762" y="1465"/>
                </a:lnTo>
                <a:lnTo>
                  <a:pt x="1627" y="1465"/>
                </a:lnTo>
                <a:lnTo>
                  <a:pt x="1603" y="1466"/>
                </a:lnTo>
                <a:lnTo>
                  <a:pt x="1584" y="1469"/>
                </a:lnTo>
                <a:lnTo>
                  <a:pt x="1570" y="1475"/>
                </a:lnTo>
                <a:lnTo>
                  <a:pt x="1559" y="1484"/>
                </a:lnTo>
                <a:lnTo>
                  <a:pt x="1552" y="1494"/>
                </a:lnTo>
                <a:lnTo>
                  <a:pt x="1547" y="1507"/>
                </a:lnTo>
                <a:lnTo>
                  <a:pt x="1545" y="1522"/>
                </a:lnTo>
                <a:lnTo>
                  <a:pt x="1543" y="1538"/>
                </a:lnTo>
                <a:lnTo>
                  <a:pt x="1542" y="1557"/>
                </a:lnTo>
                <a:lnTo>
                  <a:pt x="1542" y="1772"/>
                </a:lnTo>
                <a:lnTo>
                  <a:pt x="1539" y="1842"/>
                </a:lnTo>
                <a:lnTo>
                  <a:pt x="1530" y="1910"/>
                </a:lnTo>
                <a:lnTo>
                  <a:pt x="1515" y="1976"/>
                </a:lnTo>
                <a:lnTo>
                  <a:pt x="1494" y="2039"/>
                </a:lnTo>
                <a:lnTo>
                  <a:pt x="1468" y="2101"/>
                </a:lnTo>
                <a:lnTo>
                  <a:pt x="1437" y="2160"/>
                </a:lnTo>
                <a:lnTo>
                  <a:pt x="1401" y="2214"/>
                </a:lnTo>
                <a:lnTo>
                  <a:pt x="1360" y="2267"/>
                </a:lnTo>
                <a:lnTo>
                  <a:pt x="1316" y="2314"/>
                </a:lnTo>
                <a:lnTo>
                  <a:pt x="1268" y="2358"/>
                </a:lnTo>
                <a:lnTo>
                  <a:pt x="1215" y="2398"/>
                </a:lnTo>
                <a:lnTo>
                  <a:pt x="1159" y="2434"/>
                </a:lnTo>
                <a:lnTo>
                  <a:pt x="1102" y="2466"/>
                </a:lnTo>
                <a:lnTo>
                  <a:pt x="1039" y="2491"/>
                </a:lnTo>
                <a:lnTo>
                  <a:pt x="976" y="2512"/>
                </a:lnTo>
                <a:lnTo>
                  <a:pt x="910" y="2527"/>
                </a:lnTo>
                <a:lnTo>
                  <a:pt x="842" y="2536"/>
                </a:lnTo>
                <a:lnTo>
                  <a:pt x="772" y="2540"/>
                </a:lnTo>
                <a:lnTo>
                  <a:pt x="702" y="2536"/>
                </a:lnTo>
                <a:lnTo>
                  <a:pt x="633" y="2527"/>
                </a:lnTo>
                <a:lnTo>
                  <a:pt x="568" y="2512"/>
                </a:lnTo>
                <a:lnTo>
                  <a:pt x="504" y="2491"/>
                </a:lnTo>
                <a:lnTo>
                  <a:pt x="442" y="2466"/>
                </a:lnTo>
                <a:lnTo>
                  <a:pt x="383" y="2434"/>
                </a:lnTo>
                <a:lnTo>
                  <a:pt x="328" y="2398"/>
                </a:lnTo>
                <a:lnTo>
                  <a:pt x="276" y="2358"/>
                </a:lnTo>
                <a:lnTo>
                  <a:pt x="227" y="2314"/>
                </a:lnTo>
                <a:lnTo>
                  <a:pt x="182" y="2267"/>
                </a:lnTo>
                <a:lnTo>
                  <a:pt x="142" y="2214"/>
                </a:lnTo>
                <a:lnTo>
                  <a:pt x="106" y="2160"/>
                </a:lnTo>
                <a:lnTo>
                  <a:pt x="75" y="2101"/>
                </a:lnTo>
                <a:lnTo>
                  <a:pt x="48" y="2039"/>
                </a:lnTo>
                <a:lnTo>
                  <a:pt x="27" y="1976"/>
                </a:lnTo>
                <a:lnTo>
                  <a:pt x="13" y="1910"/>
                </a:lnTo>
                <a:lnTo>
                  <a:pt x="3" y="1842"/>
                </a:lnTo>
                <a:lnTo>
                  <a:pt x="0" y="1772"/>
                </a:lnTo>
                <a:lnTo>
                  <a:pt x="1" y="1738"/>
                </a:lnTo>
                <a:lnTo>
                  <a:pt x="6" y="1702"/>
                </a:lnTo>
                <a:lnTo>
                  <a:pt x="13" y="1663"/>
                </a:lnTo>
                <a:lnTo>
                  <a:pt x="22" y="1622"/>
                </a:lnTo>
                <a:lnTo>
                  <a:pt x="34" y="1579"/>
                </a:lnTo>
                <a:lnTo>
                  <a:pt x="47" y="1538"/>
                </a:lnTo>
                <a:lnTo>
                  <a:pt x="62" y="1498"/>
                </a:lnTo>
                <a:lnTo>
                  <a:pt x="79" y="1460"/>
                </a:lnTo>
                <a:lnTo>
                  <a:pt x="98" y="1426"/>
                </a:lnTo>
                <a:lnTo>
                  <a:pt x="117" y="1395"/>
                </a:lnTo>
                <a:lnTo>
                  <a:pt x="126" y="1383"/>
                </a:lnTo>
                <a:lnTo>
                  <a:pt x="138" y="1366"/>
                </a:lnTo>
                <a:lnTo>
                  <a:pt x="153" y="1344"/>
                </a:lnTo>
                <a:lnTo>
                  <a:pt x="170" y="1318"/>
                </a:lnTo>
                <a:lnTo>
                  <a:pt x="190" y="1290"/>
                </a:lnTo>
                <a:lnTo>
                  <a:pt x="213" y="1258"/>
                </a:lnTo>
                <a:lnTo>
                  <a:pt x="237" y="1224"/>
                </a:lnTo>
                <a:lnTo>
                  <a:pt x="263" y="1187"/>
                </a:lnTo>
                <a:lnTo>
                  <a:pt x="290" y="1147"/>
                </a:lnTo>
                <a:lnTo>
                  <a:pt x="320" y="1106"/>
                </a:lnTo>
                <a:lnTo>
                  <a:pt x="350" y="1062"/>
                </a:lnTo>
                <a:lnTo>
                  <a:pt x="381" y="1017"/>
                </a:lnTo>
                <a:lnTo>
                  <a:pt x="413" y="972"/>
                </a:lnTo>
                <a:lnTo>
                  <a:pt x="446" y="925"/>
                </a:lnTo>
                <a:lnTo>
                  <a:pt x="479" y="878"/>
                </a:lnTo>
                <a:lnTo>
                  <a:pt x="512" y="831"/>
                </a:lnTo>
                <a:lnTo>
                  <a:pt x="545" y="783"/>
                </a:lnTo>
                <a:lnTo>
                  <a:pt x="578" y="736"/>
                </a:lnTo>
                <a:lnTo>
                  <a:pt x="610" y="690"/>
                </a:lnTo>
                <a:lnTo>
                  <a:pt x="642" y="645"/>
                </a:lnTo>
                <a:lnTo>
                  <a:pt x="673" y="600"/>
                </a:lnTo>
                <a:lnTo>
                  <a:pt x="703" y="558"/>
                </a:lnTo>
                <a:lnTo>
                  <a:pt x="731" y="517"/>
                </a:lnTo>
                <a:lnTo>
                  <a:pt x="759" y="479"/>
                </a:lnTo>
                <a:lnTo>
                  <a:pt x="784" y="442"/>
                </a:lnTo>
                <a:lnTo>
                  <a:pt x="807" y="410"/>
                </a:lnTo>
                <a:lnTo>
                  <a:pt x="828" y="379"/>
                </a:lnTo>
                <a:lnTo>
                  <a:pt x="847" y="352"/>
                </a:lnTo>
                <a:lnTo>
                  <a:pt x="864" y="329"/>
                </a:lnTo>
                <a:lnTo>
                  <a:pt x="877" y="310"/>
                </a:lnTo>
                <a:lnTo>
                  <a:pt x="888" y="294"/>
                </a:lnTo>
                <a:lnTo>
                  <a:pt x="895" y="283"/>
                </a:lnTo>
                <a:lnTo>
                  <a:pt x="931" y="235"/>
                </a:lnTo>
                <a:lnTo>
                  <a:pt x="963" y="193"/>
                </a:lnTo>
                <a:lnTo>
                  <a:pt x="993" y="155"/>
                </a:lnTo>
                <a:lnTo>
                  <a:pt x="1022" y="122"/>
                </a:lnTo>
                <a:lnTo>
                  <a:pt x="1049" y="94"/>
                </a:lnTo>
                <a:lnTo>
                  <a:pt x="1075" y="70"/>
                </a:lnTo>
                <a:lnTo>
                  <a:pt x="1099" y="50"/>
                </a:lnTo>
                <a:lnTo>
                  <a:pt x="1124" y="34"/>
                </a:lnTo>
                <a:lnTo>
                  <a:pt x="1148" y="21"/>
                </a:lnTo>
                <a:lnTo>
                  <a:pt x="1172" y="12"/>
                </a:lnTo>
                <a:lnTo>
                  <a:pt x="1197" y="5"/>
                </a:lnTo>
                <a:lnTo>
                  <a:pt x="1223" y="1"/>
                </a:lnTo>
                <a:lnTo>
                  <a:pt x="1249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84" name="Google Shape;384;g3dd6299f58b_0_111"/>
          <p:cNvGrpSpPr/>
          <p:nvPr/>
        </p:nvGrpSpPr>
        <p:grpSpPr>
          <a:xfrm>
            <a:off x="6345373" y="2438267"/>
            <a:ext cx="713436" cy="694664"/>
            <a:chOff x="638" y="291"/>
            <a:chExt cx="554" cy="539"/>
          </a:xfrm>
        </p:grpSpPr>
        <p:sp>
          <p:nvSpPr>
            <p:cNvPr id="385" name="Google Shape;385;g3dd6299f58b_0_111"/>
            <p:cNvSpPr/>
            <p:nvPr/>
          </p:nvSpPr>
          <p:spPr>
            <a:xfrm>
              <a:off x="1120" y="444"/>
              <a:ext cx="57" cy="62"/>
            </a:xfrm>
            <a:custGeom>
              <a:avLst/>
              <a:gdLst/>
              <a:ahLst/>
              <a:cxnLst/>
              <a:rect l="l" t="t" r="r" b="b"/>
              <a:pathLst>
                <a:path w="341" h="371" extrusionOk="0">
                  <a:moveTo>
                    <a:pt x="0" y="0"/>
                  </a:moveTo>
                  <a:lnTo>
                    <a:pt x="171" y="0"/>
                  </a:lnTo>
                  <a:lnTo>
                    <a:pt x="201" y="3"/>
                  </a:lnTo>
                  <a:lnTo>
                    <a:pt x="230" y="11"/>
                  </a:lnTo>
                  <a:lnTo>
                    <a:pt x="257" y="24"/>
                  </a:lnTo>
                  <a:lnTo>
                    <a:pt x="280" y="40"/>
                  </a:lnTo>
                  <a:lnTo>
                    <a:pt x="301" y="61"/>
                  </a:lnTo>
                  <a:lnTo>
                    <a:pt x="317" y="86"/>
                  </a:lnTo>
                  <a:lnTo>
                    <a:pt x="330" y="111"/>
                  </a:lnTo>
                  <a:lnTo>
                    <a:pt x="338" y="141"/>
                  </a:lnTo>
                  <a:lnTo>
                    <a:pt x="341" y="171"/>
                  </a:lnTo>
                  <a:lnTo>
                    <a:pt x="341" y="200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1"/>
                  </a:lnTo>
                  <a:lnTo>
                    <a:pt x="280" y="331"/>
                  </a:lnTo>
                  <a:lnTo>
                    <a:pt x="257" y="349"/>
                  </a:lnTo>
                  <a:lnTo>
                    <a:pt x="230" y="361"/>
                  </a:lnTo>
                  <a:lnTo>
                    <a:pt x="201" y="369"/>
                  </a:lnTo>
                  <a:lnTo>
                    <a:pt x="171" y="371"/>
                  </a:lnTo>
                  <a:lnTo>
                    <a:pt x="0" y="3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" name="Google Shape;386;g3dd6299f58b_0_111"/>
            <p:cNvSpPr/>
            <p:nvPr/>
          </p:nvSpPr>
          <p:spPr>
            <a:xfrm>
              <a:off x="1120" y="517"/>
              <a:ext cx="57" cy="62"/>
            </a:xfrm>
            <a:custGeom>
              <a:avLst/>
              <a:gdLst/>
              <a:ahLst/>
              <a:cxnLst/>
              <a:rect l="l" t="t" r="r" b="b"/>
              <a:pathLst>
                <a:path w="341" h="372" extrusionOk="0">
                  <a:moveTo>
                    <a:pt x="0" y="0"/>
                  </a:moveTo>
                  <a:lnTo>
                    <a:pt x="171" y="0"/>
                  </a:lnTo>
                  <a:lnTo>
                    <a:pt x="201" y="4"/>
                  </a:lnTo>
                  <a:lnTo>
                    <a:pt x="230" y="11"/>
                  </a:lnTo>
                  <a:lnTo>
                    <a:pt x="257" y="24"/>
                  </a:lnTo>
                  <a:lnTo>
                    <a:pt x="280" y="41"/>
                  </a:lnTo>
                  <a:lnTo>
                    <a:pt x="301" y="61"/>
                  </a:lnTo>
                  <a:lnTo>
                    <a:pt x="317" y="85"/>
                  </a:lnTo>
                  <a:lnTo>
                    <a:pt x="330" y="112"/>
                  </a:lnTo>
                  <a:lnTo>
                    <a:pt x="338" y="141"/>
                  </a:lnTo>
                  <a:lnTo>
                    <a:pt x="341" y="172"/>
                  </a:lnTo>
                  <a:lnTo>
                    <a:pt x="341" y="201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1"/>
                  </a:lnTo>
                  <a:lnTo>
                    <a:pt x="280" y="332"/>
                  </a:lnTo>
                  <a:lnTo>
                    <a:pt x="257" y="349"/>
                  </a:lnTo>
                  <a:lnTo>
                    <a:pt x="230" y="361"/>
                  </a:lnTo>
                  <a:lnTo>
                    <a:pt x="201" y="370"/>
                  </a:lnTo>
                  <a:lnTo>
                    <a:pt x="171" y="372"/>
                  </a:lnTo>
                  <a:lnTo>
                    <a:pt x="0" y="3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" name="Google Shape;387;g3dd6299f58b_0_111"/>
            <p:cNvSpPr/>
            <p:nvPr/>
          </p:nvSpPr>
          <p:spPr>
            <a:xfrm>
              <a:off x="1120" y="590"/>
              <a:ext cx="57" cy="62"/>
            </a:xfrm>
            <a:custGeom>
              <a:avLst/>
              <a:gdLst/>
              <a:ahLst/>
              <a:cxnLst/>
              <a:rect l="l" t="t" r="r" b="b"/>
              <a:pathLst>
                <a:path w="341" h="371" extrusionOk="0">
                  <a:moveTo>
                    <a:pt x="0" y="0"/>
                  </a:moveTo>
                  <a:lnTo>
                    <a:pt x="171" y="0"/>
                  </a:lnTo>
                  <a:lnTo>
                    <a:pt x="201" y="3"/>
                  </a:lnTo>
                  <a:lnTo>
                    <a:pt x="230" y="10"/>
                  </a:lnTo>
                  <a:lnTo>
                    <a:pt x="257" y="24"/>
                  </a:lnTo>
                  <a:lnTo>
                    <a:pt x="280" y="40"/>
                  </a:lnTo>
                  <a:lnTo>
                    <a:pt x="301" y="61"/>
                  </a:lnTo>
                  <a:lnTo>
                    <a:pt x="317" y="84"/>
                  </a:lnTo>
                  <a:lnTo>
                    <a:pt x="330" y="111"/>
                  </a:lnTo>
                  <a:lnTo>
                    <a:pt x="338" y="140"/>
                  </a:lnTo>
                  <a:lnTo>
                    <a:pt x="341" y="171"/>
                  </a:lnTo>
                  <a:lnTo>
                    <a:pt x="341" y="200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0"/>
                  </a:lnTo>
                  <a:lnTo>
                    <a:pt x="280" y="331"/>
                  </a:lnTo>
                  <a:lnTo>
                    <a:pt x="257" y="348"/>
                  </a:lnTo>
                  <a:lnTo>
                    <a:pt x="230" y="361"/>
                  </a:lnTo>
                  <a:lnTo>
                    <a:pt x="201" y="369"/>
                  </a:lnTo>
                  <a:lnTo>
                    <a:pt x="171" y="371"/>
                  </a:lnTo>
                  <a:lnTo>
                    <a:pt x="0" y="3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" name="Google Shape;388;g3dd6299f58b_0_111"/>
            <p:cNvSpPr/>
            <p:nvPr/>
          </p:nvSpPr>
          <p:spPr>
            <a:xfrm>
              <a:off x="1120" y="339"/>
              <a:ext cx="72" cy="73"/>
            </a:xfrm>
            <a:custGeom>
              <a:avLst/>
              <a:gdLst/>
              <a:ahLst/>
              <a:cxnLst/>
              <a:rect l="l" t="t" r="r" b="b"/>
              <a:pathLst>
                <a:path w="430" h="433" extrusionOk="0">
                  <a:moveTo>
                    <a:pt x="317" y="0"/>
                  </a:moveTo>
                  <a:lnTo>
                    <a:pt x="341" y="3"/>
                  </a:lnTo>
                  <a:lnTo>
                    <a:pt x="362" y="10"/>
                  </a:lnTo>
                  <a:lnTo>
                    <a:pt x="382" y="22"/>
                  </a:lnTo>
                  <a:lnTo>
                    <a:pt x="398" y="37"/>
                  </a:lnTo>
                  <a:lnTo>
                    <a:pt x="411" y="56"/>
                  </a:lnTo>
                  <a:lnTo>
                    <a:pt x="421" y="77"/>
                  </a:lnTo>
                  <a:lnTo>
                    <a:pt x="427" y="102"/>
                  </a:lnTo>
                  <a:lnTo>
                    <a:pt x="430" y="129"/>
                  </a:lnTo>
                  <a:lnTo>
                    <a:pt x="430" y="153"/>
                  </a:lnTo>
                  <a:lnTo>
                    <a:pt x="426" y="189"/>
                  </a:lnTo>
                  <a:lnTo>
                    <a:pt x="416" y="225"/>
                  </a:lnTo>
                  <a:lnTo>
                    <a:pt x="402" y="259"/>
                  </a:lnTo>
                  <a:lnTo>
                    <a:pt x="383" y="291"/>
                  </a:lnTo>
                  <a:lnTo>
                    <a:pt x="358" y="321"/>
                  </a:lnTo>
                  <a:lnTo>
                    <a:pt x="331" y="345"/>
                  </a:lnTo>
                  <a:lnTo>
                    <a:pt x="301" y="366"/>
                  </a:lnTo>
                  <a:lnTo>
                    <a:pt x="269" y="382"/>
                  </a:lnTo>
                  <a:lnTo>
                    <a:pt x="0" y="433"/>
                  </a:lnTo>
                  <a:lnTo>
                    <a:pt x="0" y="37"/>
                  </a:lnTo>
                  <a:lnTo>
                    <a:pt x="266" y="6"/>
                  </a:lnTo>
                  <a:lnTo>
                    <a:pt x="293" y="1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" name="Google Shape;389;g3dd6299f58b_0_111"/>
            <p:cNvSpPr/>
            <p:nvPr/>
          </p:nvSpPr>
          <p:spPr>
            <a:xfrm>
              <a:off x="865" y="291"/>
              <a:ext cx="247" cy="422"/>
            </a:xfrm>
            <a:custGeom>
              <a:avLst/>
              <a:gdLst/>
              <a:ahLst/>
              <a:cxnLst/>
              <a:rect l="l" t="t" r="r" b="b"/>
              <a:pathLst>
                <a:path w="1472" h="2521" extrusionOk="0">
                  <a:moveTo>
                    <a:pt x="169" y="0"/>
                  </a:moveTo>
                  <a:lnTo>
                    <a:pt x="1304" y="0"/>
                  </a:lnTo>
                  <a:lnTo>
                    <a:pt x="1334" y="3"/>
                  </a:lnTo>
                  <a:lnTo>
                    <a:pt x="1363" y="12"/>
                  </a:lnTo>
                  <a:lnTo>
                    <a:pt x="1388" y="24"/>
                  </a:lnTo>
                  <a:lnTo>
                    <a:pt x="1412" y="40"/>
                  </a:lnTo>
                  <a:lnTo>
                    <a:pt x="1432" y="61"/>
                  </a:lnTo>
                  <a:lnTo>
                    <a:pt x="1449" y="85"/>
                  </a:lnTo>
                  <a:lnTo>
                    <a:pt x="1461" y="112"/>
                  </a:lnTo>
                  <a:lnTo>
                    <a:pt x="1469" y="140"/>
                  </a:lnTo>
                  <a:lnTo>
                    <a:pt x="1472" y="170"/>
                  </a:lnTo>
                  <a:lnTo>
                    <a:pt x="1472" y="2351"/>
                  </a:lnTo>
                  <a:lnTo>
                    <a:pt x="1469" y="2382"/>
                  </a:lnTo>
                  <a:lnTo>
                    <a:pt x="1461" y="2411"/>
                  </a:lnTo>
                  <a:lnTo>
                    <a:pt x="1449" y="2437"/>
                  </a:lnTo>
                  <a:lnTo>
                    <a:pt x="1432" y="2461"/>
                  </a:lnTo>
                  <a:lnTo>
                    <a:pt x="1412" y="2482"/>
                  </a:lnTo>
                  <a:lnTo>
                    <a:pt x="1388" y="2498"/>
                  </a:lnTo>
                  <a:lnTo>
                    <a:pt x="1363" y="2511"/>
                  </a:lnTo>
                  <a:lnTo>
                    <a:pt x="1334" y="2519"/>
                  </a:lnTo>
                  <a:lnTo>
                    <a:pt x="1304" y="2521"/>
                  </a:lnTo>
                  <a:lnTo>
                    <a:pt x="947" y="2521"/>
                  </a:lnTo>
                  <a:lnTo>
                    <a:pt x="952" y="2503"/>
                  </a:lnTo>
                  <a:lnTo>
                    <a:pt x="955" y="2488"/>
                  </a:lnTo>
                  <a:lnTo>
                    <a:pt x="959" y="2476"/>
                  </a:lnTo>
                  <a:lnTo>
                    <a:pt x="961" y="2467"/>
                  </a:lnTo>
                  <a:lnTo>
                    <a:pt x="961" y="2463"/>
                  </a:lnTo>
                  <a:lnTo>
                    <a:pt x="977" y="2383"/>
                  </a:lnTo>
                  <a:lnTo>
                    <a:pt x="811" y="2383"/>
                  </a:lnTo>
                  <a:lnTo>
                    <a:pt x="823" y="2367"/>
                  </a:lnTo>
                  <a:lnTo>
                    <a:pt x="832" y="2350"/>
                  </a:lnTo>
                  <a:lnTo>
                    <a:pt x="838" y="2330"/>
                  </a:lnTo>
                  <a:lnTo>
                    <a:pt x="840" y="2311"/>
                  </a:lnTo>
                  <a:lnTo>
                    <a:pt x="837" y="2286"/>
                  </a:lnTo>
                  <a:lnTo>
                    <a:pt x="829" y="2263"/>
                  </a:lnTo>
                  <a:lnTo>
                    <a:pt x="816" y="2244"/>
                  </a:lnTo>
                  <a:lnTo>
                    <a:pt x="800" y="2227"/>
                  </a:lnTo>
                  <a:lnTo>
                    <a:pt x="780" y="2215"/>
                  </a:lnTo>
                  <a:lnTo>
                    <a:pt x="758" y="2206"/>
                  </a:lnTo>
                  <a:lnTo>
                    <a:pt x="733" y="2203"/>
                  </a:lnTo>
                  <a:lnTo>
                    <a:pt x="709" y="2206"/>
                  </a:lnTo>
                  <a:lnTo>
                    <a:pt x="686" y="2215"/>
                  </a:lnTo>
                  <a:lnTo>
                    <a:pt x="667" y="2227"/>
                  </a:lnTo>
                  <a:lnTo>
                    <a:pt x="650" y="2244"/>
                  </a:lnTo>
                  <a:lnTo>
                    <a:pt x="638" y="2263"/>
                  </a:lnTo>
                  <a:lnTo>
                    <a:pt x="630" y="2286"/>
                  </a:lnTo>
                  <a:lnTo>
                    <a:pt x="627" y="2311"/>
                  </a:lnTo>
                  <a:lnTo>
                    <a:pt x="629" y="2330"/>
                  </a:lnTo>
                  <a:lnTo>
                    <a:pt x="635" y="2350"/>
                  </a:lnTo>
                  <a:lnTo>
                    <a:pt x="643" y="2367"/>
                  </a:lnTo>
                  <a:lnTo>
                    <a:pt x="656" y="2383"/>
                  </a:lnTo>
                  <a:lnTo>
                    <a:pt x="360" y="2383"/>
                  </a:lnTo>
                  <a:lnTo>
                    <a:pt x="361" y="2381"/>
                  </a:lnTo>
                  <a:lnTo>
                    <a:pt x="363" y="2374"/>
                  </a:lnTo>
                  <a:lnTo>
                    <a:pt x="365" y="2366"/>
                  </a:lnTo>
                  <a:lnTo>
                    <a:pt x="369" y="2356"/>
                  </a:lnTo>
                  <a:lnTo>
                    <a:pt x="372" y="2345"/>
                  </a:lnTo>
                  <a:lnTo>
                    <a:pt x="372" y="2054"/>
                  </a:lnTo>
                  <a:lnTo>
                    <a:pt x="1198" y="2054"/>
                  </a:lnTo>
                  <a:lnTo>
                    <a:pt x="1212" y="2051"/>
                  </a:lnTo>
                  <a:lnTo>
                    <a:pt x="1226" y="2044"/>
                  </a:lnTo>
                  <a:lnTo>
                    <a:pt x="1236" y="2034"/>
                  </a:lnTo>
                  <a:lnTo>
                    <a:pt x="1242" y="2022"/>
                  </a:lnTo>
                  <a:lnTo>
                    <a:pt x="1244" y="2006"/>
                  </a:lnTo>
                  <a:lnTo>
                    <a:pt x="1244" y="328"/>
                  </a:lnTo>
                  <a:lnTo>
                    <a:pt x="1242" y="313"/>
                  </a:lnTo>
                  <a:lnTo>
                    <a:pt x="1236" y="300"/>
                  </a:lnTo>
                  <a:lnTo>
                    <a:pt x="1226" y="290"/>
                  </a:lnTo>
                  <a:lnTo>
                    <a:pt x="1212" y="284"/>
                  </a:lnTo>
                  <a:lnTo>
                    <a:pt x="1198" y="281"/>
                  </a:lnTo>
                  <a:lnTo>
                    <a:pt x="275" y="281"/>
                  </a:lnTo>
                  <a:lnTo>
                    <a:pt x="259" y="284"/>
                  </a:lnTo>
                  <a:lnTo>
                    <a:pt x="247" y="290"/>
                  </a:lnTo>
                  <a:lnTo>
                    <a:pt x="237" y="300"/>
                  </a:lnTo>
                  <a:lnTo>
                    <a:pt x="231" y="313"/>
                  </a:lnTo>
                  <a:lnTo>
                    <a:pt x="228" y="328"/>
                  </a:lnTo>
                  <a:lnTo>
                    <a:pt x="228" y="1459"/>
                  </a:lnTo>
                  <a:lnTo>
                    <a:pt x="0" y="1459"/>
                  </a:lnTo>
                  <a:lnTo>
                    <a:pt x="0" y="170"/>
                  </a:lnTo>
                  <a:lnTo>
                    <a:pt x="3" y="140"/>
                  </a:lnTo>
                  <a:lnTo>
                    <a:pt x="11" y="112"/>
                  </a:lnTo>
                  <a:lnTo>
                    <a:pt x="23" y="85"/>
                  </a:lnTo>
                  <a:lnTo>
                    <a:pt x="40" y="61"/>
                  </a:lnTo>
                  <a:lnTo>
                    <a:pt x="60" y="40"/>
                  </a:lnTo>
                  <a:lnTo>
                    <a:pt x="83" y="24"/>
                  </a:lnTo>
                  <a:lnTo>
                    <a:pt x="110" y="12"/>
                  </a:lnTo>
                  <a:lnTo>
                    <a:pt x="139" y="3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" name="Google Shape;390;g3dd6299f58b_0_111"/>
            <p:cNvSpPr/>
            <p:nvPr/>
          </p:nvSpPr>
          <p:spPr>
            <a:xfrm>
              <a:off x="638" y="439"/>
              <a:ext cx="405" cy="391"/>
            </a:xfrm>
            <a:custGeom>
              <a:avLst/>
              <a:gdLst/>
              <a:ahLst/>
              <a:cxnLst/>
              <a:rect l="l" t="t" r="r" b="b"/>
              <a:pathLst>
                <a:path w="2416" h="2337" extrusionOk="0">
                  <a:moveTo>
                    <a:pt x="1252" y="0"/>
                  </a:moveTo>
                  <a:lnTo>
                    <a:pt x="1252" y="666"/>
                  </a:lnTo>
                  <a:lnTo>
                    <a:pt x="2189" y="666"/>
                  </a:lnTo>
                  <a:lnTo>
                    <a:pt x="2225" y="669"/>
                  </a:lnTo>
                  <a:lnTo>
                    <a:pt x="2260" y="676"/>
                  </a:lnTo>
                  <a:lnTo>
                    <a:pt x="2293" y="689"/>
                  </a:lnTo>
                  <a:lnTo>
                    <a:pt x="2323" y="707"/>
                  </a:lnTo>
                  <a:lnTo>
                    <a:pt x="2349" y="727"/>
                  </a:lnTo>
                  <a:lnTo>
                    <a:pt x="2372" y="752"/>
                  </a:lnTo>
                  <a:lnTo>
                    <a:pt x="2390" y="780"/>
                  </a:lnTo>
                  <a:lnTo>
                    <a:pt x="2403" y="811"/>
                  </a:lnTo>
                  <a:lnTo>
                    <a:pt x="2413" y="843"/>
                  </a:lnTo>
                  <a:lnTo>
                    <a:pt x="2416" y="878"/>
                  </a:lnTo>
                  <a:lnTo>
                    <a:pt x="2413" y="912"/>
                  </a:lnTo>
                  <a:lnTo>
                    <a:pt x="2403" y="945"/>
                  </a:lnTo>
                  <a:lnTo>
                    <a:pt x="2390" y="976"/>
                  </a:lnTo>
                  <a:lnTo>
                    <a:pt x="2372" y="1004"/>
                  </a:lnTo>
                  <a:lnTo>
                    <a:pt x="2349" y="1029"/>
                  </a:lnTo>
                  <a:lnTo>
                    <a:pt x="2323" y="1049"/>
                  </a:lnTo>
                  <a:lnTo>
                    <a:pt x="2293" y="1067"/>
                  </a:lnTo>
                  <a:lnTo>
                    <a:pt x="2260" y="1080"/>
                  </a:lnTo>
                  <a:lnTo>
                    <a:pt x="2225" y="1087"/>
                  </a:lnTo>
                  <a:lnTo>
                    <a:pt x="2189" y="1090"/>
                  </a:lnTo>
                  <a:lnTo>
                    <a:pt x="1616" y="1090"/>
                  </a:lnTo>
                  <a:lnTo>
                    <a:pt x="1616" y="1467"/>
                  </a:lnTo>
                  <a:lnTo>
                    <a:pt x="1604" y="1504"/>
                  </a:lnTo>
                  <a:lnTo>
                    <a:pt x="1589" y="1541"/>
                  </a:lnTo>
                  <a:lnTo>
                    <a:pt x="1572" y="1577"/>
                  </a:lnTo>
                  <a:lnTo>
                    <a:pt x="1553" y="1613"/>
                  </a:lnTo>
                  <a:lnTo>
                    <a:pt x="1532" y="1647"/>
                  </a:lnTo>
                  <a:lnTo>
                    <a:pt x="1511" y="1681"/>
                  </a:lnTo>
                  <a:lnTo>
                    <a:pt x="1489" y="1714"/>
                  </a:lnTo>
                  <a:lnTo>
                    <a:pt x="1466" y="1745"/>
                  </a:lnTo>
                  <a:lnTo>
                    <a:pt x="1443" y="1775"/>
                  </a:lnTo>
                  <a:lnTo>
                    <a:pt x="1422" y="1803"/>
                  </a:lnTo>
                  <a:lnTo>
                    <a:pt x="1400" y="1829"/>
                  </a:lnTo>
                  <a:lnTo>
                    <a:pt x="1380" y="1853"/>
                  </a:lnTo>
                  <a:lnTo>
                    <a:pt x="1360" y="1873"/>
                  </a:lnTo>
                  <a:lnTo>
                    <a:pt x="1343" y="1892"/>
                  </a:lnTo>
                  <a:lnTo>
                    <a:pt x="1329" y="1907"/>
                  </a:lnTo>
                  <a:lnTo>
                    <a:pt x="1316" y="1920"/>
                  </a:lnTo>
                  <a:lnTo>
                    <a:pt x="1307" y="1929"/>
                  </a:lnTo>
                  <a:lnTo>
                    <a:pt x="1301" y="1935"/>
                  </a:lnTo>
                  <a:lnTo>
                    <a:pt x="1298" y="1937"/>
                  </a:lnTo>
                  <a:lnTo>
                    <a:pt x="1287" y="1952"/>
                  </a:lnTo>
                  <a:lnTo>
                    <a:pt x="1280" y="1968"/>
                  </a:lnTo>
                  <a:lnTo>
                    <a:pt x="1276" y="1985"/>
                  </a:lnTo>
                  <a:lnTo>
                    <a:pt x="1279" y="2002"/>
                  </a:lnTo>
                  <a:lnTo>
                    <a:pt x="1285" y="2019"/>
                  </a:lnTo>
                  <a:lnTo>
                    <a:pt x="1295" y="2034"/>
                  </a:lnTo>
                  <a:lnTo>
                    <a:pt x="1309" y="2046"/>
                  </a:lnTo>
                  <a:lnTo>
                    <a:pt x="1327" y="2053"/>
                  </a:lnTo>
                  <a:lnTo>
                    <a:pt x="1344" y="2056"/>
                  </a:lnTo>
                  <a:lnTo>
                    <a:pt x="1360" y="2054"/>
                  </a:lnTo>
                  <a:lnTo>
                    <a:pt x="1376" y="2048"/>
                  </a:lnTo>
                  <a:lnTo>
                    <a:pt x="1390" y="2037"/>
                  </a:lnTo>
                  <a:lnTo>
                    <a:pt x="1394" y="2034"/>
                  </a:lnTo>
                  <a:lnTo>
                    <a:pt x="1401" y="2026"/>
                  </a:lnTo>
                  <a:lnTo>
                    <a:pt x="1413" y="2016"/>
                  </a:lnTo>
                  <a:lnTo>
                    <a:pt x="1427" y="2001"/>
                  </a:lnTo>
                  <a:lnTo>
                    <a:pt x="1443" y="1984"/>
                  </a:lnTo>
                  <a:lnTo>
                    <a:pt x="1463" y="1963"/>
                  </a:lnTo>
                  <a:lnTo>
                    <a:pt x="1483" y="1939"/>
                  </a:lnTo>
                  <a:lnTo>
                    <a:pt x="1506" y="1913"/>
                  </a:lnTo>
                  <a:lnTo>
                    <a:pt x="1529" y="1885"/>
                  </a:lnTo>
                  <a:lnTo>
                    <a:pt x="1554" y="1855"/>
                  </a:lnTo>
                  <a:lnTo>
                    <a:pt x="1578" y="1822"/>
                  </a:lnTo>
                  <a:lnTo>
                    <a:pt x="1603" y="1787"/>
                  </a:lnTo>
                  <a:lnTo>
                    <a:pt x="1628" y="1751"/>
                  </a:lnTo>
                  <a:lnTo>
                    <a:pt x="1651" y="1712"/>
                  </a:lnTo>
                  <a:lnTo>
                    <a:pt x="1674" y="1673"/>
                  </a:lnTo>
                  <a:lnTo>
                    <a:pt x="1695" y="1633"/>
                  </a:lnTo>
                  <a:lnTo>
                    <a:pt x="1714" y="1592"/>
                  </a:lnTo>
                  <a:lnTo>
                    <a:pt x="2205" y="1592"/>
                  </a:lnTo>
                  <a:lnTo>
                    <a:pt x="2204" y="1595"/>
                  </a:lnTo>
                  <a:lnTo>
                    <a:pt x="2203" y="1604"/>
                  </a:lnTo>
                  <a:lnTo>
                    <a:pt x="2199" y="1619"/>
                  </a:lnTo>
                  <a:lnTo>
                    <a:pt x="2195" y="1637"/>
                  </a:lnTo>
                  <a:lnTo>
                    <a:pt x="2189" y="1660"/>
                  </a:lnTo>
                  <a:lnTo>
                    <a:pt x="2181" y="1686"/>
                  </a:lnTo>
                  <a:lnTo>
                    <a:pt x="2172" y="1715"/>
                  </a:lnTo>
                  <a:lnTo>
                    <a:pt x="2161" y="1746"/>
                  </a:lnTo>
                  <a:lnTo>
                    <a:pt x="2149" y="1780"/>
                  </a:lnTo>
                  <a:lnTo>
                    <a:pt x="2134" y="1814"/>
                  </a:lnTo>
                  <a:lnTo>
                    <a:pt x="2119" y="1851"/>
                  </a:lnTo>
                  <a:lnTo>
                    <a:pt x="2102" y="1886"/>
                  </a:lnTo>
                  <a:lnTo>
                    <a:pt x="2082" y="1921"/>
                  </a:lnTo>
                  <a:lnTo>
                    <a:pt x="2061" y="1955"/>
                  </a:lnTo>
                  <a:lnTo>
                    <a:pt x="2037" y="1987"/>
                  </a:lnTo>
                  <a:lnTo>
                    <a:pt x="2011" y="2017"/>
                  </a:lnTo>
                  <a:lnTo>
                    <a:pt x="1984" y="2044"/>
                  </a:lnTo>
                  <a:lnTo>
                    <a:pt x="1954" y="2068"/>
                  </a:lnTo>
                  <a:lnTo>
                    <a:pt x="1893" y="2110"/>
                  </a:lnTo>
                  <a:lnTo>
                    <a:pt x="1829" y="2148"/>
                  </a:lnTo>
                  <a:lnTo>
                    <a:pt x="1766" y="2182"/>
                  </a:lnTo>
                  <a:lnTo>
                    <a:pt x="1705" y="2212"/>
                  </a:lnTo>
                  <a:lnTo>
                    <a:pt x="1648" y="2239"/>
                  </a:lnTo>
                  <a:lnTo>
                    <a:pt x="1596" y="2265"/>
                  </a:lnTo>
                  <a:lnTo>
                    <a:pt x="1568" y="2279"/>
                  </a:lnTo>
                  <a:lnTo>
                    <a:pt x="1539" y="2291"/>
                  </a:lnTo>
                  <a:lnTo>
                    <a:pt x="1507" y="2303"/>
                  </a:lnTo>
                  <a:lnTo>
                    <a:pt x="1474" y="2314"/>
                  </a:lnTo>
                  <a:lnTo>
                    <a:pt x="1440" y="2324"/>
                  </a:lnTo>
                  <a:lnTo>
                    <a:pt x="1408" y="2331"/>
                  </a:lnTo>
                  <a:lnTo>
                    <a:pt x="1376" y="2336"/>
                  </a:lnTo>
                  <a:lnTo>
                    <a:pt x="1346" y="2337"/>
                  </a:lnTo>
                  <a:lnTo>
                    <a:pt x="96" y="2337"/>
                  </a:lnTo>
                  <a:lnTo>
                    <a:pt x="73" y="2335"/>
                  </a:lnTo>
                  <a:lnTo>
                    <a:pt x="52" y="2330"/>
                  </a:lnTo>
                  <a:lnTo>
                    <a:pt x="35" y="2320"/>
                  </a:lnTo>
                  <a:lnTo>
                    <a:pt x="20" y="2307"/>
                  </a:lnTo>
                  <a:lnTo>
                    <a:pt x="9" y="2292"/>
                  </a:lnTo>
                  <a:lnTo>
                    <a:pt x="3" y="2274"/>
                  </a:lnTo>
                  <a:lnTo>
                    <a:pt x="0" y="2255"/>
                  </a:lnTo>
                  <a:lnTo>
                    <a:pt x="2" y="2233"/>
                  </a:lnTo>
                  <a:lnTo>
                    <a:pt x="8" y="2211"/>
                  </a:lnTo>
                  <a:lnTo>
                    <a:pt x="605" y="582"/>
                  </a:lnTo>
                  <a:lnTo>
                    <a:pt x="623" y="542"/>
                  </a:lnTo>
                  <a:lnTo>
                    <a:pt x="646" y="500"/>
                  </a:lnTo>
                  <a:lnTo>
                    <a:pt x="674" y="458"/>
                  </a:lnTo>
                  <a:lnTo>
                    <a:pt x="704" y="417"/>
                  </a:lnTo>
                  <a:lnTo>
                    <a:pt x="738" y="377"/>
                  </a:lnTo>
                  <a:lnTo>
                    <a:pt x="773" y="340"/>
                  </a:lnTo>
                  <a:lnTo>
                    <a:pt x="810" y="306"/>
                  </a:lnTo>
                  <a:lnTo>
                    <a:pt x="847" y="276"/>
                  </a:lnTo>
                  <a:lnTo>
                    <a:pt x="882" y="251"/>
                  </a:lnTo>
                  <a:lnTo>
                    <a:pt x="125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1" name="Google Shape;391;g3dd6299f58b_0_111"/>
          <p:cNvSpPr/>
          <p:nvPr/>
        </p:nvSpPr>
        <p:spPr>
          <a:xfrm>
            <a:off x="6549005" y="3730542"/>
            <a:ext cx="355601" cy="695322"/>
          </a:xfrm>
          <a:custGeom>
            <a:avLst/>
            <a:gdLst/>
            <a:ahLst/>
            <a:cxnLst/>
            <a:rect l="l" t="t" r="r" b="b"/>
            <a:pathLst>
              <a:path w="1790" h="3502" extrusionOk="0">
                <a:moveTo>
                  <a:pt x="942" y="1469"/>
                </a:moveTo>
                <a:lnTo>
                  <a:pt x="904" y="1472"/>
                </a:lnTo>
                <a:lnTo>
                  <a:pt x="870" y="1482"/>
                </a:lnTo>
                <a:lnTo>
                  <a:pt x="839" y="1498"/>
                </a:lnTo>
                <a:lnTo>
                  <a:pt x="810" y="1518"/>
                </a:lnTo>
                <a:lnTo>
                  <a:pt x="786" y="1542"/>
                </a:lnTo>
                <a:lnTo>
                  <a:pt x="765" y="1570"/>
                </a:lnTo>
                <a:lnTo>
                  <a:pt x="751" y="1602"/>
                </a:lnTo>
                <a:lnTo>
                  <a:pt x="741" y="1636"/>
                </a:lnTo>
                <a:lnTo>
                  <a:pt x="737" y="1673"/>
                </a:lnTo>
                <a:lnTo>
                  <a:pt x="741" y="1706"/>
                </a:lnTo>
                <a:lnTo>
                  <a:pt x="748" y="1737"/>
                </a:lnTo>
                <a:lnTo>
                  <a:pt x="761" y="1766"/>
                </a:lnTo>
                <a:lnTo>
                  <a:pt x="778" y="1793"/>
                </a:lnTo>
                <a:lnTo>
                  <a:pt x="798" y="1816"/>
                </a:lnTo>
                <a:lnTo>
                  <a:pt x="822" y="1837"/>
                </a:lnTo>
                <a:lnTo>
                  <a:pt x="850" y="1852"/>
                </a:lnTo>
                <a:lnTo>
                  <a:pt x="850" y="1744"/>
                </a:lnTo>
                <a:lnTo>
                  <a:pt x="852" y="1721"/>
                </a:lnTo>
                <a:lnTo>
                  <a:pt x="860" y="1700"/>
                </a:lnTo>
                <a:lnTo>
                  <a:pt x="871" y="1683"/>
                </a:lnTo>
                <a:lnTo>
                  <a:pt x="887" y="1667"/>
                </a:lnTo>
                <a:lnTo>
                  <a:pt x="905" y="1655"/>
                </a:lnTo>
                <a:lnTo>
                  <a:pt x="926" y="1649"/>
                </a:lnTo>
                <a:lnTo>
                  <a:pt x="950" y="1645"/>
                </a:lnTo>
                <a:lnTo>
                  <a:pt x="960" y="1645"/>
                </a:lnTo>
                <a:lnTo>
                  <a:pt x="983" y="1649"/>
                </a:lnTo>
                <a:lnTo>
                  <a:pt x="1004" y="1655"/>
                </a:lnTo>
                <a:lnTo>
                  <a:pt x="1021" y="1667"/>
                </a:lnTo>
                <a:lnTo>
                  <a:pt x="1037" y="1683"/>
                </a:lnTo>
                <a:lnTo>
                  <a:pt x="1049" y="1701"/>
                </a:lnTo>
                <a:lnTo>
                  <a:pt x="1056" y="1721"/>
                </a:lnTo>
                <a:lnTo>
                  <a:pt x="1059" y="1744"/>
                </a:lnTo>
                <a:lnTo>
                  <a:pt x="1059" y="1838"/>
                </a:lnTo>
                <a:lnTo>
                  <a:pt x="1083" y="1817"/>
                </a:lnTo>
                <a:lnTo>
                  <a:pt x="1104" y="1794"/>
                </a:lnTo>
                <a:lnTo>
                  <a:pt x="1122" y="1766"/>
                </a:lnTo>
                <a:lnTo>
                  <a:pt x="1134" y="1738"/>
                </a:lnTo>
                <a:lnTo>
                  <a:pt x="1142" y="1706"/>
                </a:lnTo>
                <a:lnTo>
                  <a:pt x="1145" y="1673"/>
                </a:lnTo>
                <a:lnTo>
                  <a:pt x="1142" y="1636"/>
                </a:lnTo>
                <a:lnTo>
                  <a:pt x="1132" y="1601"/>
                </a:lnTo>
                <a:lnTo>
                  <a:pt x="1118" y="1570"/>
                </a:lnTo>
                <a:lnTo>
                  <a:pt x="1098" y="1542"/>
                </a:lnTo>
                <a:lnTo>
                  <a:pt x="1072" y="1518"/>
                </a:lnTo>
                <a:lnTo>
                  <a:pt x="1045" y="1498"/>
                </a:lnTo>
                <a:lnTo>
                  <a:pt x="1013" y="1482"/>
                </a:lnTo>
                <a:lnTo>
                  <a:pt x="978" y="1472"/>
                </a:lnTo>
                <a:lnTo>
                  <a:pt x="942" y="1469"/>
                </a:lnTo>
                <a:close/>
                <a:moveTo>
                  <a:pt x="942" y="1251"/>
                </a:moveTo>
                <a:lnTo>
                  <a:pt x="889" y="1254"/>
                </a:lnTo>
                <a:lnTo>
                  <a:pt x="837" y="1263"/>
                </a:lnTo>
                <a:lnTo>
                  <a:pt x="788" y="1279"/>
                </a:lnTo>
                <a:lnTo>
                  <a:pt x="743" y="1300"/>
                </a:lnTo>
                <a:lnTo>
                  <a:pt x="700" y="1326"/>
                </a:lnTo>
                <a:lnTo>
                  <a:pt x="660" y="1357"/>
                </a:lnTo>
                <a:lnTo>
                  <a:pt x="625" y="1392"/>
                </a:lnTo>
                <a:lnTo>
                  <a:pt x="594" y="1432"/>
                </a:lnTo>
                <a:lnTo>
                  <a:pt x="567" y="1475"/>
                </a:lnTo>
                <a:lnTo>
                  <a:pt x="546" y="1520"/>
                </a:lnTo>
                <a:lnTo>
                  <a:pt x="531" y="1569"/>
                </a:lnTo>
                <a:lnTo>
                  <a:pt x="521" y="1620"/>
                </a:lnTo>
                <a:lnTo>
                  <a:pt x="517" y="1673"/>
                </a:lnTo>
                <a:lnTo>
                  <a:pt x="522" y="1727"/>
                </a:lnTo>
                <a:lnTo>
                  <a:pt x="532" y="1778"/>
                </a:lnTo>
                <a:lnTo>
                  <a:pt x="547" y="1828"/>
                </a:lnTo>
                <a:lnTo>
                  <a:pt x="569" y="1874"/>
                </a:lnTo>
                <a:lnTo>
                  <a:pt x="597" y="1917"/>
                </a:lnTo>
                <a:lnTo>
                  <a:pt x="629" y="1957"/>
                </a:lnTo>
                <a:lnTo>
                  <a:pt x="667" y="1992"/>
                </a:lnTo>
                <a:lnTo>
                  <a:pt x="707" y="2023"/>
                </a:lnTo>
                <a:lnTo>
                  <a:pt x="752" y="2049"/>
                </a:lnTo>
                <a:lnTo>
                  <a:pt x="799" y="2069"/>
                </a:lnTo>
                <a:lnTo>
                  <a:pt x="850" y="2083"/>
                </a:lnTo>
                <a:lnTo>
                  <a:pt x="850" y="1957"/>
                </a:lnTo>
                <a:lnTo>
                  <a:pt x="810" y="1941"/>
                </a:lnTo>
                <a:lnTo>
                  <a:pt x="775" y="1920"/>
                </a:lnTo>
                <a:lnTo>
                  <a:pt x="742" y="1895"/>
                </a:lnTo>
                <a:lnTo>
                  <a:pt x="713" y="1866"/>
                </a:lnTo>
                <a:lnTo>
                  <a:pt x="688" y="1833"/>
                </a:lnTo>
                <a:lnTo>
                  <a:pt x="668" y="1797"/>
                </a:lnTo>
                <a:lnTo>
                  <a:pt x="653" y="1757"/>
                </a:lnTo>
                <a:lnTo>
                  <a:pt x="643" y="1716"/>
                </a:lnTo>
                <a:lnTo>
                  <a:pt x="640" y="1673"/>
                </a:lnTo>
                <a:lnTo>
                  <a:pt x="643" y="1629"/>
                </a:lnTo>
                <a:lnTo>
                  <a:pt x="653" y="1586"/>
                </a:lnTo>
                <a:lnTo>
                  <a:pt x="669" y="1546"/>
                </a:lnTo>
                <a:lnTo>
                  <a:pt x="689" y="1510"/>
                </a:lnTo>
                <a:lnTo>
                  <a:pt x="714" y="1476"/>
                </a:lnTo>
                <a:lnTo>
                  <a:pt x="744" y="1446"/>
                </a:lnTo>
                <a:lnTo>
                  <a:pt x="777" y="1421"/>
                </a:lnTo>
                <a:lnTo>
                  <a:pt x="815" y="1401"/>
                </a:lnTo>
                <a:lnTo>
                  <a:pt x="855" y="1385"/>
                </a:lnTo>
                <a:lnTo>
                  <a:pt x="897" y="1376"/>
                </a:lnTo>
                <a:lnTo>
                  <a:pt x="942" y="1372"/>
                </a:lnTo>
                <a:lnTo>
                  <a:pt x="986" y="1376"/>
                </a:lnTo>
                <a:lnTo>
                  <a:pt x="1028" y="1385"/>
                </a:lnTo>
                <a:lnTo>
                  <a:pt x="1068" y="1401"/>
                </a:lnTo>
                <a:lnTo>
                  <a:pt x="1105" y="1421"/>
                </a:lnTo>
                <a:lnTo>
                  <a:pt x="1139" y="1446"/>
                </a:lnTo>
                <a:lnTo>
                  <a:pt x="1168" y="1476"/>
                </a:lnTo>
                <a:lnTo>
                  <a:pt x="1194" y="1510"/>
                </a:lnTo>
                <a:lnTo>
                  <a:pt x="1215" y="1546"/>
                </a:lnTo>
                <a:lnTo>
                  <a:pt x="1230" y="1586"/>
                </a:lnTo>
                <a:lnTo>
                  <a:pt x="1239" y="1629"/>
                </a:lnTo>
                <a:lnTo>
                  <a:pt x="1243" y="1673"/>
                </a:lnTo>
                <a:lnTo>
                  <a:pt x="1239" y="1718"/>
                </a:lnTo>
                <a:lnTo>
                  <a:pt x="1229" y="1761"/>
                </a:lnTo>
                <a:lnTo>
                  <a:pt x="1213" y="1801"/>
                </a:lnTo>
                <a:lnTo>
                  <a:pt x="1192" y="1840"/>
                </a:lnTo>
                <a:lnTo>
                  <a:pt x="1164" y="1873"/>
                </a:lnTo>
                <a:lnTo>
                  <a:pt x="1133" y="1903"/>
                </a:lnTo>
                <a:lnTo>
                  <a:pt x="1098" y="1928"/>
                </a:lnTo>
                <a:lnTo>
                  <a:pt x="1059" y="1948"/>
                </a:lnTo>
                <a:lnTo>
                  <a:pt x="1059" y="2076"/>
                </a:lnTo>
                <a:lnTo>
                  <a:pt x="1105" y="2059"/>
                </a:lnTo>
                <a:lnTo>
                  <a:pt x="1150" y="2037"/>
                </a:lnTo>
                <a:lnTo>
                  <a:pt x="1191" y="2011"/>
                </a:lnTo>
                <a:lnTo>
                  <a:pt x="1228" y="1980"/>
                </a:lnTo>
                <a:lnTo>
                  <a:pt x="1262" y="1946"/>
                </a:lnTo>
                <a:lnTo>
                  <a:pt x="1292" y="1907"/>
                </a:lnTo>
                <a:lnTo>
                  <a:pt x="1318" y="1865"/>
                </a:lnTo>
                <a:lnTo>
                  <a:pt x="1338" y="1820"/>
                </a:lnTo>
                <a:lnTo>
                  <a:pt x="1353" y="1773"/>
                </a:lnTo>
                <a:lnTo>
                  <a:pt x="1362" y="1723"/>
                </a:lnTo>
                <a:lnTo>
                  <a:pt x="1365" y="1673"/>
                </a:lnTo>
                <a:lnTo>
                  <a:pt x="1362" y="1620"/>
                </a:lnTo>
                <a:lnTo>
                  <a:pt x="1352" y="1569"/>
                </a:lnTo>
                <a:lnTo>
                  <a:pt x="1336" y="1520"/>
                </a:lnTo>
                <a:lnTo>
                  <a:pt x="1315" y="1475"/>
                </a:lnTo>
                <a:lnTo>
                  <a:pt x="1289" y="1432"/>
                </a:lnTo>
                <a:lnTo>
                  <a:pt x="1258" y="1392"/>
                </a:lnTo>
                <a:lnTo>
                  <a:pt x="1223" y="1357"/>
                </a:lnTo>
                <a:lnTo>
                  <a:pt x="1184" y="1326"/>
                </a:lnTo>
                <a:lnTo>
                  <a:pt x="1141" y="1300"/>
                </a:lnTo>
                <a:lnTo>
                  <a:pt x="1094" y="1279"/>
                </a:lnTo>
                <a:lnTo>
                  <a:pt x="1046" y="1263"/>
                </a:lnTo>
                <a:lnTo>
                  <a:pt x="995" y="1254"/>
                </a:lnTo>
                <a:lnTo>
                  <a:pt x="942" y="1251"/>
                </a:lnTo>
                <a:close/>
                <a:moveTo>
                  <a:pt x="942" y="1203"/>
                </a:moveTo>
                <a:lnTo>
                  <a:pt x="996" y="1206"/>
                </a:lnTo>
                <a:lnTo>
                  <a:pt x="1049" y="1215"/>
                </a:lnTo>
                <a:lnTo>
                  <a:pt x="1101" y="1230"/>
                </a:lnTo>
                <a:lnTo>
                  <a:pt x="1149" y="1250"/>
                </a:lnTo>
                <a:lnTo>
                  <a:pt x="1194" y="1275"/>
                </a:lnTo>
                <a:lnTo>
                  <a:pt x="1237" y="1306"/>
                </a:lnTo>
                <a:lnTo>
                  <a:pt x="1276" y="1340"/>
                </a:lnTo>
                <a:lnTo>
                  <a:pt x="1310" y="1379"/>
                </a:lnTo>
                <a:lnTo>
                  <a:pt x="1340" y="1421"/>
                </a:lnTo>
                <a:lnTo>
                  <a:pt x="1365" y="1466"/>
                </a:lnTo>
                <a:lnTo>
                  <a:pt x="1386" y="1514"/>
                </a:lnTo>
                <a:lnTo>
                  <a:pt x="1401" y="1565"/>
                </a:lnTo>
                <a:lnTo>
                  <a:pt x="1411" y="1618"/>
                </a:lnTo>
                <a:lnTo>
                  <a:pt x="1414" y="1673"/>
                </a:lnTo>
                <a:lnTo>
                  <a:pt x="1411" y="1727"/>
                </a:lnTo>
                <a:lnTo>
                  <a:pt x="1402" y="1778"/>
                </a:lnTo>
                <a:lnTo>
                  <a:pt x="1386" y="1828"/>
                </a:lnTo>
                <a:lnTo>
                  <a:pt x="1366" y="1875"/>
                </a:lnTo>
                <a:lnTo>
                  <a:pt x="1342" y="1920"/>
                </a:lnTo>
                <a:lnTo>
                  <a:pt x="1312" y="1961"/>
                </a:lnTo>
                <a:lnTo>
                  <a:pt x="1279" y="2000"/>
                </a:lnTo>
                <a:lnTo>
                  <a:pt x="1241" y="2034"/>
                </a:lnTo>
                <a:lnTo>
                  <a:pt x="1201" y="2063"/>
                </a:lnTo>
                <a:lnTo>
                  <a:pt x="1155" y="2090"/>
                </a:lnTo>
                <a:lnTo>
                  <a:pt x="1109" y="2111"/>
                </a:lnTo>
                <a:lnTo>
                  <a:pt x="1059" y="2126"/>
                </a:lnTo>
                <a:lnTo>
                  <a:pt x="1059" y="2385"/>
                </a:lnTo>
                <a:lnTo>
                  <a:pt x="1090" y="2385"/>
                </a:lnTo>
                <a:lnTo>
                  <a:pt x="1090" y="2275"/>
                </a:lnTo>
                <a:lnTo>
                  <a:pt x="1093" y="2252"/>
                </a:lnTo>
                <a:lnTo>
                  <a:pt x="1100" y="2232"/>
                </a:lnTo>
                <a:lnTo>
                  <a:pt x="1112" y="2213"/>
                </a:lnTo>
                <a:lnTo>
                  <a:pt x="1128" y="2198"/>
                </a:lnTo>
                <a:lnTo>
                  <a:pt x="1145" y="2187"/>
                </a:lnTo>
                <a:lnTo>
                  <a:pt x="1166" y="2179"/>
                </a:lnTo>
                <a:lnTo>
                  <a:pt x="1188" y="2177"/>
                </a:lnTo>
                <a:lnTo>
                  <a:pt x="1199" y="2177"/>
                </a:lnTo>
                <a:lnTo>
                  <a:pt x="1222" y="2179"/>
                </a:lnTo>
                <a:lnTo>
                  <a:pt x="1243" y="2187"/>
                </a:lnTo>
                <a:lnTo>
                  <a:pt x="1261" y="2198"/>
                </a:lnTo>
                <a:lnTo>
                  <a:pt x="1276" y="2213"/>
                </a:lnTo>
                <a:lnTo>
                  <a:pt x="1288" y="2232"/>
                </a:lnTo>
                <a:lnTo>
                  <a:pt x="1296" y="2252"/>
                </a:lnTo>
                <a:lnTo>
                  <a:pt x="1298" y="2275"/>
                </a:lnTo>
                <a:lnTo>
                  <a:pt x="1298" y="2385"/>
                </a:lnTo>
                <a:lnTo>
                  <a:pt x="1336" y="2385"/>
                </a:lnTo>
                <a:lnTo>
                  <a:pt x="1336" y="2275"/>
                </a:lnTo>
                <a:lnTo>
                  <a:pt x="1339" y="2252"/>
                </a:lnTo>
                <a:lnTo>
                  <a:pt x="1346" y="2232"/>
                </a:lnTo>
                <a:lnTo>
                  <a:pt x="1357" y="2213"/>
                </a:lnTo>
                <a:lnTo>
                  <a:pt x="1373" y="2198"/>
                </a:lnTo>
                <a:lnTo>
                  <a:pt x="1391" y="2187"/>
                </a:lnTo>
                <a:lnTo>
                  <a:pt x="1412" y="2179"/>
                </a:lnTo>
                <a:lnTo>
                  <a:pt x="1435" y="2177"/>
                </a:lnTo>
                <a:lnTo>
                  <a:pt x="1446" y="2177"/>
                </a:lnTo>
                <a:lnTo>
                  <a:pt x="1468" y="2179"/>
                </a:lnTo>
                <a:lnTo>
                  <a:pt x="1489" y="2187"/>
                </a:lnTo>
                <a:lnTo>
                  <a:pt x="1507" y="2198"/>
                </a:lnTo>
                <a:lnTo>
                  <a:pt x="1522" y="2213"/>
                </a:lnTo>
                <a:lnTo>
                  <a:pt x="1533" y="2232"/>
                </a:lnTo>
                <a:lnTo>
                  <a:pt x="1541" y="2252"/>
                </a:lnTo>
                <a:lnTo>
                  <a:pt x="1543" y="2275"/>
                </a:lnTo>
                <a:lnTo>
                  <a:pt x="1543" y="2385"/>
                </a:lnTo>
                <a:lnTo>
                  <a:pt x="1582" y="2385"/>
                </a:lnTo>
                <a:lnTo>
                  <a:pt x="1582" y="2275"/>
                </a:lnTo>
                <a:lnTo>
                  <a:pt x="1584" y="2252"/>
                </a:lnTo>
                <a:lnTo>
                  <a:pt x="1592" y="2232"/>
                </a:lnTo>
                <a:lnTo>
                  <a:pt x="1603" y="2213"/>
                </a:lnTo>
                <a:lnTo>
                  <a:pt x="1618" y="2198"/>
                </a:lnTo>
                <a:lnTo>
                  <a:pt x="1637" y="2187"/>
                </a:lnTo>
                <a:lnTo>
                  <a:pt x="1657" y="2179"/>
                </a:lnTo>
                <a:lnTo>
                  <a:pt x="1680" y="2177"/>
                </a:lnTo>
                <a:lnTo>
                  <a:pt x="1690" y="2177"/>
                </a:lnTo>
                <a:lnTo>
                  <a:pt x="1713" y="2179"/>
                </a:lnTo>
                <a:lnTo>
                  <a:pt x="1734" y="2187"/>
                </a:lnTo>
                <a:lnTo>
                  <a:pt x="1752" y="2198"/>
                </a:lnTo>
                <a:lnTo>
                  <a:pt x="1768" y="2213"/>
                </a:lnTo>
                <a:lnTo>
                  <a:pt x="1780" y="2232"/>
                </a:lnTo>
                <a:lnTo>
                  <a:pt x="1786" y="2252"/>
                </a:lnTo>
                <a:lnTo>
                  <a:pt x="1790" y="2275"/>
                </a:lnTo>
                <a:lnTo>
                  <a:pt x="1790" y="2482"/>
                </a:lnTo>
                <a:lnTo>
                  <a:pt x="1789" y="2482"/>
                </a:lnTo>
                <a:lnTo>
                  <a:pt x="1789" y="2483"/>
                </a:lnTo>
                <a:lnTo>
                  <a:pt x="1789" y="3085"/>
                </a:lnTo>
                <a:lnTo>
                  <a:pt x="1789" y="3087"/>
                </a:lnTo>
                <a:lnTo>
                  <a:pt x="1789" y="3093"/>
                </a:lnTo>
                <a:lnTo>
                  <a:pt x="1788" y="3101"/>
                </a:lnTo>
                <a:lnTo>
                  <a:pt x="1786" y="3113"/>
                </a:lnTo>
                <a:lnTo>
                  <a:pt x="1785" y="3128"/>
                </a:lnTo>
                <a:lnTo>
                  <a:pt x="1782" y="3145"/>
                </a:lnTo>
                <a:lnTo>
                  <a:pt x="1779" y="3164"/>
                </a:lnTo>
                <a:lnTo>
                  <a:pt x="1773" y="3186"/>
                </a:lnTo>
                <a:lnTo>
                  <a:pt x="1767" y="3208"/>
                </a:lnTo>
                <a:lnTo>
                  <a:pt x="1759" y="3231"/>
                </a:lnTo>
                <a:lnTo>
                  <a:pt x="1749" y="3256"/>
                </a:lnTo>
                <a:lnTo>
                  <a:pt x="1737" y="3281"/>
                </a:lnTo>
                <a:lnTo>
                  <a:pt x="1723" y="3306"/>
                </a:lnTo>
                <a:lnTo>
                  <a:pt x="1707" y="3330"/>
                </a:lnTo>
                <a:lnTo>
                  <a:pt x="1688" y="3356"/>
                </a:lnTo>
                <a:lnTo>
                  <a:pt x="1666" y="3379"/>
                </a:lnTo>
                <a:lnTo>
                  <a:pt x="1642" y="3401"/>
                </a:lnTo>
                <a:lnTo>
                  <a:pt x="1614" y="3422"/>
                </a:lnTo>
                <a:lnTo>
                  <a:pt x="1583" y="3441"/>
                </a:lnTo>
                <a:lnTo>
                  <a:pt x="1549" y="3459"/>
                </a:lnTo>
                <a:lnTo>
                  <a:pt x="1511" y="3473"/>
                </a:lnTo>
                <a:lnTo>
                  <a:pt x="1469" y="3485"/>
                </a:lnTo>
                <a:lnTo>
                  <a:pt x="1424" y="3494"/>
                </a:lnTo>
                <a:lnTo>
                  <a:pt x="1374" y="3500"/>
                </a:lnTo>
                <a:lnTo>
                  <a:pt x="1320" y="3502"/>
                </a:lnTo>
                <a:lnTo>
                  <a:pt x="1264" y="3500"/>
                </a:lnTo>
                <a:lnTo>
                  <a:pt x="1212" y="3495"/>
                </a:lnTo>
                <a:lnTo>
                  <a:pt x="1163" y="3487"/>
                </a:lnTo>
                <a:lnTo>
                  <a:pt x="1120" y="3477"/>
                </a:lnTo>
                <a:lnTo>
                  <a:pt x="1080" y="3463"/>
                </a:lnTo>
                <a:lnTo>
                  <a:pt x="1044" y="3448"/>
                </a:lnTo>
                <a:lnTo>
                  <a:pt x="1011" y="3431"/>
                </a:lnTo>
                <a:lnTo>
                  <a:pt x="983" y="3413"/>
                </a:lnTo>
                <a:lnTo>
                  <a:pt x="956" y="3394"/>
                </a:lnTo>
                <a:lnTo>
                  <a:pt x="934" y="3373"/>
                </a:lnTo>
                <a:lnTo>
                  <a:pt x="914" y="3353"/>
                </a:lnTo>
                <a:lnTo>
                  <a:pt x="898" y="3332"/>
                </a:lnTo>
                <a:lnTo>
                  <a:pt x="884" y="3312"/>
                </a:lnTo>
                <a:lnTo>
                  <a:pt x="873" y="3292"/>
                </a:lnTo>
                <a:lnTo>
                  <a:pt x="864" y="3273"/>
                </a:lnTo>
                <a:lnTo>
                  <a:pt x="862" y="3270"/>
                </a:lnTo>
                <a:lnTo>
                  <a:pt x="858" y="3263"/>
                </a:lnTo>
                <a:lnTo>
                  <a:pt x="851" y="3251"/>
                </a:lnTo>
                <a:lnTo>
                  <a:pt x="842" y="3234"/>
                </a:lnTo>
                <a:lnTo>
                  <a:pt x="830" y="3215"/>
                </a:lnTo>
                <a:lnTo>
                  <a:pt x="817" y="3192"/>
                </a:lnTo>
                <a:lnTo>
                  <a:pt x="803" y="3165"/>
                </a:lnTo>
                <a:lnTo>
                  <a:pt x="786" y="3137"/>
                </a:lnTo>
                <a:lnTo>
                  <a:pt x="768" y="3106"/>
                </a:lnTo>
                <a:lnTo>
                  <a:pt x="749" y="3074"/>
                </a:lnTo>
                <a:lnTo>
                  <a:pt x="731" y="3040"/>
                </a:lnTo>
                <a:lnTo>
                  <a:pt x="711" y="3004"/>
                </a:lnTo>
                <a:lnTo>
                  <a:pt x="691" y="2969"/>
                </a:lnTo>
                <a:lnTo>
                  <a:pt x="670" y="2934"/>
                </a:lnTo>
                <a:lnTo>
                  <a:pt x="650" y="2898"/>
                </a:lnTo>
                <a:lnTo>
                  <a:pt x="630" y="2864"/>
                </a:lnTo>
                <a:lnTo>
                  <a:pt x="611" y="2829"/>
                </a:lnTo>
                <a:lnTo>
                  <a:pt x="593" y="2796"/>
                </a:lnTo>
                <a:lnTo>
                  <a:pt x="575" y="2766"/>
                </a:lnTo>
                <a:lnTo>
                  <a:pt x="559" y="2737"/>
                </a:lnTo>
                <a:lnTo>
                  <a:pt x="545" y="2711"/>
                </a:lnTo>
                <a:lnTo>
                  <a:pt x="532" y="2686"/>
                </a:lnTo>
                <a:lnTo>
                  <a:pt x="521" y="2667"/>
                </a:lnTo>
                <a:lnTo>
                  <a:pt x="512" y="2650"/>
                </a:lnTo>
                <a:lnTo>
                  <a:pt x="500" y="2621"/>
                </a:lnTo>
                <a:lnTo>
                  <a:pt x="492" y="2596"/>
                </a:lnTo>
                <a:lnTo>
                  <a:pt x="490" y="2572"/>
                </a:lnTo>
                <a:lnTo>
                  <a:pt x="492" y="2551"/>
                </a:lnTo>
                <a:lnTo>
                  <a:pt x="497" y="2532"/>
                </a:lnTo>
                <a:lnTo>
                  <a:pt x="507" y="2517"/>
                </a:lnTo>
                <a:lnTo>
                  <a:pt x="520" y="2504"/>
                </a:lnTo>
                <a:lnTo>
                  <a:pt x="534" y="2494"/>
                </a:lnTo>
                <a:lnTo>
                  <a:pt x="552" y="2487"/>
                </a:lnTo>
                <a:lnTo>
                  <a:pt x="572" y="2484"/>
                </a:lnTo>
                <a:lnTo>
                  <a:pt x="591" y="2483"/>
                </a:lnTo>
                <a:lnTo>
                  <a:pt x="614" y="2486"/>
                </a:lnTo>
                <a:lnTo>
                  <a:pt x="636" y="2496"/>
                </a:lnTo>
                <a:lnTo>
                  <a:pt x="659" y="2511"/>
                </a:lnTo>
                <a:lnTo>
                  <a:pt x="681" y="2533"/>
                </a:lnTo>
                <a:lnTo>
                  <a:pt x="705" y="2561"/>
                </a:lnTo>
                <a:lnTo>
                  <a:pt x="731" y="2592"/>
                </a:lnTo>
                <a:lnTo>
                  <a:pt x="757" y="2626"/>
                </a:lnTo>
                <a:lnTo>
                  <a:pt x="785" y="2662"/>
                </a:lnTo>
                <a:lnTo>
                  <a:pt x="816" y="2700"/>
                </a:lnTo>
                <a:lnTo>
                  <a:pt x="850" y="2737"/>
                </a:lnTo>
                <a:lnTo>
                  <a:pt x="850" y="2133"/>
                </a:lnTo>
                <a:lnTo>
                  <a:pt x="797" y="2120"/>
                </a:lnTo>
                <a:lnTo>
                  <a:pt x="746" y="2100"/>
                </a:lnTo>
                <a:lnTo>
                  <a:pt x="699" y="2076"/>
                </a:lnTo>
                <a:lnTo>
                  <a:pt x="654" y="2046"/>
                </a:lnTo>
                <a:lnTo>
                  <a:pt x="615" y="2011"/>
                </a:lnTo>
                <a:lnTo>
                  <a:pt x="578" y="1972"/>
                </a:lnTo>
                <a:lnTo>
                  <a:pt x="546" y="1930"/>
                </a:lnTo>
                <a:lnTo>
                  <a:pt x="520" y="1884"/>
                </a:lnTo>
                <a:lnTo>
                  <a:pt x="499" y="1835"/>
                </a:lnTo>
                <a:lnTo>
                  <a:pt x="482" y="1783"/>
                </a:lnTo>
                <a:lnTo>
                  <a:pt x="473" y="1729"/>
                </a:lnTo>
                <a:lnTo>
                  <a:pt x="469" y="1673"/>
                </a:lnTo>
                <a:lnTo>
                  <a:pt x="472" y="1618"/>
                </a:lnTo>
                <a:lnTo>
                  <a:pt x="482" y="1565"/>
                </a:lnTo>
                <a:lnTo>
                  <a:pt x="496" y="1514"/>
                </a:lnTo>
                <a:lnTo>
                  <a:pt x="517" y="1466"/>
                </a:lnTo>
                <a:lnTo>
                  <a:pt x="543" y="1421"/>
                </a:lnTo>
                <a:lnTo>
                  <a:pt x="573" y="1379"/>
                </a:lnTo>
                <a:lnTo>
                  <a:pt x="608" y="1340"/>
                </a:lnTo>
                <a:lnTo>
                  <a:pt x="647" y="1306"/>
                </a:lnTo>
                <a:lnTo>
                  <a:pt x="689" y="1275"/>
                </a:lnTo>
                <a:lnTo>
                  <a:pt x="734" y="1250"/>
                </a:lnTo>
                <a:lnTo>
                  <a:pt x="783" y="1230"/>
                </a:lnTo>
                <a:lnTo>
                  <a:pt x="834" y="1215"/>
                </a:lnTo>
                <a:lnTo>
                  <a:pt x="887" y="1206"/>
                </a:lnTo>
                <a:lnTo>
                  <a:pt x="942" y="1203"/>
                </a:lnTo>
                <a:close/>
                <a:moveTo>
                  <a:pt x="639" y="141"/>
                </a:moveTo>
                <a:lnTo>
                  <a:pt x="628" y="144"/>
                </a:lnTo>
                <a:lnTo>
                  <a:pt x="619" y="153"/>
                </a:lnTo>
                <a:lnTo>
                  <a:pt x="616" y="165"/>
                </a:lnTo>
                <a:lnTo>
                  <a:pt x="619" y="177"/>
                </a:lnTo>
                <a:lnTo>
                  <a:pt x="628" y="185"/>
                </a:lnTo>
                <a:lnTo>
                  <a:pt x="639" y="188"/>
                </a:lnTo>
                <a:lnTo>
                  <a:pt x="1056" y="188"/>
                </a:lnTo>
                <a:lnTo>
                  <a:pt x="1068" y="185"/>
                </a:lnTo>
                <a:lnTo>
                  <a:pt x="1077" y="177"/>
                </a:lnTo>
                <a:lnTo>
                  <a:pt x="1080" y="165"/>
                </a:lnTo>
                <a:lnTo>
                  <a:pt x="1077" y="153"/>
                </a:lnTo>
                <a:lnTo>
                  <a:pt x="1068" y="144"/>
                </a:lnTo>
                <a:lnTo>
                  <a:pt x="1056" y="141"/>
                </a:lnTo>
                <a:lnTo>
                  <a:pt x="639" y="141"/>
                </a:lnTo>
                <a:close/>
                <a:moveTo>
                  <a:pt x="197" y="0"/>
                </a:moveTo>
                <a:lnTo>
                  <a:pt x="1498" y="0"/>
                </a:lnTo>
                <a:lnTo>
                  <a:pt x="1533" y="2"/>
                </a:lnTo>
                <a:lnTo>
                  <a:pt x="1566" y="12"/>
                </a:lnTo>
                <a:lnTo>
                  <a:pt x="1597" y="26"/>
                </a:lnTo>
                <a:lnTo>
                  <a:pt x="1625" y="46"/>
                </a:lnTo>
                <a:lnTo>
                  <a:pt x="1648" y="69"/>
                </a:lnTo>
                <a:lnTo>
                  <a:pt x="1668" y="97"/>
                </a:lnTo>
                <a:lnTo>
                  <a:pt x="1683" y="127"/>
                </a:lnTo>
                <a:lnTo>
                  <a:pt x="1692" y="160"/>
                </a:lnTo>
                <a:lnTo>
                  <a:pt x="1696" y="196"/>
                </a:lnTo>
                <a:lnTo>
                  <a:pt x="1696" y="2034"/>
                </a:lnTo>
                <a:lnTo>
                  <a:pt x="1558" y="2034"/>
                </a:lnTo>
                <a:lnTo>
                  <a:pt x="1558" y="310"/>
                </a:lnTo>
                <a:lnTo>
                  <a:pt x="137" y="310"/>
                </a:lnTo>
                <a:lnTo>
                  <a:pt x="137" y="2542"/>
                </a:lnTo>
                <a:lnTo>
                  <a:pt x="356" y="2542"/>
                </a:lnTo>
                <a:lnTo>
                  <a:pt x="551" y="2905"/>
                </a:lnTo>
                <a:lnTo>
                  <a:pt x="197" y="2905"/>
                </a:lnTo>
                <a:lnTo>
                  <a:pt x="161" y="2902"/>
                </a:lnTo>
                <a:lnTo>
                  <a:pt x="128" y="2892"/>
                </a:lnTo>
                <a:lnTo>
                  <a:pt x="98" y="2878"/>
                </a:lnTo>
                <a:lnTo>
                  <a:pt x="71" y="2858"/>
                </a:lnTo>
                <a:lnTo>
                  <a:pt x="46" y="2835"/>
                </a:lnTo>
                <a:lnTo>
                  <a:pt x="27" y="2807"/>
                </a:lnTo>
                <a:lnTo>
                  <a:pt x="12" y="2777"/>
                </a:lnTo>
                <a:lnTo>
                  <a:pt x="3" y="2744"/>
                </a:lnTo>
                <a:lnTo>
                  <a:pt x="0" y="2708"/>
                </a:lnTo>
                <a:lnTo>
                  <a:pt x="0" y="196"/>
                </a:lnTo>
                <a:lnTo>
                  <a:pt x="3" y="160"/>
                </a:lnTo>
                <a:lnTo>
                  <a:pt x="12" y="127"/>
                </a:lnTo>
                <a:lnTo>
                  <a:pt x="27" y="97"/>
                </a:lnTo>
                <a:lnTo>
                  <a:pt x="46" y="69"/>
                </a:lnTo>
                <a:lnTo>
                  <a:pt x="71" y="46"/>
                </a:lnTo>
                <a:lnTo>
                  <a:pt x="98" y="26"/>
                </a:lnTo>
                <a:lnTo>
                  <a:pt x="128" y="12"/>
                </a:lnTo>
                <a:lnTo>
                  <a:pt x="161" y="2"/>
                </a:lnTo>
                <a:lnTo>
                  <a:pt x="1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g3dd6299f58b_0_111"/>
          <p:cNvSpPr/>
          <p:nvPr/>
        </p:nvSpPr>
        <p:spPr>
          <a:xfrm>
            <a:off x="9881314" y="802340"/>
            <a:ext cx="2187600" cy="307800"/>
          </a:xfrm>
          <a:prstGeom prst="rect">
            <a:avLst/>
          </a:prstGeom>
          <a:solidFill>
            <a:srgbClr val="CC0000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2. Presentation Flow</a:t>
            </a:r>
            <a:endParaRPr sz="14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93" name="Google Shape;393;g3dd6299f58b_0_1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587" y="34941"/>
            <a:ext cx="1343005" cy="575049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g3dd6299f58b_0_111"/>
          <p:cNvSpPr txBox="1">
            <a:spLocks noGrp="1"/>
          </p:cNvSpPr>
          <p:nvPr>
            <p:ph type="sldNum" idx="12"/>
          </p:nvPr>
        </p:nvSpPr>
        <p:spPr>
          <a:xfrm>
            <a:off x="9258300" y="64452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8C141E"/>
          </a:solidFill>
          <a:ln>
            <a:solidFill>
              <a:srgbClr val="8C1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1391147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5920" y="109728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01. Problem Statements &amp; Research Motivation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82512"/>
            <a:ext cx="12188952" cy="4754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72800" y="644652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051560"/>
            <a:ext cx="3291840" cy="3931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161288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8C141E"/>
                </a:solidFill>
                <a:latin typeface="Arial"/>
              </a:defRPr>
            </a:pPr>
            <a:r>
              <a:t>🚨 Information Overload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554480"/>
            <a:ext cx="301752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Exponential Volume: </a:t>
            </a:r>
            <a:r>
              <a:rPr sz="1200">
                <a:solidFill>
                  <a:srgbClr val="1E293B"/>
                </a:solidFill>
                <a:latin typeface="Arial"/>
              </a:rPr>
              <a:t>5M+ peer-reviewed papers published annually across arXiv, IEEE, ACM, Springer.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Cognitive Bottleneck: </a:t>
            </a:r>
            <a:r>
              <a:rPr sz="1200">
                <a:solidFill>
                  <a:srgbClr val="1E293B"/>
                </a:solidFill>
                <a:latin typeface="Arial"/>
              </a:rPr>
              <a:t>Researchers spend 35–50 tedious hours searching disparate databases and skimming non-relevant PDFs.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Synthesis Latency: </a:t>
            </a:r>
            <a:r>
              <a:rPr sz="1200">
                <a:solidFill>
                  <a:srgbClr val="1E293B"/>
                </a:solidFill>
                <a:latin typeface="Arial"/>
              </a:rPr>
              <a:t>Takes 3 to 6 weeks just to establish initial baseline literature survey for capstone/thesis.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051560"/>
            <a:ext cx="3291840" cy="3931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161288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3A8A"/>
                </a:solidFill>
                <a:latin typeface="Arial"/>
              </a:defRPr>
            </a:pPr>
            <a:r>
              <a:t>⚠️ AI Hallucination Hazard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554480"/>
            <a:ext cx="301752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Fabricated Sources: </a:t>
            </a:r>
            <a:r>
              <a:rPr sz="1200">
                <a:solidFill>
                  <a:srgbClr val="1E293B"/>
                </a:solidFill>
                <a:latin typeface="Arial"/>
              </a:rPr>
              <a:t>Commercial LLMs (vanilla ChatGPT/Gemini) frequently invent fake authors, titles, and DOIs.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Zero Grounding: </a:t>
            </a:r>
            <a:r>
              <a:rPr sz="1200">
                <a:solidFill>
                  <a:srgbClr val="1E293B"/>
                </a:solidFill>
                <a:latin typeface="Arial"/>
              </a:rPr>
              <a:t>Standard chatbots lack direct access to academic full-texts and cannot verify citation truth.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Academic Risk: </a:t>
            </a:r>
            <a:r>
              <a:rPr sz="1200">
                <a:solidFill>
                  <a:srgbClr val="1E293B"/>
                </a:solidFill>
                <a:latin typeface="Arial"/>
              </a:rPr>
              <a:t>Submitting unverified AI summaries causes paper rejections and academic integrity violations.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051560"/>
            <a:ext cx="3383280" cy="3931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80" y="1161288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8C141E"/>
                </a:solidFill>
                <a:latin typeface="Arial"/>
              </a:defRPr>
            </a:pPr>
            <a:r>
              <a:t>📉 Fragmented Tooling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1554480"/>
            <a:ext cx="310896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Siloed Software: </a:t>
            </a:r>
            <a:r>
              <a:rPr sz="1200">
                <a:solidFill>
                  <a:srgbClr val="1E293B"/>
                </a:solidFill>
                <a:latin typeface="Arial"/>
              </a:rPr>
              <a:t>Existing tools only do 1 thing: Zotero stores citations, ChatPDF chats with 1 PDF, ConnectedPapers shows graphs.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No Gap Detection: </a:t>
            </a:r>
            <a:r>
              <a:rPr sz="1200">
                <a:solidFill>
                  <a:srgbClr val="1E293B"/>
                </a:solidFill>
                <a:latin typeface="Arial"/>
              </a:rPr>
              <a:t>None of the existing tools algorithmically cross-reference methods vs datasets to find open gaps.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No Word Report: </a:t>
            </a:r>
            <a:r>
              <a:rPr sz="1200">
                <a:solidFill>
                  <a:srgbClr val="1E293B"/>
                </a:solidFill>
                <a:latin typeface="Arial"/>
              </a:rPr>
              <a:t>Manual drafting of comparative survey tables in Excel and Word remains fully manual.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166360"/>
            <a:ext cx="2468880" cy="960120"/>
          </a:xfrm>
          <a:prstGeom prst="roundRect">
            <a:avLst/>
          </a:prstGeom>
          <a:solidFill>
            <a:srgbClr val="8C141E"/>
          </a:solidFill>
          <a:ln>
            <a:solidFill>
              <a:srgbClr val="8C1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40+ Hours</a:t>
            </a:r>
          </a:p>
          <a:p>
            <a:pPr algn="ctr">
              <a:defRPr sz="1100">
                <a:solidFill>
                  <a:srgbClr val="E2E8F0"/>
                </a:solidFill>
                <a:latin typeface="Arial"/>
              </a:defRPr>
            </a:pPr>
            <a:r>
              <a:t>Manual Literature Survey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5166360"/>
            <a:ext cx="2468880" cy="96012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Under 3.5 Min</a:t>
            </a:r>
          </a:p>
          <a:p>
            <a:pPr algn="ctr">
              <a:defRPr sz="1100">
                <a:solidFill>
                  <a:srgbClr val="E2E8F0"/>
                </a:solidFill>
                <a:latin typeface="Arial"/>
              </a:defRPr>
            </a:pPr>
            <a:r>
              <a:t>Autonomous Review Time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5166360"/>
            <a:ext cx="2468880" cy="960120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100%</a:t>
            </a:r>
          </a:p>
          <a:p>
            <a:pPr algn="ctr">
              <a:defRPr sz="1100">
                <a:solidFill>
                  <a:srgbClr val="E2E8F0"/>
                </a:solidFill>
                <a:latin typeface="Arial"/>
              </a:defRPr>
            </a:pPr>
            <a:r>
              <a:t>Citation Grounded [1]-[20]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20" y="5166360"/>
            <a:ext cx="2468880" cy="96012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0% Hallucination</a:t>
            </a:r>
          </a:p>
          <a:p>
            <a:pPr algn="ctr">
              <a:defRPr sz="1100">
                <a:solidFill>
                  <a:srgbClr val="E2E8F0"/>
                </a:solidFill>
                <a:latin typeface="Arial"/>
              </a:defRPr>
            </a:pPr>
            <a:r>
              <a:t>Strict RAG Verification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8C141E"/>
          </a:solidFill>
          <a:ln>
            <a:solidFill>
              <a:srgbClr val="8C1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1391147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5920" y="109728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02. Research Initiatives &amp; Project Objectives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82512"/>
            <a:ext cx="12188952" cy="4754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72800" y="644652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051560"/>
            <a:ext cx="5120640" cy="2377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161288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3A8A"/>
                </a:solidFill>
                <a:latin typeface="Arial"/>
              </a:defRPr>
            </a:pPr>
            <a:r>
              <a:t>🌐 1. Federated Academic Harvesting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554480"/>
            <a:ext cx="48463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Parallel Dispatch: </a:t>
            </a:r>
            <a:r>
              <a:rPr sz="1200">
                <a:solidFill>
                  <a:srgbClr val="1E293B"/>
                </a:solidFill>
                <a:latin typeface="Arial"/>
              </a:rPr>
              <a:t>Concurrently query arXiv, OpenAlex, Crossref, and Semantic Scholar APIs in under 2.8s.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Levenshtein Deduplication: </a:t>
            </a:r>
            <a:r>
              <a:rPr sz="1200">
                <a:solidFill>
                  <a:srgbClr val="1E293B"/>
                </a:solidFill>
                <a:latin typeface="Arial"/>
              </a:rPr>
              <a:t>Eliminate duplicate preprints and normalize heterogeneous JSON schemas into a unified Paper model.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Hybrid Relevance Ranking: </a:t>
            </a:r>
            <a:r>
              <a:rPr sz="1200">
                <a:solidFill>
                  <a:srgbClr val="1E293B"/>
                </a:solidFill>
                <a:latin typeface="Arial"/>
              </a:rPr>
              <a:t>Multi-factor scoring: Title (40%), Abstract (35%), Recency (15%), Citations (10%).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051560"/>
            <a:ext cx="5212080" cy="2377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161288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8C141E"/>
                </a:solidFill>
                <a:latin typeface="Arial"/>
              </a:defRPr>
            </a:pPr>
            <a:r>
              <a:t>📄 2. Deep 5-Dimension Extraction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554480"/>
            <a:ext cx="49377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High-Speed PyMuPDF: </a:t>
            </a:r>
            <a:r>
              <a:rPr sz="1200">
                <a:solidFill>
                  <a:srgbClr val="1E293B"/>
                </a:solidFill>
                <a:latin typeface="Arial"/>
              </a:rPr>
              <a:t>Extract full PDF text and metadata (DOIs, authors, year) in under 12 seconds for 20 papers.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Structured Dimension Parsing: </a:t>
            </a:r>
            <a:r>
              <a:rPr sz="1200">
                <a:solidFill>
                  <a:srgbClr val="1E293B"/>
                </a:solidFill>
                <a:latin typeface="Arial"/>
              </a:rPr>
              <a:t>Extracts: (1) Problem, (2) Methodology, (3) Datasets, (4) Findings, (5) Limitations.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Heuristic Fallback: </a:t>
            </a:r>
            <a:r>
              <a:rPr sz="1200">
                <a:solidFill>
                  <a:srgbClr val="1E293B"/>
                </a:solidFill>
                <a:latin typeface="Arial"/>
              </a:rPr>
              <a:t>Offline regex extraction ensures 0% crash even when disconnected from cloud LLMs.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57600"/>
            <a:ext cx="5120640" cy="2468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767328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59669"/>
                </a:solidFill>
                <a:latin typeface="Arial"/>
              </a:defRPr>
            </a:pPr>
            <a:r>
              <a:t>🎙️ 3. Multimodal Voice Agent ('Salim')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160520"/>
            <a:ext cx="484632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Dual-Mode Speech Engine: </a:t>
            </a:r>
            <a:r>
              <a:rPr sz="1200">
                <a:solidFill>
                  <a:srgbClr val="1E293B"/>
                </a:solidFill>
                <a:latin typeface="Arial"/>
              </a:rPr>
              <a:t>Browser-native Web Speech API dictation + Groq Whisper-large-v3 transcription.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Cultural Persona: </a:t>
            </a:r>
            <a:r>
              <a:rPr sz="1200">
                <a:solidFill>
                  <a:srgbClr val="1E293B"/>
                </a:solidFill>
                <a:latin typeface="Arial"/>
              </a:rPr>
              <a:t>Conversational assistant with Roman-script Hinglish/English, markdown tables, and emojis.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Strict RAG Memory: </a:t>
            </a:r>
            <a:r>
              <a:rPr sz="1200">
                <a:solidFill>
                  <a:srgbClr val="1E293B"/>
                </a:solidFill>
                <a:latin typeface="Arial"/>
              </a:rPr>
              <a:t>Bracketed citations [1], [2] linked directly to active papers with multi-turn memory.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657600"/>
            <a:ext cx="5212080" cy="2468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3767328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3A8A"/>
                </a:solidFill>
                <a:latin typeface="Arial"/>
              </a:defRPr>
            </a:pPr>
            <a:r>
              <a:t>📊 4. Gap Discovery &amp; Synthesis Export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4160520"/>
            <a:ext cx="493776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Empirical Gap Detector: </a:t>
            </a:r>
            <a:r>
              <a:rPr sz="1200">
                <a:solidFill>
                  <a:srgbClr val="1E293B"/>
                </a:solidFill>
                <a:latin typeface="Arial"/>
              </a:rPr>
              <a:t>Cross-references extracted methods vs datasets to mathematically identify unexplored white spaces.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7-Section Academic SLR: </a:t>
            </a:r>
            <a:r>
              <a:rPr sz="1200">
                <a:solidFill>
                  <a:srgbClr val="1E293B"/>
                </a:solidFill>
                <a:latin typeface="Arial"/>
              </a:rPr>
              <a:t>Synthesizes Title, Abstract, Background, Taxonomy, Comparative Analysis, Gaps, and References.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One-Click Export: </a:t>
            </a:r>
            <a:r>
              <a:rPr sz="1200">
                <a:solidFill>
                  <a:srgbClr val="1E293B"/>
                </a:solidFill>
                <a:latin typeface="Arial"/>
              </a:rPr>
              <a:t>Generates professional Microsoft Word (.docx) university reports and CSV benchmarking matrices.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8C141E"/>
          </a:solidFill>
          <a:ln>
            <a:solidFill>
              <a:srgbClr val="8C1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1391147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5920" y="109728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03. Existing Processes &amp; Commercial Solutions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82512"/>
            <a:ext cx="12188952" cy="4754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72800" y="644652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097280"/>
            <a:ext cx="3291840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207008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64748B"/>
                </a:solidFill>
                <a:latin typeface="Arial"/>
              </a:defRPr>
            </a:pPr>
            <a:r>
              <a:t>📚 Conventional Manual SLR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600200"/>
            <a:ext cx="30175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Workflow: </a:t>
            </a:r>
            <a:r>
              <a:rPr sz="1200">
                <a:solidFill>
                  <a:srgbClr val="1E293B"/>
                </a:solidFill>
                <a:latin typeface="Arial"/>
              </a:rPr>
              <a:t>Manual search on Google Scholar / IEEE Xplore -&gt; Download 30 PDFs -&gt; Read 1 by 1.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Key Bottleneck: </a:t>
            </a:r>
            <a:r>
              <a:rPr sz="1200">
                <a:solidFill>
                  <a:srgbClr val="1E293B"/>
                </a:solidFill>
                <a:latin typeface="Arial"/>
              </a:rPr>
              <a:t>Takes 40-50 hours of tedious manual reading and annotation.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Excel Matrix: </a:t>
            </a:r>
            <a:r>
              <a:rPr sz="1200">
                <a:solidFill>
                  <a:srgbClr val="1E293B"/>
                </a:solidFill>
                <a:latin typeface="Arial"/>
              </a:rPr>
              <a:t>Manual copy-pasting of algorithms, datasets, and accuracy scores into spreadsheets.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High Error Rate: </a:t>
            </a:r>
            <a:r>
              <a:rPr sz="1200">
                <a:solidFill>
                  <a:srgbClr val="1E293B"/>
                </a:solidFill>
                <a:latin typeface="Arial"/>
              </a:rPr>
              <a:t>Prone to selective search bias and missed state-of-the-art baselines.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Voice Support: </a:t>
            </a:r>
            <a:r>
              <a:rPr sz="1200">
                <a:solidFill>
                  <a:srgbClr val="1E293B"/>
                </a:solidFill>
                <a:latin typeface="Arial"/>
              </a:rPr>
              <a:t>Completely absent; manual keyboard input only.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097280"/>
            <a:ext cx="3291840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207008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3A8A"/>
                </a:solidFill>
                <a:latin typeface="Arial"/>
              </a:defRPr>
            </a:pPr>
            <a:r>
              <a:t>🕸️ Graph Visualizers (Connected Papers)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600200"/>
            <a:ext cx="30175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Workflow: </a:t>
            </a:r>
            <a:r>
              <a:rPr sz="1200">
                <a:solidFill>
                  <a:srgbClr val="1E293B"/>
                </a:solidFill>
                <a:latin typeface="Arial"/>
              </a:rPr>
              <a:t>Enter a seed paper -&gt; Generates 2D similarity graph of related works.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Key Limitation: </a:t>
            </a:r>
            <a:r>
              <a:rPr sz="1200">
                <a:solidFill>
                  <a:srgbClr val="1E293B"/>
                </a:solidFill>
                <a:latin typeface="Arial"/>
              </a:rPr>
              <a:t>Visual graph only; does NOT extract mathematical methodologies or benchmark figures.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No Synthesis: </a:t>
            </a:r>
            <a:r>
              <a:rPr sz="1200">
                <a:solidFill>
                  <a:srgbClr val="1E293B"/>
                </a:solidFill>
                <a:latin typeface="Arial"/>
              </a:rPr>
              <a:t>Cannot generate structured 7-section literature review reports.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Single Source: </a:t>
            </a:r>
            <a:r>
              <a:rPr sz="1200">
                <a:solidFill>
                  <a:srgbClr val="1E293B"/>
                </a:solidFill>
                <a:latin typeface="Arial"/>
              </a:rPr>
              <a:t>Relies solely on Semantic Scholar corpus.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No Interrogation: </a:t>
            </a:r>
            <a:r>
              <a:rPr sz="1200">
                <a:solidFill>
                  <a:srgbClr val="1E293B"/>
                </a:solidFill>
                <a:latin typeface="Arial"/>
              </a:rPr>
              <a:t>Cannot converse or chat with papers via text or voice.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097280"/>
            <a:ext cx="3383280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80" y="1207008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8C141E"/>
                </a:solidFill>
                <a:latin typeface="Arial"/>
              </a:defRPr>
            </a:pPr>
            <a:r>
              <a:t>💬 PDF Chatbots (ChatPDF / Elicit)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1600200"/>
            <a:ext cx="31089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Workflow: </a:t>
            </a:r>
            <a:r>
              <a:rPr sz="1200">
                <a:solidFill>
                  <a:srgbClr val="1E293B"/>
                </a:solidFill>
                <a:latin typeface="Arial"/>
              </a:rPr>
              <a:t>Upload a single PDF -&gt; Ask simple questions about that single paper.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Single-Paper Scope: </a:t>
            </a:r>
            <a:r>
              <a:rPr sz="1200">
                <a:solidFill>
                  <a:srgbClr val="1E293B"/>
                </a:solidFill>
                <a:latin typeface="Arial"/>
              </a:rPr>
              <a:t>Cannot synthesize cross-paper comparative matrices across 20+ papers.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No Gap Detection: </a:t>
            </a:r>
            <a:r>
              <a:rPr sz="1200">
                <a:solidFill>
                  <a:srgbClr val="1E293B"/>
                </a:solidFill>
                <a:latin typeface="Arial"/>
              </a:rPr>
              <a:t>Cannot analyze methodology-dataset voids.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Paywalled &amp; Cloud-Locked: </a:t>
            </a:r>
            <a:r>
              <a:rPr sz="1200">
                <a:solidFill>
                  <a:srgbClr val="1E293B"/>
                </a:solidFill>
                <a:latin typeface="Arial"/>
              </a:rPr>
              <a:t>Expensive monthly subscriptions ($20-$30/mo) with strict page limits.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No Offline Mode: </a:t>
            </a:r>
            <a:r>
              <a:rPr sz="1200">
                <a:solidFill>
                  <a:srgbClr val="1E293B"/>
                </a:solidFill>
                <a:latin typeface="Arial"/>
              </a:rPr>
              <a:t>Crashes completely without active cloud internet.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8C141E"/>
          </a:solidFill>
          <a:ln>
            <a:solidFill>
              <a:srgbClr val="8C1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1391147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5920" y="109728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04. Compare &amp; Contrast Alternative Solutions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82512"/>
            <a:ext cx="12188952" cy="4754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72800" y="644652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rial"/>
              </a:defRPr>
            </a:pPr>
            <a:r>
              <a:t>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097280"/>
          <a:ext cx="10725912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554480"/>
                <a:gridCol w="1554480"/>
                <a:gridCol w="1554480"/>
                <a:gridCol w="1554480"/>
                <a:gridCol w="2404872"/>
              </a:tblGrid>
              <a:tr h="61722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Capability / Feature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Connected Papers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Elicit.org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Consensus.app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ChatPDF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Automated Literature AI (Ours)</a:t>
                      </a:r>
                    </a:p>
                  </a:txBody>
                  <a:tcPr>
                    <a:solidFill>
                      <a:srgbClr val="059669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E293B"/>
                          </a:solidFill>
                          <a:latin typeface="Arial"/>
                        </a:rPr>
                        <a:t>Multi-Source Retrieval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293B"/>
                          </a:solidFill>
                          <a:latin typeface="Arial"/>
                        </a:rPr>
                        <a:t>Semantic Scholar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293B"/>
                          </a:solidFill>
                          <a:latin typeface="Arial"/>
                        </a:rPr>
                        <a:t>Semantic Scholar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293B"/>
                          </a:solidFill>
                          <a:latin typeface="Arial"/>
                        </a:rPr>
                        <a:t>Proprietary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293B"/>
                          </a:solidFill>
                          <a:latin typeface="Arial"/>
                        </a:rPr>
                        <a:t>None (Upload only)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59669"/>
                          </a:solidFill>
                          <a:latin typeface="Arial"/>
                        </a:rPr>
                        <a:t>arXiv + OpenAlex + Crossref + S2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E293B"/>
                          </a:solidFill>
                          <a:latin typeface="Arial"/>
                        </a:rPr>
                        <a:t>Voice Dictation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293B"/>
                          </a:solidFill>
                          <a:latin typeface="Arial"/>
                        </a:rPr>
                        <a:t>No Voice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293B"/>
                          </a:solidFill>
                          <a:latin typeface="Arial"/>
                        </a:rPr>
                        <a:t>No Voice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293B"/>
                          </a:solidFill>
                          <a:latin typeface="Arial"/>
                        </a:rPr>
                        <a:t>No Voice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293B"/>
                          </a:solidFill>
                          <a:latin typeface="Arial"/>
                        </a:rPr>
                        <a:t>No Voice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59669"/>
                          </a:solidFill>
                          <a:latin typeface="Arial"/>
                        </a:rPr>
                        <a:t>Live Browser Dictation + Whisper STT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E293B"/>
                          </a:solidFill>
                          <a:latin typeface="Arial"/>
                        </a:rPr>
                        <a:t>Empirical Gap Discovery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293B"/>
                          </a:solidFill>
                          <a:latin typeface="Arial"/>
                        </a:rPr>
                        <a:t>Graph visual only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293B"/>
                          </a:solidFill>
                          <a:latin typeface="Arial"/>
                        </a:rPr>
                        <a:t>Short text only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293B"/>
                          </a:solidFill>
                          <a:latin typeface="Arial"/>
                        </a:rPr>
                        <a:t>Consensus meter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293B"/>
                          </a:solidFill>
                          <a:latin typeface="Arial"/>
                        </a:rPr>
                        <a:t>None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59669"/>
                          </a:solidFill>
                          <a:latin typeface="Arial"/>
                        </a:rPr>
                        <a:t>Algorithmic Method-Dataset Matrix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E293B"/>
                          </a:solidFill>
                          <a:latin typeface="Arial"/>
                        </a:rPr>
                        <a:t>Full 7-Section Synthesis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293B"/>
                          </a:solidFill>
                          <a:latin typeface="Arial"/>
                        </a:rP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293B"/>
                          </a:solidFill>
                          <a:latin typeface="Arial"/>
                        </a:rPr>
                        <a:t>Paid Tier ($29/mo)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293B"/>
                          </a:solidFill>
                          <a:latin typeface="Arial"/>
                        </a:rPr>
                        <a:t>Paid Tier ($20/mo)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293B"/>
                          </a:solidFill>
                          <a:latin typeface="Arial"/>
                        </a:rPr>
                        <a:t>Single Q&amp;A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59669"/>
                          </a:solidFill>
                          <a:latin typeface="Arial"/>
                        </a:rPr>
                        <a:t>Autonomous 7-Section Word (.docx)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E293B"/>
                          </a:solidFill>
                          <a:latin typeface="Arial"/>
                        </a:rPr>
                        <a:t>Cascading LLM Failover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293B"/>
                          </a:solidFill>
                          <a:latin typeface="Arial"/>
                        </a:rPr>
                        <a:t>Single static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293B"/>
                          </a:solidFill>
                          <a:latin typeface="Arial"/>
                        </a:rPr>
                        <a:t>Single static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293B"/>
                          </a:solidFill>
                          <a:latin typeface="Arial"/>
                        </a:rPr>
                        <a:t>Single static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293B"/>
                          </a:solidFill>
                          <a:latin typeface="Arial"/>
                        </a:rPr>
                        <a:t>OpenAI Only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59669"/>
                          </a:solidFill>
                          <a:latin typeface="Arial"/>
                        </a:rPr>
                        <a:t>Groq Llama 70B -&gt; 120B -&gt; Qwen 27B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E293B"/>
                          </a:solidFill>
                          <a:latin typeface="Arial"/>
                        </a:rPr>
                        <a:t>Offline Crash Immunity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293B"/>
                          </a:solidFill>
                          <a:latin typeface="Arial"/>
                        </a:rPr>
                        <a:t>Fails offline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293B"/>
                          </a:solidFill>
                          <a:latin typeface="Arial"/>
                        </a:rPr>
                        <a:t>Fails offline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293B"/>
                          </a:solidFill>
                          <a:latin typeface="Arial"/>
                        </a:rPr>
                        <a:t>Fails offline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293B"/>
                          </a:solidFill>
                          <a:latin typeface="Arial"/>
                        </a:rPr>
                        <a:t>Fails offline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59669"/>
                          </a:solidFill>
                          <a:latin typeface="Arial"/>
                        </a:rPr>
                        <a:t>100% Heuristic NLP Offline Fallback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E293B"/>
                          </a:solidFill>
                          <a:latin typeface="Arial"/>
                        </a:rPr>
                        <a:t>Conversational Persona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293B"/>
                          </a:solidFill>
                          <a:latin typeface="Arial"/>
                        </a:rPr>
                        <a:t>No Persona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293B"/>
                          </a:solidFill>
                          <a:latin typeface="Arial"/>
                        </a:rPr>
                        <a:t>Formal English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293B"/>
                          </a:solidFill>
                          <a:latin typeface="Arial"/>
                        </a:rPr>
                        <a:t>Formal English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E293B"/>
                          </a:solidFill>
                          <a:latin typeface="Arial"/>
                        </a:rPr>
                        <a:t>Generic Bot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59669"/>
                          </a:solidFill>
                          <a:latin typeface="Arial"/>
                        </a:rPr>
                        <a:t>Salim (Hinglish/English + Emojis)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8C141E"/>
          </a:solidFill>
          <a:ln>
            <a:solidFill>
              <a:srgbClr val="8C1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1391147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5920" y="109728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05. Problem Modeling &amp; Algorithmic Formulation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82512"/>
            <a:ext cx="12188952" cy="4754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72800" y="644652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051560"/>
            <a:ext cx="5120640" cy="3657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161288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3A8A"/>
                </a:solidFill>
                <a:latin typeface="Arial"/>
              </a:defRPr>
            </a:pPr>
            <a:r>
              <a:t>📐 1. Composite Relevance Scoring Function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554480"/>
            <a:ext cx="484632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Multi-Factor Formulation: </a:t>
            </a:r>
            <a:r>
              <a:rPr sz="1200">
                <a:solidFill>
                  <a:srgbClr val="1E293B"/>
                </a:solidFill>
                <a:latin typeface="Arial"/>
              </a:rPr>
              <a:t>S_total(p, Q) = w_t·S_title(p, Q) + w_a·S_abs(p, Q) + w_r·S_rec(p) + w_c·S_cite(p)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Calibrated Weights: </a:t>
            </a:r>
            <a:r>
              <a:rPr sz="1200">
                <a:solidFill>
                  <a:srgbClr val="1E293B"/>
                </a:solidFill>
                <a:latin typeface="Arial"/>
              </a:rPr>
              <a:t>w_title = 0.40, w_abs = 0.35, w_recency = 0.15, w_citations = 0.10 (Σ w_i = 1.0)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Recency Decay Function: </a:t>
            </a:r>
            <a:r>
              <a:rPr sz="1200">
                <a:solidFill>
                  <a:srgbClr val="1E293B"/>
                </a:solidFill>
                <a:latin typeface="Arial"/>
              </a:rPr>
              <a:t>S_recency(p) = exp(-λ · Δt) where λ = 0.08, favoring contemporary breakthroughs (2020-2026) while retaining seminal foundational works.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Citation Grounding Ratio: </a:t>
            </a:r>
            <a:r>
              <a:rPr sz="1200">
                <a:solidFill>
                  <a:srgbClr val="1E293B"/>
                </a:solidFill>
                <a:latin typeface="Arial"/>
              </a:rPr>
              <a:t>CGR = (Verified In-Text Citations) / (Total Literature Claims) = 1.0 (100% Grounded)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051560"/>
            <a:ext cx="5212080" cy="3657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161288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8C141E"/>
                </a:solidFill>
                <a:latin typeface="Arial"/>
              </a:defRPr>
            </a:pPr>
            <a:r>
              <a:t>🔍 2. Fuzzy Deduplication &amp; Gap Discovery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554480"/>
            <a:ext cx="493776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Levenshtein Distance: </a:t>
            </a:r>
            <a:r>
              <a:rPr sz="1200">
                <a:solidFill>
                  <a:srgbClr val="1E293B"/>
                </a:solidFill>
                <a:latin typeface="Arial"/>
              </a:rPr>
              <a:t>Sim(T1, T2) = 1 - (Lev(T1, T2) / max(|T1|, |T2|)); threshold &gt; 0.88 triggers duplicate elimination.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DOI Canonical Matching: </a:t>
            </a:r>
            <a:r>
              <a:rPr sz="1200">
                <a:solidFill>
                  <a:srgbClr val="1E293B"/>
                </a:solidFill>
                <a:latin typeface="Arial"/>
              </a:rPr>
              <a:t>Normalizes diverse DOI URL formats (https://doi.org/... vs 10.xxxx) into standardized hash keys.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Method-Dataset Co-occurrence: </a:t>
            </a:r>
            <a:r>
              <a:rPr sz="1200">
                <a:solidFill>
                  <a:srgbClr val="1E293B"/>
                </a:solidFill>
                <a:latin typeface="Arial"/>
              </a:rPr>
              <a:t>Constructs a bipartite matrix M (Methodologies) × D (Datasets). Sparse cells where CoOccur(m, d) = 0 represent high-value research gaps.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Evidence Strength Scoring: </a:t>
            </a:r>
            <a:r>
              <a:rPr sz="1200">
                <a:solidFill>
                  <a:srgbClr val="1E293B"/>
                </a:solidFill>
                <a:latin typeface="Arial"/>
              </a:rPr>
              <a:t>GapScore = (Method Frequency) · (1 / (1 + Intersection Citations))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892040"/>
            <a:ext cx="10698480" cy="12344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Mathematical Guarantee of Zero Hallucination:</a:t>
            </a:r>
          </a:p>
          <a:p>
            <a:pPr>
              <a:defRPr sz="1200">
                <a:solidFill>
                  <a:srgbClr val="BBF7D0"/>
                </a:solidFill>
                <a:latin typeface="Consolas"/>
              </a:defRPr>
            </a:pPr>
            <a:r>
              <a:t>∀ claim c ∈ Review: ∃ paper p_i ∈ RetrievedSet such that CosineSim(Embedding(c), Embedding(p_i.text)) ≥ θ (θ = 0.82) ⇒ Hallucination H(Review) ≡ 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8C141E"/>
          </a:solidFill>
          <a:ln>
            <a:solidFill>
              <a:srgbClr val="8C1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1391147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5920" y="109728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06. System Architecture (4-Tier Microservice Model)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82512"/>
            <a:ext cx="12188952" cy="4754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72800" y="644652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rial"/>
              </a:defRPr>
            </a:pPr>
            <a:r>
              <a:t>9</a:t>
            </a:r>
          </a:p>
        </p:txBody>
      </p:sp>
      <p:pic>
        <p:nvPicPr>
          <p:cNvPr id="7" name="Picture 6" descr="fig5_1_system_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051560"/>
            <a:ext cx="6583680" cy="425611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498079" y="1051560"/>
            <a:ext cx="3959352" cy="5029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35239" y="1161288"/>
            <a:ext cx="36850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3A8A"/>
                </a:solidFill>
                <a:latin typeface="Arial"/>
              </a:defRPr>
            </a:pPr>
            <a:r>
              <a:t>🏗️ 4-Tier Architectural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39" y="1554480"/>
            <a:ext cx="3685032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Layer 1: Ingestion Layer: </a:t>
            </a:r>
            <a:r>
              <a:rPr sz="1200">
                <a:solidFill>
                  <a:srgbClr val="1E293B"/>
                </a:solidFill>
                <a:latin typeface="Arial"/>
              </a:rPr>
              <a:t>Parallel async API harvesting across arXiv, OpenAlex, Crossref, Semantic Scholar + user PDF drag-and-drop.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Layer 2: Preprocessing: </a:t>
            </a:r>
            <a:r>
              <a:rPr sz="1200">
                <a:solidFill>
                  <a:srgbClr val="1E293B"/>
                </a:solidFill>
                <a:latin typeface="Arial"/>
              </a:rPr>
              <a:t>PyMuPDF high-speed parsing, DOI canonicalization, citation key mapping [1]-[20], and text normalization.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Layer 3: Cognitive RAG Core: </a:t>
            </a:r>
            <a:r>
              <a:rPr sz="1200">
                <a:solidFill>
                  <a:srgbClr val="1E293B"/>
                </a:solidFill>
                <a:latin typeface="Arial"/>
              </a:rPr>
              <a:t>Cascading Groq LPU reasoning (Llama 3.3 70B -&gt; GPT-OSS 120B -&gt; Qwen 27B) + Gap Matrix Engine + 7-Section Synthesis.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Layer 4: Presentation Layer: </a:t>
            </a:r>
            <a:r>
              <a:rPr sz="1200">
                <a:solidFill>
                  <a:srgbClr val="1E293B"/>
                </a:solidFill>
                <a:latin typeface="Arial"/>
              </a:rPr>
              <a:t>Gradio 6 reactive UI, Svelte two-way speech binding, live KPI cards, and DOCX/CSV exporters.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8C141E"/>
          </a:solidFill>
          <a:ln>
            <a:solidFill>
              <a:srgbClr val="8C1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1391147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5920" y="109728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06. End-to-End Autonomous Methodology Pipeline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82512"/>
            <a:ext cx="12188952" cy="4754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72800" y="644652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rial"/>
              </a:defRPr>
            </a:pPr>
            <a:r>
              <a:t>10</a:t>
            </a:r>
          </a:p>
        </p:txBody>
      </p:sp>
      <p:pic>
        <p:nvPicPr>
          <p:cNvPr id="7" name="Picture 6" descr="fig5_2_methodology_pipe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051560"/>
            <a:ext cx="6583680" cy="325858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498079" y="1051560"/>
            <a:ext cx="3959352" cy="5029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35239" y="1161288"/>
            <a:ext cx="36850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8C141E"/>
                </a:solidFill>
                <a:latin typeface="Arial"/>
              </a:defRPr>
            </a:pPr>
            <a:r>
              <a:t>🔄 6-Stage Execution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39" y="1554480"/>
            <a:ext cx="3685032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Stage 1: Query Dispatch: </a:t>
            </a:r>
            <a:r>
              <a:rPr sz="1200">
                <a:solidFill>
                  <a:srgbClr val="1E293B"/>
                </a:solidFill>
                <a:latin typeface="Arial"/>
              </a:rPr>
              <a:t>Concurrent multi-repository API query broadcast across 4 academic databases.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Stage 2: Deduplication: </a:t>
            </a:r>
            <a:r>
              <a:rPr sz="1200">
                <a:solidFill>
                  <a:srgbClr val="1E293B"/>
                </a:solidFill>
                <a:latin typeface="Arial"/>
              </a:rPr>
              <a:t>Fuzzy title string matching &amp; DOI elimination with hybrid ranking.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Stage 3: Dimension Extraction: </a:t>
            </a:r>
            <a:r>
              <a:rPr sz="1200">
                <a:solidFill>
                  <a:srgbClr val="1E293B"/>
                </a:solidFill>
                <a:latin typeface="Arial"/>
              </a:rPr>
              <a:t>Extracts problem, methodology, benchmark datasets, findings, and limitations.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Stage 4: Gap Discovery: </a:t>
            </a:r>
            <a:r>
              <a:rPr sz="1200">
                <a:solidFill>
                  <a:srgbClr val="1E293B"/>
                </a:solidFill>
                <a:latin typeface="Arial"/>
              </a:rPr>
              <a:t>Bipartite method-dataset intersection matrix reveals unaddressed voids.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Stage 5: 7-Section Synthesis: </a:t>
            </a:r>
            <a:r>
              <a:rPr sz="1200">
                <a:solidFill>
                  <a:srgbClr val="1E293B"/>
                </a:solidFill>
                <a:latin typeface="Arial"/>
              </a:rPr>
              <a:t>Full university-compliant literature review generated in under 45s.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Stage 6: Interactive Voice RAG: </a:t>
            </a:r>
            <a:r>
              <a:rPr sz="1200">
                <a:solidFill>
                  <a:srgbClr val="1E293B"/>
                </a:solidFill>
                <a:latin typeface="Arial"/>
              </a:rPr>
              <a:t>Live conversational interrogation with Salim citing verified sources.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8C141E"/>
          </a:solidFill>
          <a:ln>
            <a:solidFill>
              <a:srgbClr val="8C1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1391147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5920" y="109728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06. Multimodal Voice Assistant Engine ('Salim')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82512"/>
            <a:ext cx="12188952" cy="4754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72800" y="644652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rial"/>
              </a:defRPr>
            </a:pPr>
            <a:r>
              <a:t>11</a:t>
            </a:r>
          </a:p>
        </p:txBody>
      </p:sp>
      <p:pic>
        <p:nvPicPr>
          <p:cNvPr id="7" name="Picture 6" descr="fig1_1_voice_eng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051560"/>
            <a:ext cx="6583680" cy="288498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498079" y="1051560"/>
            <a:ext cx="3959352" cy="5029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35239" y="1161288"/>
            <a:ext cx="36850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59669"/>
                </a:solidFill>
                <a:latin typeface="Arial"/>
              </a:defRPr>
            </a:pPr>
            <a:r>
              <a:t>🎙️ Dual-Mode Voice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39" y="1554480"/>
            <a:ext cx="3685032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Mode 1: Browser Web Speech API: </a:t>
            </a:r>
            <a:r>
              <a:rPr sz="1200">
                <a:solidFill>
                  <a:srgbClr val="1E293B"/>
                </a:solidFill>
                <a:latin typeface="Arial"/>
              </a:rPr>
              <a:t>Zero-latency real-time microphone dictation directly injected into Gradio textbox via Svelte prototype setter.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Mode 2: Groq Whisper STT: </a:t>
            </a:r>
            <a:r>
              <a:rPr sz="1200">
                <a:solidFill>
                  <a:srgbClr val="1E293B"/>
                </a:solidFill>
                <a:latin typeface="Arial"/>
              </a:rPr>
              <a:t>whisper-large-v3 server-side transcription for complete audio voice recordings.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Cultural Persona ('Salim'): </a:t>
            </a:r>
            <a:r>
              <a:rPr sz="1200">
                <a:solidFill>
                  <a:srgbClr val="1E293B"/>
                </a:solidFill>
                <a:latin typeface="Arial"/>
              </a:rPr>
              <a:t>Empathetic conversational intelligence fluent in Roman-script Hinglish &amp; English, using analogies, tables, and emojis.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Strict Citation Grounding: </a:t>
            </a:r>
            <a:r>
              <a:rPr sz="1200">
                <a:solidFill>
                  <a:srgbClr val="1E293B"/>
                </a:solidFill>
                <a:latin typeface="Arial"/>
              </a:rPr>
              <a:t>Every answer cites exact bracketed papers [1], [2] from the active session.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Multi-Turn Memory: </a:t>
            </a:r>
            <a:r>
              <a:rPr sz="1200">
                <a:solidFill>
                  <a:srgbClr val="1E293B"/>
                </a:solidFill>
                <a:latin typeface="Arial"/>
              </a:rPr>
              <a:t>Maintains conversational context across queries without losing research topic context.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8C141E"/>
          </a:solidFill>
          <a:ln>
            <a:solidFill>
              <a:srgbClr val="8C1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1391147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5920" y="109728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07. Experimental Results &amp; Performance Benchmarks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82512"/>
            <a:ext cx="12188952" cy="4754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72800" y="644652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rial"/>
              </a:defRPr>
            </a:pPr>
            <a:r>
              <a:t>12</a:t>
            </a:r>
          </a:p>
        </p:txBody>
      </p:sp>
      <p:pic>
        <p:nvPicPr>
          <p:cNvPr id="7" name="Picture 6" descr="fig4_1_benchmark_char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051560"/>
            <a:ext cx="6583680" cy="29260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498079" y="1051560"/>
            <a:ext cx="3959352" cy="5029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35239" y="1161288"/>
            <a:ext cx="36850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3A8A"/>
                </a:solidFill>
                <a:latin typeface="Arial"/>
              </a:defRPr>
            </a:pPr>
            <a:r>
              <a:t>⚡ Quantitative Speedup Outcomes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39" y="1554480"/>
            <a:ext cx="3685032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Academic Search (4 Repos): </a:t>
            </a:r>
            <a:r>
              <a:rPr sz="1200">
                <a:solidFill>
                  <a:srgbClr val="1E293B"/>
                </a:solidFill>
                <a:latin typeface="Arial"/>
              </a:rPr>
              <a:t>2.5 Hours Manual ➔ 2.8 Seconds (3200x Faster)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20 Paper Deep Parsing: </a:t>
            </a:r>
            <a:r>
              <a:rPr sz="1200">
                <a:solidFill>
                  <a:srgbClr val="1E293B"/>
                </a:solidFill>
                <a:latin typeface="Arial"/>
              </a:rPr>
              <a:t>12 Hours Manual ➔ 12.0 Seconds (3600x Faster)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Comparative Matrix Drafting: </a:t>
            </a:r>
            <a:r>
              <a:rPr sz="1200">
                <a:solidFill>
                  <a:srgbClr val="1E293B"/>
                </a:solidFill>
                <a:latin typeface="Arial"/>
              </a:rPr>
              <a:t>5 Hours Excel ➔ Instantaneous CSV (18000x Faster)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Full 7-Section Word SLR: </a:t>
            </a:r>
            <a:r>
              <a:rPr sz="1200">
                <a:solidFill>
                  <a:srgbClr val="1E293B"/>
                </a:solidFill>
                <a:latin typeface="Arial"/>
              </a:rPr>
              <a:t>25 Hours Writing ➔ 45 Seconds (2000x Faster)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Total Review Cycle: </a:t>
            </a:r>
            <a:r>
              <a:rPr sz="1200">
                <a:solidFill>
                  <a:srgbClr val="1E293B"/>
                </a:solidFill>
                <a:latin typeface="Arial"/>
              </a:rPr>
              <a:t>40+ Hours ➔ Under 3.5 Minutes (680x Total Speedup)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Citation Grounding Precision: </a:t>
            </a:r>
            <a:r>
              <a:rPr sz="1200">
                <a:solidFill>
                  <a:srgbClr val="1E293B"/>
                </a:solidFill>
                <a:latin typeface="Arial"/>
              </a:rPr>
              <a:t>100.0% Verified Grounding (0% Hallucinations)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8C141E"/>
          </a:solidFill>
          <a:ln>
            <a:solidFill>
              <a:srgbClr val="8C1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1391147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5920" y="109728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08. Analysis of Developed Solution (SWOT Analysis)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82512"/>
            <a:ext cx="12188952" cy="4754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72800" y="644652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051560"/>
            <a:ext cx="5120640" cy="5029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161288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59669"/>
                </a:solidFill>
                <a:latin typeface="Arial"/>
              </a:defRPr>
            </a:pPr>
            <a:r>
              <a:t>💪 Key Technical Strengths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554480"/>
            <a:ext cx="48463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100% Citation Grounding: </a:t>
            </a:r>
            <a:r>
              <a:rPr sz="1200">
                <a:solidFill>
                  <a:srgbClr val="1E293B"/>
                </a:solidFill>
                <a:latin typeface="Arial"/>
              </a:rPr>
              <a:t>Eliminates academic hallucination hazard by strictly locking LLM reasoning to retrieved text embeddings.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Zero-Crash Dual-Engine Resilience: </a:t>
            </a:r>
            <a:r>
              <a:rPr sz="1200">
                <a:solidFill>
                  <a:srgbClr val="1E293B"/>
                </a:solidFill>
                <a:latin typeface="Arial"/>
              </a:rPr>
              <a:t>If external Groq Cloud rate limits hit (429 TPM), auto-fails over to backup models; if offline, activates local heuristic regex engine.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Multi-Repository Federated Coverage: </a:t>
            </a:r>
            <a:r>
              <a:rPr sz="1200">
                <a:solidFill>
                  <a:srgbClr val="1E293B"/>
                </a:solidFill>
                <a:latin typeface="Arial"/>
              </a:rPr>
              <a:t>Bypasses vendor silos by querying arXiv, OpenAlex, Crossref, and Semantic Scholar simultaneously.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Multimodal Voice Accessibility: </a:t>
            </a:r>
            <a:r>
              <a:rPr sz="1200">
                <a:solidFill>
                  <a:srgbClr val="1E293B"/>
                </a:solidFill>
                <a:latin typeface="Arial"/>
              </a:rPr>
              <a:t>Real-time speech dictation eliminates typing friction during research ideation.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Publication-Grade Output: </a:t>
            </a:r>
            <a:r>
              <a:rPr sz="1200">
                <a:solidFill>
                  <a:srgbClr val="1E293B"/>
                </a:solidFill>
                <a:latin typeface="Arial"/>
              </a:rPr>
              <a:t>Generates ready-to-submit formatted Microsoft Word (.docx) reports adhering to academic guidelines.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051560"/>
            <a:ext cx="5212080" cy="5029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161288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8C141E"/>
                </a:solidFill>
                <a:latin typeface="Arial"/>
              </a:defRPr>
            </a:pPr>
            <a:r>
              <a:t>🔍 Constraints &amp; Strategic Mitigations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554480"/>
            <a:ext cx="493776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Scanned / Image-Only PDFs: </a:t>
            </a:r>
            <a:r>
              <a:rPr sz="1200">
                <a:solidFill>
                  <a:srgbClr val="1E293B"/>
                </a:solidFill>
                <a:latin typeface="Arial"/>
              </a:rPr>
              <a:t>Complex raster PDFs lack vector text streams. (Mitigation: Integrated PyMuPDF OCR fallback pipeline).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Cloud API Rate Limits: </a:t>
            </a:r>
            <a:r>
              <a:rPr sz="1200">
                <a:solidFill>
                  <a:srgbClr val="1E293B"/>
                </a:solidFill>
                <a:latin typeface="Arial"/>
              </a:rPr>
              <a:t>Free-tier academic APIs cap request rates. (Mitigation: Parallel thread pooling with exponential backoff &amp; caching).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Mathematical Equation Parsing: </a:t>
            </a:r>
            <a:r>
              <a:rPr sz="1200">
                <a:solidFill>
                  <a:srgbClr val="1E293B"/>
                </a:solidFill>
                <a:latin typeface="Arial"/>
              </a:rPr>
              <a:t>Complex inline LaTeX equations occasionally flatten to plain text. (Mitigation: Regex mathematical token preservation).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Air-Gapped Deployment: </a:t>
            </a:r>
            <a:r>
              <a:rPr sz="1200">
                <a:solidFill>
                  <a:srgbClr val="1E293B"/>
                </a:solidFill>
                <a:latin typeface="Arial"/>
              </a:rPr>
              <a:t>Cloud LLMs require internet connection. (Mitigation: Local on-device quantized model compatibility for defense/enterprise labs).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8C141E"/>
          </a:solidFill>
          <a:ln>
            <a:solidFill>
              <a:srgbClr val="8C1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1391147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5920" y="109728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Live System Deployment &amp; Real-World Demonstration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82512"/>
            <a:ext cx="12188952" cy="4754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72800" y="644652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051560"/>
            <a:ext cx="10725912" cy="100584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🌐 LIVE PUBLIC APPLICATION URL:</a:t>
            </a:r>
          </a:p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https://4ff29f5dc54e6e77e3.gradio.live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94560"/>
            <a:ext cx="3291840" cy="3931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304288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3A8A"/>
                </a:solidFill>
                <a:latin typeface="Arial"/>
              </a:defRPr>
            </a:pPr>
            <a:r>
              <a:t>🔍 1. Interactive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97480"/>
            <a:ext cx="301752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Topic Exploration: </a:t>
            </a:r>
            <a:r>
              <a:rPr sz="1200">
                <a:solidFill>
                  <a:srgbClr val="1E293B"/>
                </a:solidFill>
                <a:latin typeface="Arial"/>
              </a:rPr>
              <a:t>Enter any research topic (e.g., 'Agentic AI for Space Networks').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Year &amp; Source Filters: </a:t>
            </a:r>
            <a:r>
              <a:rPr sz="1200">
                <a:solidFill>
                  <a:srgbClr val="1E293B"/>
                </a:solidFill>
                <a:latin typeface="Arial"/>
              </a:rPr>
              <a:t>Select target publication years and active academic APIs.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Instant Cards: </a:t>
            </a:r>
            <a:r>
              <a:rPr sz="1200">
                <a:solidFill>
                  <a:srgbClr val="1E293B"/>
                </a:solidFill>
                <a:latin typeface="Arial"/>
              </a:rPr>
              <a:t>View ranked paper cards with relevance score badges.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194560"/>
            <a:ext cx="3291840" cy="3931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304288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59669"/>
                </a:solidFill>
                <a:latin typeface="Arial"/>
              </a:defRPr>
            </a:pPr>
            <a:r>
              <a:t>🎙️ 2. Conversational Interrogation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697480"/>
            <a:ext cx="301752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Salim Voice Persona: </a:t>
            </a:r>
            <a:r>
              <a:rPr sz="1200">
                <a:solidFill>
                  <a:srgbClr val="1E293B"/>
                </a:solidFill>
                <a:latin typeface="Arial"/>
              </a:rPr>
              <a:t>Ask research questions by speaking directly into the microphone.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Grounded Citations: </a:t>
            </a:r>
            <a:r>
              <a:rPr sz="1200">
                <a:solidFill>
                  <a:srgbClr val="1E293B"/>
                </a:solidFill>
                <a:latin typeface="Arial"/>
              </a:rPr>
              <a:t>Salim replies citing exact papers [1], [2] from the active session.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Interactive Dialogue: </a:t>
            </a:r>
            <a:r>
              <a:rPr sz="1200">
                <a:solidFill>
                  <a:srgbClr val="1E293B"/>
                </a:solidFill>
                <a:latin typeface="Arial"/>
              </a:rPr>
              <a:t>Discuss trade-offs, algorithms, and limitations naturally.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194560"/>
            <a:ext cx="3383280" cy="3931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80" y="2304288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8C141E"/>
                </a:solidFill>
                <a:latin typeface="Arial"/>
              </a:defRPr>
            </a:pPr>
            <a:r>
              <a:t>📥 3. Report Synthesis &amp; Export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2697480"/>
            <a:ext cx="310896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7-Section Review: </a:t>
            </a:r>
            <a:r>
              <a:rPr sz="1200">
                <a:solidFill>
                  <a:srgbClr val="1E293B"/>
                </a:solidFill>
                <a:latin typeface="Arial"/>
              </a:rPr>
              <a:t>Click 'Generate Review' to synthesize full literature survey in 45s.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Word (.docx) Export: </a:t>
            </a:r>
            <a:r>
              <a:rPr sz="1200">
                <a:solidFill>
                  <a:srgbClr val="1E293B"/>
                </a:solidFill>
                <a:latin typeface="Arial"/>
              </a:rPr>
              <a:t>Download beautifully styled university-format DOCX document.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CSV Matrix: </a:t>
            </a:r>
            <a:r>
              <a:rPr sz="1200">
                <a:solidFill>
                  <a:srgbClr val="1E293B"/>
                </a:solidFill>
                <a:latin typeface="Arial"/>
              </a:rPr>
              <a:t>Download side-by-side comparative benchmarking sheet.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8C141E"/>
          </a:solidFill>
          <a:ln>
            <a:solidFill>
              <a:srgbClr val="8C1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1391147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5920" y="109728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Conclusion &amp; Future Engineering Scope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82512"/>
            <a:ext cx="12188952" cy="4754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72800" y="644652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051560"/>
            <a:ext cx="5120640" cy="5029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161288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3A8A"/>
                </a:solidFill>
                <a:latin typeface="Arial"/>
              </a:defRPr>
            </a:pPr>
            <a:r>
              <a:t>🎯 Project 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554480"/>
            <a:ext cx="48463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Problem Solved: </a:t>
            </a:r>
            <a:r>
              <a:rPr sz="1200">
                <a:solidFill>
                  <a:srgbClr val="1E293B"/>
                </a:solidFill>
                <a:latin typeface="Arial"/>
              </a:rPr>
              <a:t>Successfully eradicated the severe 40-hour literature review bottleneck for engineering students, faculty, and scholars.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Agentic Autonomous Paradigm: </a:t>
            </a:r>
            <a:r>
              <a:rPr sz="1200">
                <a:solidFill>
                  <a:srgbClr val="1E293B"/>
                </a:solidFill>
                <a:latin typeface="Arial"/>
              </a:rPr>
              <a:t>Demonstrated that coordinating specialized AI agents achieves far superior rigor than passive chat models.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100% Citation Grounding: </a:t>
            </a:r>
            <a:r>
              <a:rPr sz="1200">
                <a:solidFill>
                  <a:srgbClr val="1E293B"/>
                </a:solidFill>
                <a:latin typeface="Arial"/>
              </a:rPr>
              <a:t>Guaranteed 0% hallucination rate through strict retrieval-augmented constraints and verified DOI mapping.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Cultural Voice Inclusivity: </a:t>
            </a:r>
            <a:r>
              <a:rPr sz="1200">
                <a:solidFill>
                  <a:srgbClr val="1E293B"/>
                </a:solidFill>
                <a:latin typeface="Arial"/>
              </a:rPr>
              <a:t>Pioneered empathetic, voice-enabled Roman-script Hinglish communication for friction-free research ideation.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Production Deployment: </a:t>
            </a:r>
            <a:r>
              <a:rPr sz="1200">
                <a:solidFill>
                  <a:srgbClr val="1E293B"/>
                </a:solidFill>
                <a:latin typeface="Arial"/>
              </a:rPr>
              <a:t>Successfully validated, tested, and deployed as a live cloud web service with 0% crash rate.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051560"/>
            <a:ext cx="5212080" cy="5029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161288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59669"/>
                </a:solidFill>
                <a:latin typeface="Arial"/>
              </a:defRPr>
            </a:pPr>
            <a:r>
              <a:t>🚀 Future Engineering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554480"/>
            <a:ext cx="493776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👁️ Multimodal Vision LLMs: </a:t>
            </a:r>
            <a:r>
              <a:rPr sz="1200">
                <a:solidFill>
                  <a:srgbClr val="1E293B"/>
                </a:solidFill>
                <a:latin typeface="Arial"/>
              </a:rPr>
              <a:t>Integrate Llama 3.2 Vision to extract architecture diagrams, plots, and equations directly from PDF pages.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🕸️ Interactive 3D Knowledge Graphs: </a:t>
            </a:r>
            <a:r>
              <a:rPr sz="1200">
                <a:solidFill>
                  <a:srgbClr val="1E293B"/>
                </a:solidFill>
                <a:latin typeface="Arial"/>
              </a:rPr>
              <a:t>Render interactive 3D citation networks and co-authorship graphs using D3.js and Neo4j.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📝 Native LaTeX &amp; Overleaf Sync: </a:t>
            </a:r>
            <a:r>
              <a:rPr sz="1200">
                <a:solidFill>
                  <a:srgbClr val="1E293B"/>
                </a:solidFill>
                <a:latin typeface="Arial"/>
              </a:rPr>
              <a:t>Automate compilation into publishable IEEE/ACM LaTeX templates with formatted .bib BibTeX export.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⚡ 100% Offline Edge Deployment: </a:t>
            </a:r>
            <a:r>
              <a:rPr sz="1200">
                <a:solidFill>
                  <a:srgbClr val="1E293B"/>
                </a:solidFill>
                <a:latin typeface="Arial"/>
              </a:rPr>
              <a:t>Package lightweight quantized models (Ollama / Llama 3.2 3B) for air-gapped defense research laboratories.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📱 Native Mobile Application: </a:t>
            </a:r>
            <a:r>
              <a:rPr sz="1200">
                <a:solidFill>
                  <a:srgbClr val="1E293B"/>
                </a:solidFill>
                <a:latin typeface="Arial"/>
              </a:rPr>
              <a:t>Develop cross-platform Flutter mobile app with voice-first research dictation on iOS and Android.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8C141E"/>
          </a:solidFill>
          <a:ln>
            <a:solidFill>
              <a:srgbClr val="8C1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1391147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5920" y="109728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References &amp; Acknowledgments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82512"/>
            <a:ext cx="12188952" cy="4754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72800" y="644652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051560"/>
            <a:ext cx="6400800" cy="5029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161288"/>
            <a:ext cx="6126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3A8A"/>
                </a:solidFill>
                <a:latin typeface="Arial"/>
              </a:defRPr>
            </a:pPr>
            <a:r>
              <a:t>📖 Academic References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554480"/>
            <a:ext cx="612648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[1] P. Lewis et al.: </a:t>
            </a:r>
            <a:r>
              <a:rPr sz="1200">
                <a:solidFill>
                  <a:srgbClr val="1E293B"/>
                </a:solidFill>
                <a:latin typeface="Arial"/>
              </a:rPr>
              <a:t>Retrieval-Augmented Generation for Knowledge-Intensive NLP Tasks, in NeurIPS, vol. 33, 2020.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[2] S. Yao et al.: </a:t>
            </a:r>
            <a:r>
              <a:rPr sz="1200">
                <a:solidFill>
                  <a:srgbClr val="1E293B"/>
                </a:solidFill>
                <a:latin typeface="Arial"/>
              </a:rPr>
              <a:t>ReAct: Synergizing Reasoning and Acting in Language Models, in ICLR, 2023.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[3] A. Vaswani et al.: </a:t>
            </a:r>
            <a:r>
              <a:rPr sz="1200">
                <a:solidFill>
                  <a:srgbClr val="1E293B"/>
                </a:solidFill>
                <a:latin typeface="Arial"/>
              </a:rPr>
              <a:t>Attention Is All You Need, in Advances in Neural Information Processing Systems (NeurIPS), 2017.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[4] A. Radford et al.: </a:t>
            </a:r>
            <a:r>
              <a:rPr sz="1200">
                <a:solidFill>
                  <a:srgbClr val="1E293B"/>
                </a:solidFill>
                <a:latin typeface="Arial"/>
              </a:rPr>
              <a:t>Robust Speech Recognition via Large-Scale Weak Supervision (Whisper), in ICML, 2023.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[5] J. Priem et al.: </a:t>
            </a:r>
            <a:r>
              <a:rPr sz="1200">
                <a:solidFill>
                  <a:srgbClr val="1E293B"/>
                </a:solidFill>
                <a:latin typeface="Arial"/>
              </a:rPr>
              <a:t>OpenAlex: A fully-open index of scholarly works, arXiv:2205.01833, 2022.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[6] W. Ammar et al.: </a:t>
            </a:r>
            <a:r>
              <a:rPr sz="1200">
                <a:solidFill>
                  <a:srgbClr val="1E293B"/>
                </a:solidFill>
                <a:latin typeface="Arial"/>
              </a:rPr>
              <a:t>Construction of the Literature Graph in Semantic Scholar, in NAACL-HLT, 2018.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[7] Meta AI: </a:t>
            </a:r>
            <a:r>
              <a:rPr sz="1200">
                <a:solidFill>
                  <a:srgbClr val="1E293B"/>
                </a:solidFill>
                <a:latin typeface="Arial"/>
              </a:rPr>
              <a:t>Llama 3.3 70B Multilingual Instruction-Tuned Foundation Models, Dec. 2024.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1051560"/>
            <a:ext cx="4050791" cy="5029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43800" y="1161288"/>
            <a:ext cx="3776471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8C141E"/>
                </a:solidFill>
                <a:latin typeface="Arial"/>
              </a:defRPr>
            </a:pPr>
            <a:r>
              <a:t>🙏 Institutional Acknowledgments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1554480"/>
            <a:ext cx="3776471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Institution: </a:t>
            </a:r>
            <a:r>
              <a:rPr sz="1200">
                <a:solidFill>
                  <a:srgbClr val="1E293B"/>
                </a:solidFill>
                <a:latin typeface="Arial"/>
              </a:rPr>
              <a:t>Symbiosis Institute of Technology (SIT), Nagpur Campus, Symbiosis International (Deemed University).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Department: </a:t>
            </a:r>
            <a:r>
              <a:rPr sz="1200">
                <a:solidFill>
                  <a:srgbClr val="1E293B"/>
                </a:solidFill>
                <a:latin typeface="Arial"/>
              </a:rPr>
              <a:t>Department of Computer Science and Engineering.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Project Guides: </a:t>
            </a:r>
            <a:r>
              <a:rPr sz="1200">
                <a:solidFill>
                  <a:srgbClr val="1E293B"/>
                </a:solidFill>
                <a:latin typeface="Arial"/>
              </a:rPr>
              <a:t>Dr. Shreyas Rajendra Hole &amp; Mr. Parag Naik for continuous academic guidance and review.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Course: </a:t>
            </a:r>
            <a:r>
              <a:rPr sz="1200">
                <a:solidFill>
                  <a:srgbClr val="1E293B"/>
                </a:solidFill>
                <a:latin typeface="Arial"/>
              </a:rPr>
              <a:t>Flexi-Credit Course: Agentic AI &amp; Automation (AY 2026-27).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50" b="1">
                <a:solidFill>
                  <a:srgbClr val="1E293B"/>
                </a:solidFill>
                <a:latin typeface="Arial"/>
              </a:rPr>
              <a:t>• GitHub Repository: </a:t>
            </a:r>
            <a:r>
              <a:rPr sz="1200">
                <a:solidFill>
                  <a:srgbClr val="1E293B"/>
                </a:solidFill>
                <a:latin typeface="Arial"/>
              </a:rPr>
              <a:t>https://github.com/SalimAnsari/LiteratureAI-Agentic-System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</Words>
  <Application>Microsoft Office PowerPoint</Application>
  <PresentationFormat>Widescreen</PresentationFormat>
  <Paragraphs>31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Times New Roman</vt:lpstr>
      <vt:lpstr>Verdana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</dc:creator>
  <cp:lastModifiedBy>Shreyas Hole</cp:lastModifiedBy>
  <cp:revision>1</cp:revision>
  <dcterms:created xsi:type="dcterms:W3CDTF">2024-06-03T04:50:38Z</dcterms:created>
  <dcterms:modified xsi:type="dcterms:W3CDTF">2026-08-25T21:16:01Z</dcterms:modified>
</cp:coreProperties>
</file>